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34" r:id="rId5"/>
    <p:sldId id="324" r:id="rId6"/>
    <p:sldId id="290" r:id="rId7"/>
    <p:sldId id="335" r:id="rId8"/>
    <p:sldId id="310" r:id="rId9"/>
    <p:sldId id="336" r:id="rId10"/>
    <p:sldId id="337" r:id="rId11"/>
    <p:sldId id="311" r:id="rId12"/>
    <p:sldId id="338" r:id="rId13"/>
    <p:sldId id="332" r:id="rId14"/>
    <p:sldId id="339" r:id="rId15"/>
    <p:sldId id="325" r:id="rId16"/>
    <p:sldId id="271" r:id="rId17"/>
    <p:sldId id="340" r:id="rId18"/>
    <p:sldId id="341" r:id="rId19"/>
    <p:sldId id="326" r:id="rId20"/>
    <p:sldId id="327" r:id="rId21"/>
    <p:sldId id="296" r:id="rId22"/>
    <p:sldId id="342" r:id="rId23"/>
    <p:sldId id="25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28" y="52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xfrm>
          <a:off x="1671189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1256455"/>
            <a:satOff val="-1094"/>
            <a:lumOff val="-1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xfrm>
          <a:off x="3339577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xfrm>
          <a:off x="5007965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/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/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/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467CE5-3FC9-4441-912E-4E186B48B48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C78655-D7C6-4F18-95EC-75DB87C41976}">
      <dgm:prSet/>
      <dgm:spPr/>
      <dgm:t>
        <a:bodyPr/>
        <a:lstStyle/>
        <a:p>
          <a:r>
            <a:rPr lang="en-US" dirty="0"/>
            <a:t>✅ Null Hypothesis (H₀): This is the hypothesis that there is no effect or no difference. It’s the status quo or the </a:t>
          </a:r>
          <a:r>
            <a:rPr lang="en-US" dirty="0">
              <a:highlight>
                <a:srgbClr val="FFFF00"/>
              </a:highlight>
            </a:rPr>
            <a:t>assumption we want to test against.</a:t>
          </a:r>
        </a:p>
      </dgm:t>
    </dgm:pt>
    <dgm:pt modelId="{1D8EE49A-03F3-4493-9754-B2A804903F88}" type="parTrans" cxnId="{BB8D67D7-E523-4FE0-8B44-F762F8C7974B}">
      <dgm:prSet/>
      <dgm:spPr/>
      <dgm:t>
        <a:bodyPr/>
        <a:lstStyle/>
        <a:p>
          <a:endParaRPr lang="en-US"/>
        </a:p>
      </dgm:t>
    </dgm:pt>
    <dgm:pt modelId="{7BC125F2-F676-4F64-95A0-98CE2DBCF1A1}" type="sibTrans" cxnId="{BB8D67D7-E523-4FE0-8B44-F762F8C7974B}">
      <dgm:prSet/>
      <dgm:spPr/>
      <dgm:t>
        <a:bodyPr/>
        <a:lstStyle/>
        <a:p>
          <a:endParaRPr lang="en-US"/>
        </a:p>
      </dgm:t>
    </dgm:pt>
    <dgm:pt modelId="{1995D29D-693D-44ED-8A56-47085C678CAD}">
      <dgm:prSet/>
      <dgm:spPr/>
      <dgm:t>
        <a:bodyPr/>
        <a:lstStyle/>
        <a:p>
          <a:r>
            <a:rPr lang="en-US"/>
            <a:t>✅ Alternative Hypothesis (H₁): Opposite of null hypothesis. </a:t>
          </a:r>
        </a:p>
      </dgm:t>
    </dgm:pt>
    <dgm:pt modelId="{B364B1C4-4A40-41F5-A254-3F083625CDA8}" type="parTrans" cxnId="{308F5E6E-7919-484E-94C3-0EC43BA5B019}">
      <dgm:prSet/>
      <dgm:spPr/>
      <dgm:t>
        <a:bodyPr/>
        <a:lstStyle/>
        <a:p>
          <a:endParaRPr lang="en-US"/>
        </a:p>
      </dgm:t>
    </dgm:pt>
    <dgm:pt modelId="{9CFA87CF-4317-4C46-8050-668771B56969}" type="sibTrans" cxnId="{308F5E6E-7919-484E-94C3-0EC43BA5B019}">
      <dgm:prSet/>
      <dgm:spPr/>
      <dgm:t>
        <a:bodyPr/>
        <a:lstStyle/>
        <a:p>
          <a:endParaRPr lang="en-US"/>
        </a:p>
      </dgm:t>
    </dgm:pt>
    <dgm:pt modelId="{5363096F-3262-42A0-811C-4FFA53CDCCB9}">
      <dgm:prSet/>
      <dgm:spPr/>
      <dgm:t>
        <a:bodyPr/>
        <a:lstStyle/>
        <a:p>
          <a:r>
            <a:rPr lang="en-US" b="1" dirty="0">
              <a:highlight>
                <a:srgbClr val="FFFF00"/>
              </a:highlight>
            </a:rPr>
            <a:t>When the null hypothesis is rejected the alternate hypothesis is accepted and vice versa.</a:t>
          </a:r>
          <a:endParaRPr lang="en-US" dirty="0">
            <a:highlight>
              <a:srgbClr val="FFFF00"/>
            </a:highlight>
          </a:endParaRPr>
        </a:p>
      </dgm:t>
    </dgm:pt>
    <dgm:pt modelId="{BD046364-E9F2-45DA-BF0F-CFB26A5DB592}" type="parTrans" cxnId="{D55A26A5-332B-46B9-B629-7B47BC3756FD}">
      <dgm:prSet/>
      <dgm:spPr/>
      <dgm:t>
        <a:bodyPr/>
        <a:lstStyle/>
        <a:p>
          <a:endParaRPr lang="en-US"/>
        </a:p>
      </dgm:t>
    </dgm:pt>
    <dgm:pt modelId="{D967D590-4BA1-4F55-85CE-3574038FFC94}" type="sibTrans" cxnId="{D55A26A5-332B-46B9-B629-7B47BC3756FD}">
      <dgm:prSet/>
      <dgm:spPr/>
      <dgm:t>
        <a:bodyPr/>
        <a:lstStyle/>
        <a:p>
          <a:endParaRPr lang="en-US"/>
        </a:p>
      </dgm:t>
    </dgm:pt>
    <dgm:pt modelId="{D74B538D-758A-413B-B594-E8F543D34678}" type="pres">
      <dgm:prSet presAssocID="{EA467CE5-3FC9-4441-912E-4E186B48B481}" presName="vert0" presStyleCnt="0">
        <dgm:presLayoutVars>
          <dgm:dir/>
          <dgm:animOne val="branch"/>
          <dgm:animLvl val="lvl"/>
        </dgm:presLayoutVars>
      </dgm:prSet>
      <dgm:spPr/>
    </dgm:pt>
    <dgm:pt modelId="{0C02A875-D8EB-4324-BEFA-AC666520C2F7}" type="pres">
      <dgm:prSet presAssocID="{A0C78655-D7C6-4F18-95EC-75DB87C41976}" presName="thickLine" presStyleLbl="alignNode1" presStyleIdx="0" presStyleCnt="3"/>
      <dgm:spPr/>
    </dgm:pt>
    <dgm:pt modelId="{7F9FAA41-509F-4589-88CD-55BD601A70F0}" type="pres">
      <dgm:prSet presAssocID="{A0C78655-D7C6-4F18-95EC-75DB87C41976}" presName="horz1" presStyleCnt="0"/>
      <dgm:spPr/>
    </dgm:pt>
    <dgm:pt modelId="{45EE4156-2A86-4D9A-8BC0-135E34DDEFBD}" type="pres">
      <dgm:prSet presAssocID="{A0C78655-D7C6-4F18-95EC-75DB87C41976}" presName="tx1" presStyleLbl="revTx" presStyleIdx="0" presStyleCnt="3"/>
      <dgm:spPr/>
    </dgm:pt>
    <dgm:pt modelId="{EF65A6CF-D4B2-45D1-92C4-5EBA5938F331}" type="pres">
      <dgm:prSet presAssocID="{A0C78655-D7C6-4F18-95EC-75DB87C41976}" presName="vert1" presStyleCnt="0"/>
      <dgm:spPr/>
    </dgm:pt>
    <dgm:pt modelId="{5963C0FE-1BEB-4512-9BCC-BF5AFF497E4D}" type="pres">
      <dgm:prSet presAssocID="{1995D29D-693D-44ED-8A56-47085C678CAD}" presName="thickLine" presStyleLbl="alignNode1" presStyleIdx="1" presStyleCnt="3"/>
      <dgm:spPr/>
    </dgm:pt>
    <dgm:pt modelId="{7DF93517-6B9E-45A7-B9C7-E50FEB98B549}" type="pres">
      <dgm:prSet presAssocID="{1995D29D-693D-44ED-8A56-47085C678CAD}" presName="horz1" presStyleCnt="0"/>
      <dgm:spPr/>
    </dgm:pt>
    <dgm:pt modelId="{EF23BDA0-A89D-47F4-9164-E5119FCF899E}" type="pres">
      <dgm:prSet presAssocID="{1995D29D-693D-44ED-8A56-47085C678CAD}" presName="tx1" presStyleLbl="revTx" presStyleIdx="1" presStyleCnt="3"/>
      <dgm:spPr/>
    </dgm:pt>
    <dgm:pt modelId="{44B36C05-1B1B-4CA4-A144-8BCE9211ED8F}" type="pres">
      <dgm:prSet presAssocID="{1995D29D-693D-44ED-8A56-47085C678CAD}" presName="vert1" presStyleCnt="0"/>
      <dgm:spPr/>
    </dgm:pt>
    <dgm:pt modelId="{7272B006-200D-41F6-BF0A-75E0EED2C801}" type="pres">
      <dgm:prSet presAssocID="{5363096F-3262-42A0-811C-4FFA53CDCCB9}" presName="thickLine" presStyleLbl="alignNode1" presStyleIdx="2" presStyleCnt="3"/>
      <dgm:spPr/>
    </dgm:pt>
    <dgm:pt modelId="{F3E78B9D-A922-4275-93F0-6C2546C163B4}" type="pres">
      <dgm:prSet presAssocID="{5363096F-3262-42A0-811C-4FFA53CDCCB9}" presName="horz1" presStyleCnt="0"/>
      <dgm:spPr/>
    </dgm:pt>
    <dgm:pt modelId="{DF73CC11-B34A-46A2-B23E-7CBE1F908FB9}" type="pres">
      <dgm:prSet presAssocID="{5363096F-3262-42A0-811C-4FFA53CDCCB9}" presName="tx1" presStyleLbl="revTx" presStyleIdx="2" presStyleCnt="3"/>
      <dgm:spPr/>
    </dgm:pt>
    <dgm:pt modelId="{200688E8-EC44-4A74-BD0F-0F9A5EC9997B}" type="pres">
      <dgm:prSet presAssocID="{5363096F-3262-42A0-811C-4FFA53CDCCB9}" presName="vert1" presStyleCnt="0"/>
      <dgm:spPr/>
    </dgm:pt>
  </dgm:ptLst>
  <dgm:cxnLst>
    <dgm:cxn modelId="{0AA05439-1C10-4BD9-BFE1-EE5CE61D7D8F}" type="presOf" srcId="{5363096F-3262-42A0-811C-4FFA53CDCCB9}" destId="{DF73CC11-B34A-46A2-B23E-7CBE1F908FB9}" srcOrd="0" destOrd="0" presId="urn:microsoft.com/office/officeart/2008/layout/LinedList"/>
    <dgm:cxn modelId="{308F5E6E-7919-484E-94C3-0EC43BA5B019}" srcId="{EA467CE5-3FC9-4441-912E-4E186B48B481}" destId="{1995D29D-693D-44ED-8A56-47085C678CAD}" srcOrd="1" destOrd="0" parTransId="{B364B1C4-4A40-41F5-A254-3F083625CDA8}" sibTransId="{9CFA87CF-4317-4C46-8050-668771B56969}"/>
    <dgm:cxn modelId="{4B1C7C51-AD3C-4E41-A14E-CA6066319968}" type="presOf" srcId="{EA467CE5-3FC9-4441-912E-4E186B48B481}" destId="{D74B538D-758A-413B-B594-E8F543D34678}" srcOrd="0" destOrd="0" presId="urn:microsoft.com/office/officeart/2008/layout/LinedList"/>
    <dgm:cxn modelId="{E22C457E-711D-4B34-A794-C4AA986A0489}" type="presOf" srcId="{1995D29D-693D-44ED-8A56-47085C678CAD}" destId="{EF23BDA0-A89D-47F4-9164-E5119FCF899E}" srcOrd="0" destOrd="0" presId="urn:microsoft.com/office/officeart/2008/layout/LinedList"/>
    <dgm:cxn modelId="{5BF07092-4CCD-48B6-B5E9-64B525BDCBCA}" type="presOf" srcId="{A0C78655-D7C6-4F18-95EC-75DB87C41976}" destId="{45EE4156-2A86-4D9A-8BC0-135E34DDEFBD}" srcOrd="0" destOrd="0" presId="urn:microsoft.com/office/officeart/2008/layout/LinedList"/>
    <dgm:cxn modelId="{D55A26A5-332B-46B9-B629-7B47BC3756FD}" srcId="{EA467CE5-3FC9-4441-912E-4E186B48B481}" destId="{5363096F-3262-42A0-811C-4FFA53CDCCB9}" srcOrd="2" destOrd="0" parTransId="{BD046364-E9F2-45DA-BF0F-CFB26A5DB592}" sibTransId="{D967D590-4BA1-4F55-85CE-3574038FFC94}"/>
    <dgm:cxn modelId="{BB8D67D7-E523-4FE0-8B44-F762F8C7974B}" srcId="{EA467CE5-3FC9-4441-912E-4E186B48B481}" destId="{A0C78655-D7C6-4F18-95EC-75DB87C41976}" srcOrd="0" destOrd="0" parTransId="{1D8EE49A-03F3-4493-9754-B2A804903F88}" sibTransId="{7BC125F2-F676-4F64-95A0-98CE2DBCF1A1}"/>
    <dgm:cxn modelId="{53426174-F022-4862-B386-B268CE1899E9}" type="presParOf" srcId="{D74B538D-758A-413B-B594-E8F543D34678}" destId="{0C02A875-D8EB-4324-BEFA-AC666520C2F7}" srcOrd="0" destOrd="0" presId="urn:microsoft.com/office/officeart/2008/layout/LinedList"/>
    <dgm:cxn modelId="{6852C0C0-B58D-4183-8363-850573FED32F}" type="presParOf" srcId="{D74B538D-758A-413B-B594-E8F543D34678}" destId="{7F9FAA41-509F-4589-88CD-55BD601A70F0}" srcOrd="1" destOrd="0" presId="urn:microsoft.com/office/officeart/2008/layout/LinedList"/>
    <dgm:cxn modelId="{3C429A74-6E0D-4D0B-B960-DBDEBA913811}" type="presParOf" srcId="{7F9FAA41-509F-4589-88CD-55BD601A70F0}" destId="{45EE4156-2A86-4D9A-8BC0-135E34DDEFBD}" srcOrd="0" destOrd="0" presId="urn:microsoft.com/office/officeart/2008/layout/LinedList"/>
    <dgm:cxn modelId="{D66FAF68-FBA2-4E7F-A262-C6D7EBE352F6}" type="presParOf" srcId="{7F9FAA41-509F-4589-88CD-55BD601A70F0}" destId="{EF65A6CF-D4B2-45D1-92C4-5EBA5938F331}" srcOrd="1" destOrd="0" presId="urn:microsoft.com/office/officeart/2008/layout/LinedList"/>
    <dgm:cxn modelId="{A7EE4667-F60C-402F-9785-4A45912163B0}" type="presParOf" srcId="{D74B538D-758A-413B-B594-E8F543D34678}" destId="{5963C0FE-1BEB-4512-9BCC-BF5AFF497E4D}" srcOrd="2" destOrd="0" presId="urn:microsoft.com/office/officeart/2008/layout/LinedList"/>
    <dgm:cxn modelId="{515F6820-D311-45C5-80E3-67D9A4B5BEC1}" type="presParOf" srcId="{D74B538D-758A-413B-B594-E8F543D34678}" destId="{7DF93517-6B9E-45A7-B9C7-E50FEB98B549}" srcOrd="3" destOrd="0" presId="urn:microsoft.com/office/officeart/2008/layout/LinedList"/>
    <dgm:cxn modelId="{CD5192C8-E7F2-4BDF-99C9-6AFF54DFD191}" type="presParOf" srcId="{7DF93517-6B9E-45A7-B9C7-E50FEB98B549}" destId="{EF23BDA0-A89D-47F4-9164-E5119FCF899E}" srcOrd="0" destOrd="0" presId="urn:microsoft.com/office/officeart/2008/layout/LinedList"/>
    <dgm:cxn modelId="{B806CD4B-75A6-4F1C-A6C9-44E85B5AF5F6}" type="presParOf" srcId="{7DF93517-6B9E-45A7-B9C7-E50FEB98B549}" destId="{44B36C05-1B1B-4CA4-A144-8BCE9211ED8F}" srcOrd="1" destOrd="0" presId="urn:microsoft.com/office/officeart/2008/layout/LinedList"/>
    <dgm:cxn modelId="{919B870D-00B8-458B-822B-1D2D2704FD49}" type="presParOf" srcId="{D74B538D-758A-413B-B594-E8F543D34678}" destId="{7272B006-200D-41F6-BF0A-75E0EED2C801}" srcOrd="4" destOrd="0" presId="urn:microsoft.com/office/officeart/2008/layout/LinedList"/>
    <dgm:cxn modelId="{B8FE26E8-731C-4EC9-93BD-43DF488BDE9E}" type="presParOf" srcId="{D74B538D-758A-413B-B594-E8F543D34678}" destId="{F3E78B9D-A922-4275-93F0-6C2546C163B4}" srcOrd="5" destOrd="0" presId="urn:microsoft.com/office/officeart/2008/layout/LinedList"/>
    <dgm:cxn modelId="{A0E9A273-1F1C-450D-99D3-0733292FECB2}" type="presParOf" srcId="{F3E78B9D-A922-4275-93F0-6C2546C163B4}" destId="{DF73CC11-B34A-46A2-B23E-7CBE1F908FB9}" srcOrd="0" destOrd="0" presId="urn:microsoft.com/office/officeart/2008/layout/LinedList"/>
    <dgm:cxn modelId="{DFD8524E-B51A-45F6-96B6-15773171AF7C}" type="presParOf" srcId="{F3E78B9D-A922-4275-93F0-6C2546C163B4}" destId="{200688E8-EC44-4A74-BD0F-0F9A5EC999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xfrm>
          <a:off x="1671189" y="1034701"/>
          <a:ext cx="1516716" cy="2123402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3600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xfrm>
          <a:off x="3339577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xfrm>
          <a:off x="5007965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/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/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/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xfrm>
          <a:off x="5007965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>
        <a:xfrm>
          <a:off x="2334419" y="683207"/>
          <a:ext cx="2118642" cy="2966099"/>
        </a:xfrm>
        <a:prstGeom prst="rect">
          <a:avLst/>
        </a:prstGeom>
      </dgm:spPr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>
        <a:xfrm>
          <a:off x="4664926" y="683207"/>
          <a:ext cx="2118642" cy="2966099"/>
        </a:xfrm>
        <a:prstGeom prst="rect">
          <a:avLst/>
        </a:prstGeom>
      </dgm:spPr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/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>
        <a:xfrm>
          <a:off x="2334419" y="683207"/>
          <a:ext cx="2118642" cy="2966099"/>
        </a:xfrm>
        <a:prstGeom prst="rect">
          <a:avLst/>
        </a:prstGeom>
      </dgm:spPr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>
        <a:xfrm>
          <a:off x="4664926" y="683207"/>
          <a:ext cx="2118642" cy="2966099"/>
        </a:xfrm>
        <a:prstGeom prst="rect">
          <a:avLst/>
        </a:prstGeom>
      </dgm:spPr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>
        <a:xfrm>
          <a:off x="6995432" y="683207"/>
          <a:ext cx="2118642" cy="2966099"/>
        </a:xfrm>
        <a:prstGeom prst="rect">
          <a:avLst/>
        </a:prstGeom>
      </dgm:spPr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65178" tIns="330200" rIns="165178" bIns="330200" numCol="1" spcCol="1270" anchor="t" anchorCtr="0"/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>
        <a:xfrm>
          <a:off x="2334419" y="683207"/>
          <a:ext cx="2118642" cy="2966099"/>
        </a:xfrm>
        <a:prstGeom prst="rect">
          <a:avLst/>
        </a:prstGeom>
      </dgm:spPr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>
        <a:xfrm>
          <a:off x="4664926" y="683207"/>
          <a:ext cx="2118642" cy="2966099"/>
        </a:xfrm>
        <a:prstGeom prst="rect">
          <a:avLst/>
        </a:prstGeom>
      </dgm:spPr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>
        <a:xfrm>
          <a:off x="6995432" y="683207"/>
          <a:ext cx="2118642" cy="2966099"/>
        </a:xfrm>
        <a:prstGeom prst="rect">
          <a:avLst/>
        </a:prstGeom>
      </dgm:spPr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>
        <a:xfrm>
          <a:off x="9325939" y="683207"/>
          <a:ext cx="2118642" cy="2966099"/>
        </a:xfrm>
        <a:prstGeom prst="rect">
          <a:avLst/>
        </a:prstGeom>
      </dgm:spPr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1256455"/>
            <a:satOff val="-1094"/>
            <a:lumOff val="-1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02A875-D8EB-4324-BEFA-AC666520C2F7}">
      <dsp:nvSpPr>
        <dsp:cNvPr id="0" name=""/>
        <dsp:cNvSpPr/>
      </dsp:nvSpPr>
      <dsp:spPr>
        <a:xfrm>
          <a:off x="0" y="2227"/>
          <a:ext cx="11049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E4156-2A86-4D9A-8BC0-135E34DDEFBD}">
      <dsp:nvSpPr>
        <dsp:cNvPr id="0" name=""/>
        <dsp:cNvSpPr/>
      </dsp:nvSpPr>
      <dsp:spPr>
        <a:xfrm>
          <a:off x="0" y="2227"/>
          <a:ext cx="11049000" cy="1518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✅ Null Hypothesis (H₀): This is the hypothesis that there is no effect or no difference. It’s the status quo or the </a:t>
          </a:r>
          <a:r>
            <a:rPr lang="en-US" sz="2900" kern="1200" dirty="0">
              <a:highlight>
                <a:srgbClr val="FFFF00"/>
              </a:highlight>
            </a:rPr>
            <a:t>assumption we want to test against.</a:t>
          </a:r>
        </a:p>
      </dsp:txBody>
      <dsp:txXfrm>
        <a:off x="0" y="2227"/>
        <a:ext cx="11049000" cy="1518886"/>
      </dsp:txXfrm>
    </dsp:sp>
    <dsp:sp modelId="{5963C0FE-1BEB-4512-9BCC-BF5AFF497E4D}">
      <dsp:nvSpPr>
        <dsp:cNvPr id="0" name=""/>
        <dsp:cNvSpPr/>
      </dsp:nvSpPr>
      <dsp:spPr>
        <a:xfrm>
          <a:off x="0" y="1521113"/>
          <a:ext cx="11049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3BDA0-A89D-47F4-9164-E5119FCF899E}">
      <dsp:nvSpPr>
        <dsp:cNvPr id="0" name=""/>
        <dsp:cNvSpPr/>
      </dsp:nvSpPr>
      <dsp:spPr>
        <a:xfrm>
          <a:off x="0" y="1521113"/>
          <a:ext cx="11049000" cy="1518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✅ Alternative Hypothesis (H₁): Opposite of null hypothesis. </a:t>
          </a:r>
        </a:p>
      </dsp:txBody>
      <dsp:txXfrm>
        <a:off x="0" y="1521113"/>
        <a:ext cx="11049000" cy="1518886"/>
      </dsp:txXfrm>
    </dsp:sp>
    <dsp:sp modelId="{7272B006-200D-41F6-BF0A-75E0EED2C801}">
      <dsp:nvSpPr>
        <dsp:cNvPr id="0" name=""/>
        <dsp:cNvSpPr/>
      </dsp:nvSpPr>
      <dsp:spPr>
        <a:xfrm>
          <a:off x="0" y="3040000"/>
          <a:ext cx="11049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3CC11-B34A-46A2-B23E-7CBE1F908FB9}">
      <dsp:nvSpPr>
        <dsp:cNvPr id="0" name=""/>
        <dsp:cNvSpPr/>
      </dsp:nvSpPr>
      <dsp:spPr>
        <a:xfrm>
          <a:off x="0" y="3040000"/>
          <a:ext cx="11049000" cy="1518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highlight>
                <a:srgbClr val="FFFF00"/>
              </a:highlight>
            </a:rPr>
            <a:t>When the null hypothesis is rejected the alternate hypothesis is accepted and vice versa.</a:t>
          </a:r>
          <a:endParaRPr lang="en-US" sz="2900" kern="1200" dirty="0">
            <a:highlight>
              <a:srgbClr val="FFFF00"/>
            </a:highlight>
          </a:endParaRPr>
        </a:p>
      </dsp:txBody>
      <dsp:txXfrm>
        <a:off x="0" y="3040000"/>
        <a:ext cx="11049000" cy="1518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20082ACF-3AE9-146E-7E5F-C65F33E8B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877687-59E4-FE10-798A-5CDB608323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1ECD35-FA11-4851-4A09-09EF2B1ECA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BE6A8-737D-A62C-6551-363023866B3F}"/>
              </a:ext>
            </a:extLst>
          </p:cNvPr>
          <p:cNvSpPr txBox="1">
            <a:spLocks/>
          </p:cNvSpPr>
          <p:nvPr userDrawn="1"/>
        </p:nvSpPr>
        <p:spPr>
          <a:xfrm>
            <a:off x="-139701" y="6346735"/>
            <a:ext cx="3565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Website-</a:t>
            </a:r>
            <a:r>
              <a:rPr lang="en-US" sz="1600" dirty="0">
                <a:latin typeface="Montserrat SemiBold" pitchFamily="2" charset="0"/>
              </a:rPr>
              <a:t> www.onlinecu.in</a:t>
            </a:r>
            <a:endParaRPr lang="en-IN" sz="1600" dirty="0">
              <a:latin typeface="Montserra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CA99B-85F9-8685-ECB4-83814B31D6D6}"/>
              </a:ext>
            </a:extLst>
          </p:cNvPr>
          <p:cNvSpPr txBox="1">
            <a:spLocks/>
          </p:cNvSpPr>
          <p:nvPr userDrawn="1"/>
        </p:nvSpPr>
        <p:spPr>
          <a:xfrm>
            <a:off x="8505373" y="6346736"/>
            <a:ext cx="382632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Helpline no.: </a:t>
            </a:r>
            <a:r>
              <a:rPr lang="en-US" sz="1600" dirty="0">
                <a:latin typeface="Montserrat SemiBold" pitchFamily="2" charset="0"/>
              </a:rPr>
              <a:t>1800 121 388 800 </a:t>
            </a:r>
            <a:endParaRPr lang="en-IN" sz="1600" dirty="0"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frequently-asked-hypothesis-testing-questions-for-data-scientist-interviews-f4ef4a313a07" TargetMode="External"/><Relationship Id="rId2" Type="http://schemas.openxmlformats.org/officeDocument/2006/relationships/hyperlink" Target="https://medium.com/@vikashsinghy2k/introduction-to-hypothesis-testing-321cf4c9406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@vikashsinghy2k/frequently-asked-hypothesis-testing-questions-for-data-scientist-interviews-part-3-bd524da113cf" TargetMode="External"/><Relationship Id="rId4" Type="http://schemas.openxmlformats.org/officeDocument/2006/relationships/hyperlink" Target="https://medium.com/@vikashsinghy2k/frequently-asked-hypothesis-testing-interview-questions-for-aspiring-data-scientists-part-2-eea00536f423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45D7B758-93B8-6702-E78A-5420C09B69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88" y="-3481759"/>
            <a:ext cx="12286489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A9F29A-6499-7007-BE30-D0006E28FD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E01D9-0256-D1BA-213E-B0241C636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Hypothesis Formulation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794C51-198E-06FA-F301-1EA1ACD96C1A}"/>
              </a:ext>
            </a:extLst>
          </p:cNvPr>
          <p:cNvSpPr txBox="1">
            <a:spLocks/>
          </p:cNvSpPr>
          <p:nvPr/>
        </p:nvSpPr>
        <p:spPr>
          <a:xfrm>
            <a:off x="1001486" y="3048001"/>
            <a:ext cx="8229600" cy="276497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Basics of Hypothesis Testing</a:t>
            </a:r>
          </a:p>
          <a:p>
            <a:r>
              <a:rPr lang="en-US"/>
              <a:t>Steps of Hypothesis Testing</a:t>
            </a:r>
          </a:p>
          <a:p>
            <a:r>
              <a:rPr lang="en-US"/>
              <a:t>Formulate H₀ and H₁</a:t>
            </a:r>
          </a:p>
          <a:p>
            <a:r>
              <a:rPr lang="en-US"/>
              <a:t>Types of Error</a:t>
            </a:r>
          </a:p>
          <a:p>
            <a:r>
              <a:rPr lang="en-US"/>
              <a:t>Significance Level</a:t>
            </a:r>
          </a:p>
          <a:p>
            <a:r>
              <a:rPr lang="en-US"/>
              <a:t>Types of Statistical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361F3A-5E34-A607-B323-75C66E5F6978}"/>
              </a:ext>
            </a:extLst>
          </p:cNvPr>
          <p:cNvSpPr txBox="1">
            <a:spLocks/>
          </p:cNvSpPr>
          <p:nvPr/>
        </p:nvSpPr>
        <p:spPr>
          <a:xfrm>
            <a:off x="2275113" y="217297"/>
            <a:ext cx="86791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Hypothesis and Hypothesis Testing?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7A51BC-1718-DC86-3F98-CD06FDFFA8FD}"/>
              </a:ext>
            </a:extLst>
          </p:cNvPr>
          <p:cNvSpPr txBox="1">
            <a:spLocks/>
          </p:cNvSpPr>
          <p:nvPr/>
        </p:nvSpPr>
        <p:spPr>
          <a:xfrm>
            <a:off x="313519" y="1166018"/>
            <a:ext cx="10765971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 assumption or educated guess about a population parameter.</a:t>
            </a:r>
          </a:p>
          <a:p>
            <a:r>
              <a:rPr lang="en-US"/>
              <a:t>Tested using sample data.</a:t>
            </a:r>
          </a:p>
          <a:p>
            <a:endParaRPr lang="en-US"/>
          </a:p>
          <a:p>
            <a:r>
              <a:rPr lang="en-US"/>
              <a:t>Hypothesis testing is like a detective game where you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start with an assumption (a hypothesis);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then collect evidence (data) to decide whether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your assumption is likely to be true or not. </a:t>
            </a:r>
          </a:p>
          <a:p>
            <a:endParaRPr lang="en-US"/>
          </a:p>
          <a:p>
            <a:r>
              <a:rPr lang="en-US"/>
              <a:t>It’s a way of making decisions or inferences about a population based on a sample of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C560-F87C-1527-EF66-E6CD394E452E}"/>
              </a:ext>
            </a:extLst>
          </p:cNvPr>
          <p:cNvSpPr txBox="1">
            <a:spLocks/>
          </p:cNvSpPr>
          <p:nvPr/>
        </p:nvSpPr>
        <p:spPr>
          <a:xfrm>
            <a:off x="3026229" y="217297"/>
            <a:ext cx="79280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13F9C83-C3C8-428D-1209-1FB7BDE19B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191825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42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C753-9842-2EC4-0BC8-2DAA95A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3820-C59F-0867-C81E-6FA117A5A68B}"/>
              </a:ext>
            </a:extLst>
          </p:cNvPr>
          <p:cNvSpPr txBox="1">
            <a:spLocks/>
          </p:cNvSpPr>
          <p:nvPr/>
        </p:nvSpPr>
        <p:spPr>
          <a:xfrm>
            <a:off x="2427513" y="217297"/>
            <a:ext cx="8526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Hypotheses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B061773-CAB5-7F0E-4EC2-DF54BAF60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8960413"/>
              </p:ext>
            </p:extLst>
          </p:nvPr>
        </p:nvGraphicFramePr>
        <p:xfrm>
          <a:off x="457200" y="1600200"/>
          <a:ext cx="11049000" cy="4561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619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9DF817-5EFB-4410-0403-18667272212A}"/>
              </a:ext>
            </a:extLst>
          </p:cNvPr>
          <p:cNvSpPr txBox="1">
            <a:spLocks/>
          </p:cNvSpPr>
          <p:nvPr/>
        </p:nvSpPr>
        <p:spPr>
          <a:xfrm>
            <a:off x="3113313" y="217297"/>
            <a:ext cx="78409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Null and Alternate Hypothesis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Google Shape;142;p3">
            <a:extLst>
              <a:ext uri="{FF2B5EF4-FFF2-40B4-BE49-F238E27FC236}">
                <a16:creationId xmlns:a16="http://schemas.microsoft.com/office/drawing/2014/main" id="{94188699-EBD2-81C0-CE8C-8DA2713CA0D1}"/>
              </a:ext>
            </a:extLst>
          </p:cNvPr>
          <p:cNvSpPr txBox="1">
            <a:spLocks/>
          </p:cNvSpPr>
          <p:nvPr/>
        </p:nvSpPr>
        <p:spPr>
          <a:xfrm>
            <a:off x="1066799" y="1335988"/>
            <a:ext cx="10404929" cy="151150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925" tIns="16925" rIns="16925" bIns="16925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318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Null Hypothesis:</a:t>
            </a:r>
            <a:endParaRPr lang="en-US" dirty="0"/>
          </a:p>
          <a:p>
            <a:pPr marL="914400" lvl="1" indent="-40640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lang="en-US" sz="1800" dirty="0"/>
              <a:t>Hypothesis of no difference (Status Quo)</a:t>
            </a:r>
            <a:endParaRPr lang="en-US" dirty="0"/>
          </a:p>
          <a:p>
            <a:pPr marL="457200" indent="-4318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Alternate hypothesis:</a:t>
            </a:r>
            <a:endParaRPr lang="en-US" dirty="0"/>
          </a:p>
          <a:p>
            <a:pPr marL="914400" lvl="1" indent="-40640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lang="en-US" sz="1800" dirty="0"/>
              <a:t>Mutually exclusive statement of Null hypothesis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0A1F97-B0CC-C7D6-158F-F9EEED350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39" y="3293724"/>
            <a:ext cx="10499390" cy="301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F39C-E992-1749-03D1-014F9B1EA2CE}"/>
              </a:ext>
            </a:extLst>
          </p:cNvPr>
          <p:cNvSpPr txBox="1">
            <a:spLocks/>
          </p:cNvSpPr>
          <p:nvPr/>
        </p:nvSpPr>
        <p:spPr>
          <a:xfrm>
            <a:off x="4005943" y="217297"/>
            <a:ext cx="6948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Examples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31B20-11AB-AD2C-2BB3-E6C4DAAF1AFB}"/>
              </a:ext>
            </a:extLst>
          </p:cNvPr>
          <p:cNvSpPr txBox="1">
            <a:spLocks/>
          </p:cNvSpPr>
          <p:nvPr/>
        </p:nvSpPr>
        <p:spPr>
          <a:xfrm>
            <a:off x="438705" y="1284515"/>
            <a:ext cx="8229600" cy="19267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Problem: Is the new drug better?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✅ H₀: New drug = Old drug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✅ H₁: New drug ≠ Old drug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5B7935-83D4-C41D-A82D-FF1B93C3787E}"/>
              </a:ext>
            </a:extLst>
          </p:cNvPr>
          <p:cNvSpPr txBox="1">
            <a:spLocks/>
          </p:cNvSpPr>
          <p:nvPr/>
        </p:nvSpPr>
        <p:spPr>
          <a:xfrm>
            <a:off x="438705" y="3429000"/>
            <a:ext cx="8534400" cy="1687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Company claims average salary = ₹50,000/month.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✅ H₀: μ = 50,000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✅ H₁: μ ≠ 50,000</a:t>
            </a:r>
          </a:p>
        </p:txBody>
      </p:sp>
    </p:spTree>
    <p:extLst>
      <p:ext uri="{BB962C8B-B14F-4D97-AF65-F5344CB8AC3E}">
        <p14:creationId xmlns:p14="http://schemas.microsoft.com/office/powerpoint/2010/main" val="273128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35F719-9E6A-C4DB-55BF-2E2D3B7948D4}"/>
              </a:ext>
            </a:extLst>
          </p:cNvPr>
          <p:cNvSpPr txBox="1">
            <a:spLocks/>
          </p:cNvSpPr>
          <p:nvPr/>
        </p:nvSpPr>
        <p:spPr>
          <a:xfrm>
            <a:off x="4898571" y="217297"/>
            <a:ext cx="60557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Examples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Google Shape;174;p7">
            <a:extLst>
              <a:ext uri="{FF2B5EF4-FFF2-40B4-BE49-F238E27FC236}">
                <a16:creationId xmlns:a16="http://schemas.microsoft.com/office/drawing/2014/main" id="{D53C5AC6-D980-328F-5A55-0E265437DAEE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27272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925" tIns="16925" rIns="16925" bIns="16925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Construct the null and alternative hypothesis for the following situation: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Your mobile bill per month is INR 600 per month with a standard deviation of INR 50.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This month you received a bill of INR 750.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You feel that the bill was high and you want to investigate if there is any reason for concern.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7446-6D70-7007-012D-ED3C5160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EC18AA7-6B1C-ADA9-7868-0C20C73DC557}"/>
              </a:ext>
            </a:extLst>
          </p:cNvPr>
          <p:cNvSpPr txBox="1">
            <a:spLocks/>
          </p:cNvSpPr>
          <p:nvPr/>
        </p:nvSpPr>
        <p:spPr>
          <a:xfrm>
            <a:off x="4898571" y="217297"/>
            <a:ext cx="60557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Examples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Google Shape;174;p7">
            <a:extLst>
              <a:ext uri="{FF2B5EF4-FFF2-40B4-BE49-F238E27FC236}">
                <a16:creationId xmlns:a16="http://schemas.microsoft.com/office/drawing/2014/main" id="{22FEB8AA-72F9-0BC2-644B-F196CA768E34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30350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925" tIns="16925" rIns="16925" bIns="16925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Construct the null and alternative hypothesis for the following situation: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Your mobile bill per month is INR 600 per month with a standard deviation of INR 50.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This month you received a bill of INR 750. </a:t>
            </a: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endParaRPr lang="en-US" sz="2000" dirty="0">
              <a:solidFill>
                <a:srgbClr val="2D3B45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" indent="0" algn="just">
              <a:lnSpc>
                <a:spcPct val="100000"/>
              </a:lnSpc>
              <a:spcBef>
                <a:spcPts val="640"/>
              </a:spcBef>
              <a:buClr>
                <a:srgbClr val="2D3B45"/>
              </a:buClr>
              <a:buSzPts val="3200"/>
              <a:buNone/>
            </a:pPr>
            <a:r>
              <a:rPr lang="en-US" sz="2000" dirty="0">
                <a:solidFill>
                  <a:srgbClr val="2D3B45"/>
                </a:solidFill>
                <a:latin typeface="Lato"/>
                <a:ea typeface="Lato"/>
                <a:cs typeface="Lato"/>
                <a:sym typeface="Lato"/>
              </a:rPr>
              <a:t>You feel that the bill was higher than the normal average bill and you want to investigate if there is any reason for concern.</a:t>
            </a:r>
            <a:endParaRPr lang="en-US" sz="2000" dirty="0"/>
          </a:p>
        </p:txBody>
      </p:sp>
      <p:sp>
        <p:nvSpPr>
          <p:cNvPr id="2" name="Google Shape;175;p7">
            <a:extLst>
              <a:ext uri="{FF2B5EF4-FFF2-40B4-BE49-F238E27FC236}">
                <a16:creationId xmlns:a16="http://schemas.microsoft.com/office/drawing/2014/main" id="{85F6AF2D-5DDA-9F60-61D3-2998B8D1D380}"/>
              </a:ext>
            </a:extLst>
          </p:cNvPr>
          <p:cNvSpPr txBox="1"/>
          <p:nvPr/>
        </p:nvSpPr>
        <p:spPr>
          <a:xfrm>
            <a:off x="3819072" y="4141236"/>
            <a:ext cx="2654300" cy="43088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2391" t="-2777" r="-2390" b="-3610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" name="Google Shape;176;p7">
            <a:extLst>
              <a:ext uri="{FF2B5EF4-FFF2-40B4-BE49-F238E27FC236}">
                <a16:creationId xmlns:a16="http://schemas.microsoft.com/office/drawing/2014/main" id="{21AA67B7-E16F-8BCA-2289-C222BD477F9C}"/>
              </a:ext>
            </a:extLst>
          </p:cNvPr>
          <p:cNvSpPr txBox="1"/>
          <p:nvPr/>
        </p:nvSpPr>
        <p:spPr>
          <a:xfrm>
            <a:off x="3819072" y="4731355"/>
            <a:ext cx="2645542" cy="430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390" t="-5713" r="-1912" b="-39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763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A05C-CB94-C370-AA32-5CDBC3681EA4}"/>
              </a:ext>
            </a:extLst>
          </p:cNvPr>
          <p:cNvSpPr txBox="1">
            <a:spLocks/>
          </p:cNvSpPr>
          <p:nvPr/>
        </p:nvSpPr>
        <p:spPr>
          <a:xfrm>
            <a:off x="3548743" y="217297"/>
            <a:ext cx="7405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F6A73A2-1FE6-E968-DE07-6BD815BDDC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5939285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8475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AF66B73-C009-D2C1-7766-7BC4E6D2F5BB}"/>
              </a:ext>
            </a:extLst>
          </p:cNvPr>
          <p:cNvSpPr txBox="1">
            <a:spLocks/>
          </p:cNvSpPr>
          <p:nvPr/>
        </p:nvSpPr>
        <p:spPr>
          <a:xfrm>
            <a:off x="2471057" y="217297"/>
            <a:ext cx="8483248" cy="68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Significance level – Type 1 and Type 2 Error</a:t>
            </a:r>
          </a:p>
        </p:txBody>
      </p:sp>
      <p:pic>
        <p:nvPicPr>
          <p:cNvPr id="4" name="Picture 2" descr="What is Type 1 Error Vs Type 2 Error statistics ? | Type 1 and Type 2 error  in hypothesis testing - YouTube">
            <a:extLst>
              <a:ext uri="{FF2B5EF4-FFF2-40B4-BE49-F238E27FC236}">
                <a16:creationId xmlns:a16="http://schemas.microsoft.com/office/drawing/2014/main" id="{4879999C-B1F0-23E1-A531-7917AD903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57" y="1037494"/>
            <a:ext cx="8795657" cy="494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790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0538-72A2-84CC-C024-FBBF8EEB7A79}"/>
              </a:ext>
            </a:extLst>
          </p:cNvPr>
          <p:cNvSpPr txBox="1">
            <a:spLocks/>
          </p:cNvSpPr>
          <p:nvPr/>
        </p:nvSpPr>
        <p:spPr>
          <a:xfrm>
            <a:off x="2764971" y="217297"/>
            <a:ext cx="8189334" cy="68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Significance level – Type 1 and Type 2 Error</a:t>
            </a:r>
          </a:p>
        </p:txBody>
      </p:sp>
      <p:pic>
        <p:nvPicPr>
          <p:cNvPr id="3" name="Picture 2" descr="What is Type 1 Error Vs Type 2 Error statistics ? | Type 1 and Type 2 error  in hypothesis testing - YouTube">
            <a:extLst>
              <a:ext uri="{FF2B5EF4-FFF2-40B4-BE49-F238E27FC236}">
                <a16:creationId xmlns:a16="http://schemas.microsoft.com/office/drawing/2014/main" id="{755060CD-F09F-BA13-A0A5-A28362F75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70" y="1285619"/>
            <a:ext cx="6633456" cy="373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68BB300-8554-6F5D-2C63-ACE76C898FC9}"/>
              </a:ext>
            </a:extLst>
          </p:cNvPr>
          <p:cNvSpPr txBox="1">
            <a:spLocks/>
          </p:cNvSpPr>
          <p:nvPr/>
        </p:nvSpPr>
        <p:spPr>
          <a:xfrm>
            <a:off x="7349715" y="1843932"/>
            <a:ext cx="4626694" cy="2949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 sz="3600" dirty="0"/>
              <a:t>Level of significance (alpha) is the probability of rejecting the null hypothesis when it is true.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27372-D211-25B3-6CEC-2F4BF4620DFB}"/>
              </a:ext>
            </a:extLst>
          </p:cNvPr>
          <p:cNvSpPr txBox="1"/>
          <p:nvPr/>
        </p:nvSpPr>
        <p:spPr>
          <a:xfrm>
            <a:off x="7511713" y="4702605"/>
            <a:ext cx="371765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α =0.01 or 1%</a:t>
            </a:r>
            <a:r>
              <a:rPr lang="en-IN" sz="2400" dirty="0">
                <a:effectLst/>
              </a:rPr>
              <a:t> </a:t>
            </a:r>
          </a:p>
          <a:p>
            <a:r>
              <a:rPr lang="en-IN" sz="32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α =0.05</a:t>
            </a:r>
            <a:r>
              <a:rPr lang="en-IN" sz="3200" dirty="0">
                <a:solidFill>
                  <a:srgbClr val="0070C0"/>
                </a:solidFill>
                <a:effectLst/>
              </a:rPr>
              <a:t> or 5%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α =0.10 or 10%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476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AB34-3C51-63D0-D104-2376DF12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406A93D-34CF-5E24-4A61-871BB69095FC}"/>
              </a:ext>
            </a:extLst>
          </p:cNvPr>
          <p:cNvSpPr txBox="1">
            <a:spLocks/>
          </p:cNvSpPr>
          <p:nvPr/>
        </p:nvSpPr>
        <p:spPr>
          <a:xfrm>
            <a:off x="3145971" y="217297"/>
            <a:ext cx="78083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2CEB6C3-C3B7-488B-5D5C-ED4C9A6515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0638953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219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0AAA-D3A5-92BE-F8A5-F26350103E97}"/>
              </a:ext>
            </a:extLst>
          </p:cNvPr>
          <p:cNvSpPr txBox="1">
            <a:spLocks/>
          </p:cNvSpPr>
          <p:nvPr/>
        </p:nvSpPr>
        <p:spPr>
          <a:xfrm>
            <a:off x="4071257" y="217297"/>
            <a:ext cx="68830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Tests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1332E-5088-AAB9-DEAC-A4D16D3D6F0F}"/>
              </a:ext>
            </a:extLst>
          </p:cNvPr>
          <p:cNvSpPr txBox="1"/>
          <p:nvPr/>
        </p:nvSpPr>
        <p:spPr>
          <a:xfrm>
            <a:off x="365846" y="1490008"/>
            <a:ext cx="114603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A 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one-tail test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tests for the possibility of the relationship in one direction, either greater than or less than a certain value. </a:t>
            </a:r>
            <a:r>
              <a:rPr lang="en-US" sz="24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Directional (&gt; or &lt;)</a:t>
            </a:r>
          </a:p>
          <a:p>
            <a:pPr algn="l"/>
            <a:endParaRPr lang="en-US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A 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two-tail test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tests for the possibility of the relationship in both directions, whether it’s significantly greater or less than a certain value. </a:t>
            </a:r>
            <a:r>
              <a:rPr lang="en-US" sz="24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Non-directional (≠)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693800-331A-99BE-9930-43AB3085C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56189"/>
              </p:ext>
            </p:extLst>
          </p:nvPr>
        </p:nvGraphicFramePr>
        <p:xfrm>
          <a:off x="219075" y="3684424"/>
          <a:ext cx="11460307" cy="1683568"/>
        </p:xfrm>
        <a:graphic>
          <a:graphicData uri="http://schemas.openxmlformats.org/drawingml/2006/table">
            <a:tbl>
              <a:tblPr firstRow="1" bandRow="1"/>
              <a:tblGrid>
                <a:gridCol w="3952180">
                  <a:extLst>
                    <a:ext uri="{9D8B030D-6E8A-4147-A177-3AD203B41FA5}">
                      <a16:colId xmlns:a16="http://schemas.microsoft.com/office/drawing/2014/main" val="2995669385"/>
                    </a:ext>
                  </a:extLst>
                </a:gridCol>
                <a:gridCol w="3972500">
                  <a:extLst>
                    <a:ext uri="{9D8B030D-6E8A-4147-A177-3AD203B41FA5}">
                      <a16:colId xmlns:a16="http://schemas.microsoft.com/office/drawing/2014/main" val="2530895431"/>
                    </a:ext>
                  </a:extLst>
                </a:gridCol>
                <a:gridCol w="3535627">
                  <a:extLst>
                    <a:ext uri="{9D8B030D-6E8A-4147-A177-3AD203B41FA5}">
                      <a16:colId xmlns:a16="http://schemas.microsoft.com/office/drawing/2014/main" val="2969213876"/>
                    </a:ext>
                  </a:extLst>
                </a:gridCol>
              </a:tblGrid>
              <a:tr h="6079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Two tail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2B3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Left tail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2B3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Right tail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986"/>
                  </a:ext>
                </a:extLst>
              </a:tr>
              <a:tr h="10756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H0: Mean=50</a:t>
                      </a:r>
                    </a:p>
                    <a:p>
                      <a:pPr algn="ctr"/>
                      <a:r>
                        <a:rPr lang="en-IN" sz="2000" dirty="0"/>
                        <a:t>Ha: Mean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≠5</a:t>
                      </a:r>
                      <a:r>
                        <a:rPr lang="en-IN" sz="2000" dirty="0"/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H0: Mean ≥ 50</a:t>
                      </a:r>
                    </a:p>
                    <a:p>
                      <a:pPr algn="ctr"/>
                      <a:r>
                        <a:rPr lang="en-IN" sz="2000" dirty="0"/>
                        <a:t>Ha: Mean 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&lt; 5</a:t>
                      </a:r>
                      <a:r>
                        <a:rPr lang="en-IN" sz="2000" dirty="0"/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2000" dirty="0"/>
                        <a:t>H0: 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 ≤ 50</a:t>
                      </a:r>
                    </a:p>
                    <a:p>
                      <a:pPr algn="ctr"/>
                      <a:r>
                        <a:rPr lang="en-IN" sz="2000" dirty="0"/>
                        <a:t>Ha: Mean 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&gt;5</a:t>
                      </a:r>
                      <a:r>
                        <a:rPr lang="en-IN" sz="2000" dirty="0"/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62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562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0808-5349-5F51-787F-96F0B403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D15-058C-5124-1A96-0EE23B169C25}"/>
              </a:ext>
            </a:extLst>
          </p:cNvPr>
          <p:cNvSpPr txBox="1">
            <a:spLocks/>
          </p:cNvSpPr>
          <p:nvPr/>
        </p:nvSpPr>
        <p:spPr>
          <a:xfrm>
            <a:off x="3178629" y="217297"/>
            <a:ext cx="7775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B5DB6D1-BB6D-BA85-1305-D99F2C2A6A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17194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8768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026631A-FC7E-9C90-DC63-1DCEB6108E67}"/>
              </a:ext>
            </a:extLst>
          </p:cNvPr>
          <p:cNvSpPr txBox="1">
            <a:spLocks/>
          </p:cNvSpPr>
          <p:nvPr/>
        </p:nvSpPr>
        <p:spPr>
          <a:xfrm>
            <a:off x="4408713" y="217297"/>
            <a:ext cx="6545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 Statistic</a:t>
            </a:r>
            <a:endParaRPr lang="en-US" sz="2800" b="1" dirty="0">
              <a:solidFill>
                <a:srgbClr val="D9212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A78630C0-45D3-63EC-453B-9C2B87A878EC}"/>
                  </a:ext>
                </a:extLst>
              </p:cNvPr>
              <p:cNvSpPr txBox="1"/>
              <p:nvPr/>
            </p:nvSpPr>
            <p:spPr>
              <a:xfrm>
                <a:off x="654042" y="4772149"/>
                <a:ext cx="11113415" cy="1040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925" tIns="16925" rIns="16925" bIns="16925" anchor="t" anchorCtr="0">
                <a:noAutofit/>
              </a:bodyPr>
              <a:lstStyle/>
              <a:p>
                <a:pPr algn="just"/>
                <a:r>
                  <a:rPr lang="en-IN" sz="3600" b="1" dirty="0">
                    <a:effectLst/>
                    <a:ea typeface="Times New Roman" panose="02020603050405020304" pitchFamily="18" charset="0"/>
                  </a:rPr>
                  <a:t>Test statistics</a:t>
                </a:r>
                <a14:m>
                  <m:oMath xmlns:m="http://schemas.openxmlformats.org/officeDocument/2006/math">
                    <m:r>
                      <a:rPr lang="en-IN" sz="36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IN" sz="3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𝑺𝒂𝒎𝒑𝒍𝒆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𝒔𝒕𝒂𝒕𝒊𝒔𝒕𝒊𝒄</m:t>
                        </m:r>
                        <m:r>
                          <a:rPr lang="en-IN" sz="3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𝑷𝒐𝒑𝒖𝒍𝒂𝒕𝒊𝒐𝒏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𝑷𝒂𝒓𝒂𝒎𝒆𝒕𝒆𝒓</m:t>
                        </m:r>
                      </m:num>
                      <m:den>
                        <m:r>
                          <a:rPr lang="en-IN" sz="3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𝑺𝒕𝒂𝒏𝒅𝒂𝒓𝒅</m:t>
                        </m:r>
                        <m:r>
                          <a:rPr lang="en-IN" sz="3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36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𝑬𝒓𝒓𝒐𝒓</m:t>
                        </m:r>
                      </m:den>
                    </m:f>
                  </m:oMath>
                </a14:m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A78630C0-45D3-63EC-453B-9C2B87A87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42" y="4772149"/>
                <a:ext cx="11113415" cy="1040828"/>
              </a:xfrm>
              <a:prstGeom prst="rect">
                <a:avLst/>
              </a:prstGeom>
              <a:blipFill>
                <a:blip r:embed="rId2"/>
                <a:stretch>
                  <a:fillRect l="-23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A16B7A-A358-0C8F-72C6-8EBEE713D06C}"/>
              </a:ext>
            </a:extLst>
          </p:cNvPr>
          <p:cNvSpPr txBox="1"/>
          <p:nvPr/>
        </p:nvSpPr>
        <p:spPr>
          <a:xfrm>
            <a:off x="162005" y="1362445"/>
            <a:ext cx="11373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A 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test statistic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 is a </a:t>
            </a:r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source-serif-pro"/>
              </a:rPr>
              <a:t>standardized value derived from sample data 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during a hypothesis test. </a:t>
            </a:r>
          </a:p>
          <a:p>
            <a:endParaRPr lang="en-US" sz="2800" dirty="0">
              <a:solidFill>
                <a:srgbClr val="242424"/>
              </a:solidFill>
              <a:latin typeface="source-serif-pro"/>
            </a:endParaRPr>
          </a:p>
          <a:p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It helps determine whether to reject the null hypothesis. </a:t>
            </a:r>
          </a:p>
          <a:p>
            <a:endParaRPr lang="en-US" sz="2800" dirty="0">
              <a:solidFill>
                <a:srgbClr val="242424"/>
              </a:solidFill>
              <a:latin typeface="source-serif-pro"/>
            </a:endParaRPr>
          </a:p>
          <a:p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Different tests (t-test, chi-square, etc.) have different formulas for calculating their respective test statistics.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F416-4E1F-4577-8FB8-B2E8617E6234}"/>
              </a:ext>
            </a:extLst>
          </p:cNvPr>
          <p:cNvSpPr txBox="1">
            <a:spLocks/>
          </p:cNvSpPr>
          <p:nvPr/>
        </p:nvSpPr>
        <p:spPr>
          <a:xfrm>
            <a:off x="4251211" y="217297"/>
            <a:ext cx="6703093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 Statistic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DC1247-0ECD-50D7-1E8D-1E7EABE1E68C}"/>
              </a:ext>
            </a:extLst>
          </p:cNvPr>
          <p:cNvGraphicFramePr>
            <a:graphicFrameLocks noGrp="1"/>
          </p:cNvGraphicFramePr>
          <p:nvPr/>
        </p:nvGraphicFramePr>
        <p:xfrm>
          <a:off x="722200" y="2680618"/>
          <a:ext cx="1074420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5225">
                  <a:extLst>
                    <a:ext uri="{9D8B030D-6E8A-4147-A177-3AD203B41FA5}">
                      <a16:colId xmlns:a16="http://schemas.microsoft.com/office/drawing/2014/main" val="2995669385"/>
                    </a:ext>
                  </a:extLst>
                </a:gridCol>
                <a:gridCol w="3592625">
                  <a:extLst>
                    <a:ext uri="{9D8B030D-6E8A-4147-A177-3AD203B41FA5}">
                      <a16:colId xmlns:a16="http://schemas.microsoft.com/office/drawing/2014/main" val="2530895431"/>
                    </a:ext>
                  </a:extLst>
                </a:gridCol>
                <a:gridCol w="3446351">
                  <a:extLst>
                    <a:ext uri="{9D8B030D-6E8A-4147-A177-3AD203B41FA5}">
                      <a16:colId xmlns:a16="http://schemas.microsoft.com/office/drawing/2014/main" val="2969213876"/>
                    </a:ext>
                  </a:extLst>
                </a:gridCol>
              </a:tblGrid>
              <a:tr h="34239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Two tail</a:t>
                      </a:r>
                    </a:p>
                  </a:txBody>
                  <a:tcPr>
                    <a:solidFill>
                      <a:srgbClr val="EE2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Left tail</a:t>
                      </a:r>
                    </a:p>
                  </a:txBody>
                  <a:tcPr>
                    <a:solidFill>
                      <a:srgbClr val="EE2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Right tail</a:t>
                      </a:r>
                    </a:p>
                  </a:txBody>
                  <a:tcPr>
                    <a:solidFill>
                      <a:srgbClr val="EE2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986"/>
                  </a:ext>
                </a:extLst>
              </a:tr>
              <a:tr h="34239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H0: Mean=10</a:t>
                      </a:r>
                    </a:p>
                    <a:p>
                      <a:pPr algn="ctr"/>
                      <a:r>
                        <a:rPr lang="en-IN" sz="2000" dirty="0"/>
                        <a:t>Ha: Mean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≠</a:t>
                      </a:r>
                      <a:r>
                        <a:rPr lang="en-I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H0: Mean ≥ 10</a:t>
                      </a:r>
                    </a:p>
                    <a:p>
                      <a:pPr algn="ctr"/>
                      <a:r>
                        <a:rPr lang="en-IN" sz="2000" dirty="0"/>
                        <a:t>Ha: Mean 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&lt; </a:t>
                      </a:r>
                      <a:r>
                        <a:rPr lang="en-IN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H0: 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 ≤ 10</a:t>
                      </a:r>
                    </a:p>
                    <a:p>
                      <a:pPr algn="ctr"/>
                      <a:r>
                        <a:rPr lang="en-IN" sz="2000" dirty="0"/>
                        <a:t>Ha: Mean 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&gt;</a:t>
                      </a:r>
                      <a:r>
                        <a:rPr lang="en-IN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6275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5CC930-6E14-4CF9-89D6-51B5567215AE}"/>
              </a:ext>
            </a:extLst>
          </p:cNvPr>
          <p:cNvSpPr txBox="1"/>
          <p:nvPr/>
        </p:nvSpPr>
        <p:spPr>
          <a:xfrm>
            <a:off x="722200" y="1061119"/>
            <a:ext cx="3190869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5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r>
              <a:rPr lang="en-US" sz="1800" b="0" i="0" u="none" strike="noStrike" baseline="0" dirty="0">
                <a:latin typeface="Tahoma" panose="020B0604030504040204" pitchFamily="34" charset="0"/>
              </a:rPr>
              <a:t>We want to test that the population mean is different than 10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3650E-5992-E295-C0D9-C1420F1C77CC}"/>
              </a:ext>
            </a:extLst>
          </p:cNvPr>
          <p:cNvSpPr txBox="1"/>
          <p:nvPr/>
        </p:nvSpPr>
        <p:spPr>
          <a:xfrm>
            <a:off x="7981959" y="905306"/>
            <a:ext cx="3771891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5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endParaRPr lang="en-IN" sz="1050" b="0" i="0" u="none" strike="noStrike" baseline="0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W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e want to test that the population mean is greater than 10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708DD-F12C-686F-03C4-9AA86D4EC74F}"/>
              </a:ext>
            </a:extLst>
          </p:cNvPr>
          <p:cNvSpPr txBox="1"/>
          <p:nvPr/>
        </p:nvSpPr>
        <p:spPr>
          <a:xfrm>
            <a:off x="4251212" y="944781"/>
            <a:ext cx="368617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5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endParaRPr lang="en-IN" sz="1050" b="0" i="0" u="none" strike="noStrike" baseline="0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W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e want to test that the population mean is less than </a:t>
            </a:r>
            <a:r>
              <a:rPr lang="en-US" dirty="0">
                <a:latin typeface="Tahoma" panose="020B0604030504040204" pitchFamily="34" charset="0"/>
              </a:rPr>
              <a:t>10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55FA90-EA5D-8024-D2B0-8E84CA28F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501826"/>
              </p:ext>
            </p:extLst>
          </p:nvPr>
        </p:nvGraphicFramePr>
        <p:xfrm>
          <a:off x="466727" y="4772179"/>
          <a:ext cx="10999672" cy="1569243"/>
        </p:xfrm>
        <a:graphic>
          <a:graphicData uri="http://schemas.openxmlformats.org/drawingml/2006/table">
            <a:tbl>
              <a:tblPr/>
              <a:tblGrid>
                <a:gridCol w="2749918">
                  <a:extLst>
                    <a:ext uri="{9D8B030D-6E8A-4147-A177-3AD203B41FA5}">
                      <a16:colId xmlns:a16="http://schemas.microsoft.com/office/drawing/2014/main" val="2868701459"/>
                    </a:ext>
                  </a:extLst>
                </a:gridCol>
                <a:gridCol w="2749918">
                  <a:extLst>
                    <a:ext uri="{9D8B030D-6E8A-4147-A177-3AD203B41FA5}">
                      <a16:colId xmlns:a16="http://schemas.microsoft.com/office/drawing/2014/main" val="863082295"/>
                    </a:ext>
                  </a:extLst>
                </a:gridCol>
                <a:gridCol w="2749918">
                  <a:extLst>
                    <a:ext uri="{9D8B030D-6E8A-4147-A177-3AD203B41FA5}">
                      <a16:colId xmlns:a16="http://schemas.microsoft.com/office/drawing/2014/main" val="3933272726"/>
                    </a:ext>
                  </a:extLst>
                </a:gridCol>
                <a:gridCol w="2749918">
                  <a:extLst>
                    <a:ext uri="{9D8B030D-6E8A-4147-A177-3AD203B41FA5}">
                      <a16:colId xmlns:a16="http://schemas.microsoft.com/office/drawing/2014/main" val="516551415"/>
                    </a:ext>
                  </a:extLst>
                </a:gridCol>
              </a:tblGrid>
              <a:tr h="555783"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Significance Level (⍺)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Two-Tailed Test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One-Tailed Test (Left)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One-Tailed Test (Right)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96284"/>
                  </a:ext>
                </a:extLst>
              </a:tr>
              <a:tr h="284178"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0.01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±2.58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-2.326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+2.326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837706"/>
                  </a:ext>
                </a:extLst>
              </a:tr>
              <a:tr h="284178"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0.05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800" dirty="0">
                          <a:effectLst/>
                          <a:highlight>
                            <a:srgbClr val="FFFF00"/>
                          </a:highlight>
                        </a:rPr>
                        <a:t>±1.96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b="1" dirty="0">
                          <a:effectLst/>
                        </a:rPr>
                        <a:t>-1.645</a:t>
                      </a:r>
                      <a:endParaRPr lang="en-IN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b="1" dirty="0">
                          <a:effectLst/>
                        </a:rPr>
                        <a:t>+1.645</a:t>
                      </a:r>
                      <a:endParaRPr lang="en-IN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861969"/>
                  </a:ext>
                </a:extLst>
              </a:tr>
              <a:tr h="284178"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0.10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b="1" dirty="0">
                          <a:effectLst/>
                        </a:rPr>
                        <a:t>±1.645</a:t>
                      </a:r>
                      <a:endParaRPr lang="en-IN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-1.282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dirty="0">
                          <a:effectLst/>
                        </a:rPr>
                        <a:t>+1.282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087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801D659-B70C-FD66-972B-40D4F10CE7BF}"/>
              </a:ext>
            </a:extLst>
          </p:cNvPr>
          <p:cNvSpPr txBox="1"/>
          <p:nvPr/>
        </p:nvSpPr>
        <p:spPr>
          <a:xfrm>
            <a:off x="889906" y="4275937"/>
            <a:ext cx="7492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Commonly used Critical z values</a:t>
            </a:r>
          </a:p>
        </p:txBody>
      </p:sp>
    </p:spTree>
    <p:extLst>
      <p:ext uri="{BB962C8B-B14F-4D97-AF65-F5344CB8AC3E}">
        <p14:creationId xmlns:p14="http://schemas.microsoft.com/office/powerpoint/2010/main" val="3086929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C13F-E8B8-9A11-BEB9-B5B0B1D7E1F1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A26E-5091-4F57-CA2D-E479B4B4EF9D}"/>
              </a:ext>
            </a:extLst>
          </p:cNvPr>
          <p:cNvSpPr txBox="1">
            <a:spLocks/>
          </p:cNvSpPr>
          <p:nvPr/>
        </p:nvSpPr>
        <p:spPr>
          <a:xfrm>
            <a:off x="669471" y="1371600"/>
            <a:ext cx="10853057" cy="47026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What is H₀ usually about?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No change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New discovery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5% significance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Which error occurs when H₀ is wrongly rejected?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Type I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Type II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Type III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219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12CD-D3EA-60EF-3242-FFB812F4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5970-5A40-C033-B612-C8DCB58A48B9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6218A6-E30F-6109-4E53-930E8BE30E58}"/>
              </a:ext>
            </a:extLst>
          </p:cNvPr>
          <p:cNvSpPr txBox="1">
            <a:spLocks/>
          </p:cNvSpPr>
          <p:nvPr/>
        </p:nvSpPr>
        <p:spPr>
          <a:xfrm>
            <a:off x="669471" y="1371600"/>
            <a:ext cx="10853057" cy="47026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What is H₀ usually about?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No change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New discovery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5% significance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Which error occurs when H₀ is wrongly rejected?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Type I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Type II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Type III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28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1B8F-0D89-70B8-72C9-DBE5FB4C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0DAB-1592-A6E4-DEA6-2711CA8ACD39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B6B779B1-6103-15D3-FC40-62A4A4173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0006447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9748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8916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19C160-8FB1-3AB7-5854-033F3A1FA6A8}"/>
              </a:ext>
            </a:extLst>
          </p:cNvPr>
          <p:cNvSpPr txBox="1">
            <a:spLocks/>
          </p:cNvSpPr>
          <p:nvPr/>
        </p:nvSpPr>
        <p:spPr>
          <a:xfrm>
            <a:off x="1218460" y="2800664"/>
            <a:ext cx="8229600" cy="276497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Basics of Hypothesis Testing</a:t>
            </a:r>
          </a:p>
          <a:p>
            <a:r>
              <a:rPr lang="en-US"/>
              <a:t>Steps of Hypothesis Testing</a:t>
            </a:r>
          </a:p>
          <a:p>
            <a:r>
              <a:rPr lang="en-US"/>
              <a:t>Formulate H₀ and H₁</a:t>
            </a:r>
          </a:p>
          <a:p>
            <a:r>
              <a:rPr lang="en-US"/>
              <a:t>Types of Error</a:t>
            </a:r>
          </a:p>
          <a:p>
            <a:r>
              <a:rPr lang="en-US"/>
              <a:t>Significance Level</a:t>
            </a:r>
          </a:p>
          <a:p>
            <a:r>
              <a:rPr lang="en-US"/>
              <a:t>Types of Statistical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FD4D-D9C9-4931-AA1B-177E1362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DF5ADE-AF52-6C58-D763-B3DF494F538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Reference links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E16517-568C-9C10-A7B7-931D081D3390}"/>
              </a:ext>
            </a:extLst>
          </p:cNvPr>
          <p:cNvSpPr txBox="1">
            <a:spLocks/>
          </p:cNvSpPr>
          <p:nvPr/>
        </p:nvSpPr>
        <p:spPr>
          <a:xfrm>
            <a:off x="375187" y="1527035"/>
            <a:ext cx="11441626" cy="332799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Introduction to Hypothesis Testing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Frequently asked hypothesis testing interview questions and answers – part 1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Frequently asked hypothesis testing interview questions and answers – part 2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Frequently asked hypothesis testing interview questions and answers – part 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65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C9DB-1243-8917-3E48-68F815A4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B6BE01BD-3DAC-F870-8EC1-54E7EA800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E61552-9547-D4A5-64B9-3FC2792844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2A5AA-EA6D-A358-BDB0-EBEA5D789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60C9D-F6A2-8648-CD70-A21AC50214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11316" y="4833449"/>
            <a:ext cx="3569368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C00000"/>
                </a:solidFill>
                <a:latin typeface="Montserrat Bold" pitchFamily="2" charset="0"/>
              </a:rPr>
              <a:t>For any Query:</a:t>
            </a:r>
            <a:endParaRPr lang="en-IN" sz="2300" dirty="0">
              <a:solidFill>
                <a:srgbClr val="C00000"/>
              </a:solidFill>
              <a:latin typeface="Montserrat 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26E7-6195-40B3-121B-6814444C791D}"/>
              </a:ext>
            </a:extLst>
          </p:cNvPr>
          <p:cNvSpPr txBox="1">
            <a:spLocks/>
          </p:cNvSpPr>
          <p:nvPr/>
        </p:nvSpPr>
        <p:spPr>
          <a:xfrm>
            <a:off x="2876550" y="5363953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Website- www.onlinecu.in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955B1-0493-1C1D-DF37-CC783517B463}"/>
              </a:ext>
            </a:extLst>
          </p:cNvPr>
          <p:cNvSpPr txBox="1">
            <a:spLocks/>
          </p:cNvSpPr>
          <p:nvPr/>
        </p:nvSpPr>
        <p:spPr>
          <a:xfrm>
            <a:off x="2876550" y="5722217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Helpline no.: 1800 121 388 800 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9BC1C-B8FD-B4C5-4F1A-EF8B8E99CD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660232" y="2519769"/>
            <a:ext cx="3879226" cy="61233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242B34"/>
                </a:solidFill>
                <a:effectLst/>
                <a:latin typeface="Montserra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en-US" sz="4000" dirty="0">
                <a:solidFill>
                  <a:schemeClr val="tx1"/>
                </a:solidFill>
              </a:rPr>
              <a:t>THANK 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B7D14C-B6FF-E969-C90A-BE0B31E318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60677" y="1903384"/>
            <a:ext cx="1363827" cy="1738069"/>
            <a:chOff x="3505200" y="1214438"/>
            <a:chExt cx="2016126" cy="3225800"/>
          </a:xfrm>
        </p:grpSpPr>
        <p:sp>
          <p:nvSpPr>
            <p:cNvPr id="13" name="Diamond 6">
              <a:extLst>
                <a:ext uri="{FF2B5EF4-FFF2-40B4-BE49-F238E27FC236}">
                  <a16:creationId xmlns:a16="http://schemas.microsoft.com/office/drawing/2014/main" id="{0FB5638E-DA82-408B-D548-520AF0032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505200" y="1214438"/>
              <a:ext cx="1822450" cy="3225800"/>
            </a:xfrm>
            <a:custGeom>
              <a:avLst/>
              <a:gdLst>
                <a:gd name="T0" fmla="*/ 1024904 w 2430463"/>
                <a:gd name="T1" fmla="*/ 2413000 h 3225800"/>
                <a:gd name="T2" fmla="*/ 680146 w 2430463"/>
                <a:gd name="T3" fmla="*/ 3225800 h 3225800"/>
                <a:gd name="T4" fmla="*/ 0 w 2430463"/>
                <a:gd name="T5" fmla="*/ 1612900 h 3225800"/>
                <a:gd name="T6" fmla="*/ 680146 w 2430463"/>
                <a:gd name="T7" fmla="*/ 0 h 3225800"/>
                <a:gd name="T8" fmla="*/ 1024904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  <p:sp>
          <p:nvSpPr>
            <p:cNvPr id="14" name="Diamond 6">
              <a:extLst>
                <a:ext uri="{FF2B5EF4-FFF2-40B4-BE49-F238E27FC236}">
                  <a16:creationId xmlns:a16="http://schemas.microsoft.com/office/drawing/2014/main" id="{F6A4D4F5-BE08-6D8F-3085-311D2F755A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697289" y="1214438"/>
              <a:ext cx="1824037" cy="3225800"/>
            </a:xfrm>
            <a:custGeom>
              <a:avLst/>
              <a:gdLst>
                <a:gd name="T0" fmla="*/ 1026691 w 2430463"/>
                <a:gd name="T1" fmla="*/ 2413000 h 3225800"/>
                <a:gd name="T2" fmla="*/ 681330 w 2430463"/>
                <a:gd name="T3" fmla="*/ 3225800 h 3225800"/>
                <a:gd name="T4" fmla="*/ 0 w 2430463"/>
                <a:gd name="T5" fmla="*/ 1612900 h 3225800"/>
                <a:gd name="T6" fmla="*/ 681330 w 2430463"/>
                <a:gd name="T7" fmla="*/ 0 h 3225800"/>
                <a:gd name="T8" fmla="*/ 1026691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26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1066</Words>
  <Application>Microsoft Office PowerPoint</Application>
  <PresentationFormat>Widescreen</PresentationFormat>
  <Paragraphs>210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Aptos</vt:lpstr>
      <vt:lpstr>Aptos Display</vt:lpstr>
      <vt:lpstr>Arial</vt:lpstr>
      <vt:lpstr>Avenir Next LT Pro</vt:lpstr>
      <vt:lpstr>Calibri</vt:lpstr>
      <vt:lpstr>Cambria Math</vt:lpstr>
      <vt:lpstr>Lato</vt:lpstr>
      <vt:lpstr>Montserrat</vt:lpstr>
      <vt:lpstr>Montserrat Bold</vt:lpstr>
      <vt:lpstr>Montserrat SemiBold</vt:lpstr>
      <vt:lpstr>source-serif-pro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Vikash Singh</cp:lastModifiedBy>
  <cp:revision>95</cp:revision>
  <dcterms:created xsi:type="dcterms:W3CDTF">2025-07-09T10:39:06Z</dcterms:created>
  <dcterms:modified xsi:type="dcterms:W3CDTF">2026-04-04T05:55:37Z</dcterms:modified>
</cp:coreProperties>
</file>