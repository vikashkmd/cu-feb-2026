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02" r:id="rId4"/>
    <p:sldId id="334" r:id="rId5"/>
    <p:sldId id="324" r:id="rId6"/>
    <p:sldId id="331" r:id="rId7"/>
    <p:sldId id="290" r:id="rId8"/>
    <p:sldId id="335" r:id="rId9"/>
    <p:sldId id="310" r:id="rId10"/>
    <p:sldId id="343" r:id="rId11"/>
    <p:sldId id="344" r:id="rId12"/>
    <p:sldId id="345" r:id="rId13"/>
    <p:sldId id="346" r:id="rId14"/>
    <p:sldId id="347" r:id="rId15"/>
    <p:sldId id="358" r:id="rId16"/>
    <p:sldId id="360" r:id="rId17"/>
    <p:sldId id="361" r:id="rId18"/>
    <p:sldId id="359" r:id="rId19"/>
    <p:sldId id="348" r:id="rId20"/>
    <p:sldId id="349" r:id="rId21"/>
    <p:sldId id="362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257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60" y="62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93126-275C-4105-9AC6-3E8CC7C1FE2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72BF80-B15B-41D3-B98A-01E5F10C5972}">
      <dgm:prSet custT="1"/>
      <dgm:spPr>
        <a:xfrm>
          <a:off x="2801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gm:t>
    </dgm:pt>
    <dgm:pt modelId="{C2AAA2C8-534B-438E-AC89-1CD7B1B34FDB}" type="parTrans" cxnId="{5EDB7397-6B23-4F1C-BA7C-FB6F5605DCF3}">
      <dgm:prSet/>
      <dgm:spPr/>
      <dgm:t>
        <a:bodyPr/>
        <a:lstStyle/>
        <a:p>
          <a:endParaRPr lang="en-US" sz="2400"/>
        </a:p>
      </dgm:t>
    </dgm:pt>
    <dgm:pt modelId="{251FA6B0-9B02-4F03-96E8-880BEDA9DC4A}" type="sibTrans" cxnId="{5EDB7397-6B23-4F1C-BA7C-FB6F5605DCF3}">
      <dgm:prSet phldrT="1" phldr="0" custT="1"/>
      <dgm:spPr>
        <a:xfrm>
          <a:off x="442649" y="1247041"/>
          <a:ext cx="637020" cy="637020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gm:t>
    </dgm:pt>
    <dgm:pt modelId="{527ACD2C-3D1A-4F4E-ADAC-2E0CF11CB429}">
      <dgm:prSet custT="1"/>
      <dgm:spPr>
        <a:xfrm>
          <a:off x="1671189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1256455"/>
            <a:satOff val="-1094"/>
            <a:lumOff val="-1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gm:t>
    </dgm:pt>
    <dgm:pt modelId="{B0CE9C4D-88A5-45AE-AA9D-4D9A776439F1}" type="parTrans" cxnId="{82A4D16A-BF27-4AAD-8F90-16592DEB6686}">
      <dgm:prSet/>
      <dgm:spPr/>
      <dgm:t>
        <a:bodyPr/>
        <a:lstStyle/>
        <a:p>
          <a:endParaRPr lang="en-US" sz="2400"/>
        </a:p>
      </dgm:t>
    </dgm:pt>
    <dgm:pt modelId="{D45242D8-A887-446C-B376-892C86E41701}" type="sibTrans" cxnId="{82A4D16A-BF27-4AAD-8F90-16592DEB6686}">
      <dgm:prSet phldrT="2" phldr="0" custT="1"/>
      <dgm:spPr>
        <a:xfrm>
          <a:off x="2111037" y="1247041"/>
          <a:ext cx="637020" cy="637020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gm:t>
    </dgm:pt>
    <dgm:pt modelId="{9A15EDEE-F983-4250-94D5-CFF6F635A413}">
      <dgm:prSet custT="1"/>
      <dgm:spPr>
        <a:xfrm>
          <a:off x="3339577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gm:t>
    </dgm:pt>
    <dgm:pt modelId="{0865333E-710E-4274-8A9F-8828D714E85B}" type="parTrans" cxnId="{3E26F86A-B0E6-4DE3-8AEC-77CBB835B9E6}">
      <dgm:prSet/>
      <dgm:spPr/>
      <dgm:t>
        <a:bodyPr/>
        <a:lstStyle/>
        <a:p>
          <a:endParaRPr lang="en-US" sz="2400"/>
        </a:p>
      </dgm:t>
    </dgm:pt>
    <dgm:pt modelId="{8ABA5563-B33F-4ED8-8F29-FEEAEA20B4FF}" type="sibTrans" cxnId="{3E26F86A-B0E6-4DE3-8AEC-77CBB835B9E6}">
      <dgm:prSet phldrT="3" phldr="0" custT="1"/>
      <dgm:spPr>
        <a:xfrm>
          <a:off x="3779425" y="1247041"/>
          <a:ext cx="637020" cy="637020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gm:t>
    </dgm:pt>
    <dgm:pt modelId="{10D4076C-31F4-4AC5-9E7D-358D5C5EBEDC}">
      <dgm:prSet custT="1"/>
      <dgm:spPr>
        <a:xfrm>
          <a:off x="5007965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gm:t>
    </dgm:pt>
    <dgm:pt modelId="{66D82C1A-FF0B-4962-8AF2-DEE0D6B2954B}" type="parTrans" cxnId="{8E304737-40C9-417D-B62C-D12184BE209A}">
      <dgm:prSet/>
      <dgm:spPr/>
      <dgm:t>
        <a:bodyPr/>
        <a:lstStyle/>
        <a:p>
          <a:endParaRPr lang="en-US" sz="2400"/>
        </a:p>
      </dgm:t>
    </dgm:pt>
    <dgm:pt modelId="{0320836D-D6B6-4442-A8E0-C4ADF4E4FBB5}" type="sibTrans" cxnId="{8E304737-40C9-417D-B62C-D12184BE209A}">
      <dgm:prSet phldrT="4" phldr="0" custT="1"/>
      <dgm:spPr>
        <a:xfrm>
          <a:off x="5447813" y="1247041"/>
          <a:ext cx="637020" cy="637020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gm:t>
    </dgm:pt>
    <dgm:pt modelId="{5C54DA42-9DF7-4B89-AE29-D208BD838CE4}">
      <dgm:prSet custT="1"/>
      <dgm:spPr>
        <a:xfrm>
          <a:off x="6676353" y="1034701"/>
          <a:ext cx="1516716" cy="2123402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28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gm:t>
    </dgm:pt>
    <dgm:pt modelId="{DC8584D3-6C21-479D-B929-2F465C070C1D}" type="parTrans" cxnId="{A83FC9F7-8B72-404E-8675-4C1BD12762D3}">
      <dgm:prSet/>
      <dgm:spPr/>
      <dgm:t>
        <a:bodyPr/>
        <a:lstStyle/>
        <a:p>
          <a:endParaRPr lang="en-US" sz="2400"/>
        </a:p>
      </dgm:t>
    </dgm:pt>
    <dgm:pt modelId="{09300398-15EE-47DB-902E-E2AC68FFA4CE}" type="sibTrans" cxnId="{A83FC9F7-8B72-404E-8675-4C1BD12762D3}">
      <dgm:prSet phldrT="5" phldr="0" custT="1"/>
      <dgm:spPr>
        <a:xfrm>
          <a:off x="7116201" y="1247041"/>
          <a:ext cx="637020" cy="637020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</a:ln>
        <a:effectLst/>
      </dgm:spPr>
      <dgm:t>
        <a:bodyPr/>
        <a:lstStyle/>
        <a:p>
          <a:pPr>
            <a:buNone/>
          </a:pPr>
          <a:r>
            <a:rPr lang="en-US" sz="44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gm:t>
    </dgm:pt>
    <dgm:pt modelId="{B21A0E6E-B807-446B-BBB0-091E49A5ECC4}" type="pres">
      <dgm:prSet presAssocID="{63793126-275C-4105-9AC6-3E8CC7C1FE28}" presName="Name0" presStyleCnt="0">
        <dgm:presLayoutVars>
          <dgm:animLvl val="lvl"/>
          <dgm:resizeHandles val="exact"/>
        </dgm:presLayoutVars>
      </dgm:prSet>
      <dgm:spPr/>
    </dgm:pt>
    <dgm:pt modelId="{687830B8-87D9-439C-A0F6-42855F016002}" type="pres">
      <dgm:prSet presAssocID="{2272BF80-B15B-41D3-B98A-01E5F10C5972}" presName="compositeNode" presStyleCnt="0">
        <dgm:presLayoutVars>
          <dgm:bulletEnabled val="1"/>
        </dgm:presLayoutVars>
      </dgm:prSet>
      <dgm:spPr/>
    </dgm:pt>
    <dgm:pt modelId="{0A469CC7-1368-443F-99BE-B318A37FD825}" type="pres">
      <dgm:prSet presAssocID="{2272BF80-B15B-41D3-B98A-01E5F10C5972}" presName="bgRect" presStyleLbl="bgAccFollowNode1" presStyleIdx="0" presStyleCnt="5"/>
      <dgm:spPr/>
    </dgm:pt>
    <dgm:pt modelId="{7769DB0C-F4C5-43F4-A2EE-C59E985FA7D1}" type="pres">
      <dgm:prSet presAssocID="{251FA6B0-9B02-4F03-96E8-880BEDA9DC4A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676BAA43-BB4F-44FD-8F7F-BAB3B4D8CE05}" type="pres">
      <dgm:prSet presAssocID="{2272BF80-B15B-41D3-B98A-01E5F10C5972}" presName="bottomLine" presStyleLbl="alignNode1" presStyleIdx="1" presStyleCnt="10">
        <dgm:presLayoutVars/>
      </dgm:prSet>
      <dgm:spPr>
        <a:xfrm>
          <a:off x="2801" y="3158031"/>
          <a:ext cx="1516716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</a:ln>
        <a:effectLst/>
      </dgm:spPr>
    </dgm:pt>
    <dgm:pt modelId="{A79AB681-99BB-4B4F-99DB-64183A771F7F}" type="pres">
      <dgm:prSet presAssocID="{2272BF80-B15B-41D3-B98A-01E5F10C5972}" presName="nodeText" presStyleLbl="bgAccFollowNode1" presStyleIdx="0" presStyleCnt="5">
        <dgm:presLayoutVars>
          <dgm:bulletEnabled val="1"/>
        </dgm:presLayoutVars>
      </dgm:prSet>
      <dgm:spPr/>
    </dgm:pt>
    <dgm:pt modelId="{8CE687C0-EE9C-425A-A2B5-AD86850387FF}" type="pres">
      <dgm:prSet presAssocID="{251FA6B0-9B02-4F03-96E8-880BEDA9DC4A}" presName="sibTrans" presStyleCnt="0"/>
      <dgm:spPr/>
    </dgm:pt>
    <dgm:pt modelId="{7B8AAD21-3096-4C22-933B-07B68F3E6B8E}" type="pres">
      <dgm:prSet presAssocID="{527ACD2C-3D1A-4F4E-ADAC-2E0CF11CB429}" presName="compositeNode" presStyleCnt="0">
        <dgm:presLayoutVars>
          <dgm:bulletEnabled val="1"/>
        </dgm:presLayoutVars>
      </dgm:prSet>
      <dgm:spPr/>
    </dgm:pt>
    <dgm:pt modelId="{CCAA77D6-3105-4844-8CDB-FB625AF2EBD8}" type="pres">
      <dgm:prSet presAssocID="{527ACD2C-3D1A-4F4E-ADAC-2E0CF11CB429}" presName="bgRect" presStyleLbl="bgAccFollowNode1" presStyleIdx="1" presStyleCnt="5"/>
      <dgm:spPr/>
    </dgm:pt>
    <dgm:pt modelId="{2B5F2ECC-A55D-4DAE-A8F2-B779FA86D71D}" type="pres">
      <dgm:prSet presAssocID="{D45242D8-A887-446C-B376-892C86E41701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0F547E79-2523-4DB3-9C08-95DD27A51AC4}" type="pres">
      <dgm:prSet presAssocID="{527ACD2C-3D1A-4F4E-ADAC-2E0CF11CB429}" presName="bottomLine" presStyleLbl="alignNode1" presStyleIdx="3" presStyleCnt="10">
        <dgm:presLayoutVars/>
      </dgm:prSet>
      <dgm:spPr>
        <a:xfrm>
          <a:off x="1671189" y="3158031"/>
          <a:ext cx="1516716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</a:ln>
        <a:effectLst/>
      </dgm:spPr>
    </dgm:pt>
    <dgm:pt modelId="{4DA62905-7560-4BF9-A094-CC9446E5BA1A}" type="pres">
      <dgm:prSet presAssocID="{527ACD2C-3D1A-4F4E-ADAC-2E0CF11CB429}" presName="nodeText" presStyleLbl="bgAccFollowNode1" presStyleIdx="1" presStyleCnt="5">
        <dgm:presLayoutVars>
          <dgm:bulletEnabled val="1"/>
        </dgm:presLayoutVars>
      </dgm:prSet>
      <dgm:spPr/>
    </dgm:pt>
    <dgm:pt modelId="{26EE6001-67E2-4140-9262-68B17706FA51}" type="pres">
      <dgm:prSet presAssocID="{D45242D8-A887-446C-B376-892C86E41701}" presName="sibTrans" presStyleCnt="0"/>
      <dgm:spPr/>
    </dgm:pt>
    <dgm:pt modelId="{77B6F255-22B5-4748-8F3D-23282DA77972}" type="pres">
      <dgm:prSet presAssocID="{9A15EDEE-F983-4250-94D5-CFF6F635A413}" presName="compositeNode" presStyleCnt="0">
        <dgm:presLayoutVars>
          <dgm:bulletEnabled val="1"/>
        </dgm:presLayoutVars>
      </dgm:prSet>
      <dgm:spPr/>
    </dgm:pt>
    <dgm:pt modelId="{A83466D0-E506-4378-9B7F-301CCCA9AA58}" type="pres">
      <dgm:prSet presAssocID="{9A15EDEE-F983-4250-94D5-CFF6F635A413}" presName="bgRect" presStyleLbl="bgAccFollowNode1" presStyleIdx="2" presStyleCnt="5"/>
      <dgm:spPr/>
    </dgm:pt>
    <dgm:pt modelId="{D5BFD8C4-B0B0-4D99-8A71-1E878B2E3CA9}" type="pres">
      <dgm:prSet presAssocID="{8ABA5563-B33F-4ED8-8F29-FEEAEA20B4FF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FBB7C4FD-8A9F-4AD2-82BE-0373CF9AA0DF}" type="pres">
      <dgm:prSet presAssocID="{9A15EDEE-F983-4250-94D5-CFF6F635A413}" presName="bottomLine" presStyleLbl="alignNode1" presStyleIdx="5" presStyleCnt="10">
        <dgm:presLayoutVars/>
      </dgm:prSet>
      <dgm:spPr>
        <a:xfrm>
          <a:off x="3339577" y="3158031"/>
          <a:ext cx="1516716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</a:ln>
        <a:effectLst/>
      </dgm:spPr>
    </dgm:pt>
    <dgm:pt modelId="{0EDF6403-EC00-4F95-9F87-69EB720042A9}" type="pres">
      <dgm:prSet presAssocID="{9A15EDEE-F983-4250-94D5-CFF6F635A413}" presName="nodeText" presStyleLbl="bgAccFollowNode1" presStyleIdx="2" presStyleCnt="5">
        <dgm:presLayoutVars>
          <dgm:bulletEnabled val="1"/>
        </dgm:presLayoutVars>
      </dgm:prSet>
      <dgm:spPr/>
    </dgm:pt>
    <dgm:pt modelId="{89C4421D-D6E9-457C-9B10-87EF5AE54EE2}" type="pres">
      <dgm:prSet presAssocID="{8ABA5563-B33F-4ED8-8F29-FEEAEA20B4FF}" presName="sibTrans" presStyleCnt="0"/>
      <dgm:spPr/>
    </dgm:pt>
    <dgm:pt modelId="{58CE3DD2-7C37-4780-A232-64B411CD5C2A}" type="pres">
      <dgm:prSet presAssocID="{10D4076C-31F4-4AC5-9E7D-358D5C5EBEDC}" presName="compositeNode" presStyleCnt="0">
        <dgm:presLayoutVars>
          <dgm:bulletEnabled val="1"/>
        </dgm:presLayoutVars>
      </dgm:prSet>
      <dgm:spPr/>
    </dgm:pt>
    <dgm:pt modelId="{05B08170-2A51-4B84-8E36-316A2FB8E2A8}" type="pres">
      <dgm:prSet presAssocID="{10D4076C-31F4-4AC5-9E7D-358D5C5EBEDC}" presName="bgRect" presStyleLbl="bgAccFollowNode1" presStyleIdx="3" presStyleCnt="5"/>
      <dgm:spPr/>
    </dgm:pt>
    <dgm:pt modelId="{0349DC70-AA64-453F-AC82-88C5373EC56D}" type="pres">
      <dgm:prSet presAssocID="{0320836D-D6B6-4442-A8E0-C4ADF4E4FBB5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68014E59-C244-40B8-9FD9-89F7A544623F}" type="pres">
      <dgm:prSet presAssocID="{10D4076C-31F4-4AC5-9E7D-358D5C5EBEDC}" presName="bottomLine" presStyleLbl="alignNode1" presStyleIdx="7" presStyleCnt="10">
        <dgm:presLayoutVars/>
      </dgm:prSet>
      <dgm:spPr>
        <a:xfrm>
          <a:off x="5007965" y="3158031"/>
          <a:ext cx="1516716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</a:ln>
        <a:effectLst/>
      </dgm:spPr>
    </dgm:pt>
    <dgm:pt modelId="{BC9710CB-0917-4677-9D54-6DD24C5C3439}" type="pres">
      <dgm:prSet presAssocID="{10D4076C-31F4-4AC5-9E7D-358D5C5EBEDC}" presName="nodeText" presStyleLbl="bgAccFollowNode1" presStyleIdx="3" presStyleCnt="5">
        <dgm:presLayoutVars>
          <dgm:bulletEnabled val="1"/>
        </dgm:presLayoutVars>
      </dgm:prSet>
      <dgm:spPr/>
    </dgm:pt>
    <dgm:pt modelId="{F1FDFD07-7069-4B72-8AD7-07C40EACAEBD}" type="pres">
      <dgm:prSet presAssocID="{0320836D-D6B6-4442-A8E0-C4ADF4E4FBB5}" presName="sibTrans" presStyleCnt="0"/>
      <dgm:spPr/>
    </dgm:pt>
    <dgm:pt modelId="{63761A0A-20D0-4BB4-A1C2-2C736FF29734}" type="pres">
      <dgm:prSet presAssocID="{5C54DA42-9DF7-4B89-AE29-D208BD838CE4}" presName="compositeNode" presStyleCnt="0">
        <dgm:presLayoutVars>
          <dgm:bulletEnabled val="1"/>
        </dgm:presLayoutVars>
      </dgm:prSet>
      <dgm:spPr/>
    </dgm:pt>
    <dgm:pt modelId="{16E6F7E5-197D-4AF7-A828-70AA8147B344}" type="pres">
      <dgm:prSet presAssocID="{5C54DA42-9DF7-4B89-AE29-D208BD838CE4}" presName="bgRect" presStyleLbl="bgAccFollowNode1" presStyleIdx="4" presStyleCnt="5"/>
      <dgm:spPr/>
    </dgm:pt>
    <dgm:pt modelId="{9B697E99-C80F-4754-858A-F159AEA84C88}" type="pres">
      <dgm:prSet presAssocID="{09300398-15EE-47DB-902E-E2AC68FFA4CE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196F8AA-22A8-4A31-94A4-0BFEDF4CB880}" type="pres">
      <dgm:prSet presAssocID="{5C54DA42-9DF7-4B89-AE29-D208BD838CE4}" presName="bottomLine" presStyleLbl="alignNode1" presStyleIdx="9" presStyleCnt="10">
        <dgm:presLayoutVars/>
      </dgm:prSet>
      <dgm:spPr>
        <a:xfrm>
          <a:off x="6676353" y="3158031"/>
          <a:ext cx="1516716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</a:ln>
        <a:effectLst/>
      </dgm:spPr>
    </dgm:pt>
    <dgm:pt modelId="{2B22DDA2-9114-4144-985F-2FC2B16D35C1}" type="pres">
      <dgm:prSet presAssocID="{5C54DA42-9DF7-4B89-AE29-D208BD838CE4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2D51A512-B220-4C03-89B3-A97817643805}" type="presOf" srcId="{10D4076C-31F4-4AC5-9E7D-358D5C5EBEDC}" destId="{BC9710CB-0917-4677-9D54-6DD24C5C3439}" srcOrd="1" destOrd="0" presId="urn:microsoft.com/office/officeart/2016/7/layout/BasicLinearProcessNumbered"/>
    <dgm:cxn modelId="{832BDC17-CCEA-42CB-B1D4-B94768790CB0}" type="presOf" srcId="{0320836D-D6B6-4442-A8E0-C4ADF4E4FBB5}" destId="{0349DC70-AA64-453F-AC82-88C5373EC56D}" srcOrd="0" destOrd="0" presId="urn:microsoft.com/office/officeart/2016/7/layout/BasicLinearProcessNumbered"/>
    <dgm:cxn modelId="{5DF9AB1A-D542-4F50-8C2A-08566BC748D6}" type="presOf" srcId="{10D4076C-31F4-4AC5-9E7D-358D5C5EBEDC}" destId="{05B08170-2A51-4B84-8E36-316A2FB8E2A8}" srcOrd="0" destOrd="0" presId="urn:microsoft.com/office/officeart/2016/7/layout/BasicLinearProcessNumbered"/>
    <dgm:cxn modelId="{8368C729-F0FD-4D74-8233-AF3DF9528B19}" type="presOf" srcId="{5C54DA42-9DF7-4B89-AE29-D208BD838CE4}" destId="{2B22DDA2-9114-4144-985F-2FC2B16D35C1}" srcOrd="1" destOrd="0" presId="urn:microsoft.com/office/officeart/2016/7/layout/BasicLinearProcessNumbered"/>
    <dgm:cxn modelId="{696A4A30-0697-4365-9CF8-B6082B48075D}" type="presOf" srcId="{2272BF80-B15B-41D3-B98A-01E5F10C5972}" destId="{A79AB681-99BB-4B4F-99DB-64183A771F7F}" srcOrd="1" destOrd="0" presId="urn:microsoft.com/office/officeart/2016/7/layout/BasicLinearProcessNumbered"/>
    <dgm:cxn modelId="{8E304737-40C9-417D-B62C-D12184BE209A}" srcId="{63793126-275C-4105-9AC6-3E8CC7C1FE28}" destId="{10D4076C-31F4-4AC5-9E7D-358D5C5EBEDC}" srcOrd="3" destOrd="0" parTransId="{66D82C1A-FF0B-4962-8AF2-DEE0D6B2954B}" sibTransId="{0320836D-D6B6-4442-A8E0-C4ADF4E4FBB5}"/>
    <dgm:cxn modelId="{82A4D16A-BF27-4AAD-8F90-16592DEB6686}" srcId="{63793126-275C-4105-9AC6-3E8CC7C1FE28}" destId="{527ACD2C-3D1A-4F4E-ADAC-2E0CF11CB429}" srcOrd="1" destOrd="0" parTransId="{B0CE9C4D-88A5-45AE-AA9D-4D9A776439F1}" sibTransId="{D45242D8-A887-446C-B376-892C86E41701}"/>
    <dgm:cxn modelId="{3E26F86A-B0E6-4DE3-8AEC-77CBB835B9E6}" srcId="{63793126-275C-4105-9AC6-3E8CC7C1FE28}" destId="{9A15EDEE-F983-4250-94D5-CFF6F635A413}" srcOrd="2" destOrd="0" parTransId="{0865333E-710E-4274-8A9F-8828D714E85B}" sibTransId="{8ABA5563-B33F-4ED8-8F29-FEEAEA20B4FF}"/>
    <dgm:cxn modelId="{4619554F-1E04-4F7B-BB04-F888132A816E}" type="presOf" srcId="{D45242D8-A887-446C-B376-892C86E41701}" destId="{2B5F2ECC-A55D-4DAE-A8F2-B779FA86D71D}" srcOrd="0" destOrd="0" presId="urn:microsoft.com/office/officeart/2016/7/layout/BasicLinearProcessNumbered"/>
    <dgm:cxn modelId="{37245B70-8A11-43DE-9244-E1959D7B0760}" type="presOf" srcId="{2272BF80-B15B-41D3-B98A-01E5F10C5972}" destId="{0A469CC7-1368-443F-99BE-B318A37FD825}" srcOrd="0" destOrd="0" presId="urn:microsoft.com/office/officeart/2016/7/layout/BasicLinearProcessNumbered"/>
    <dgm:cxn modelId="{5EDB7397-6B23-4F1C-BA7C-FB6F5605DCF3}" srcId="{63793126-275C-4105-9AC6-3E8CC7C1FE28}" destId="{2272BF80-B15B-41D3-B98A-01E5F10C5972}" srcOrd="0" destOrd="0" parTransId="{C2AAA2C8-534B-438E-AC89-1CD7B1B34FDB}" sibTransId="{251FA6B0-9B02-4F03-96E8-880BEDA9DC4A}"/>
    <dgm:cxn modelId="{84E5CC9E-FD2E-4C03-8A29-F792AF15B1EC}" type="presOf" srcId="{09300398-15EE-47DB-902E-E2AC68FFA4CE}" destId="{9B697E99-C80F-4754-858A-F159AEA84C88}" srcOrd="0" destOrd="0" presId="urn:microsoft.com/office/officeart/2016/7/layout/BasicLinearProcessNumbered"/>
    <dgm:cxn modelId="{74CEF0A6-BE43-4227-89CC-3C7ED10104A6}" type="presOf" srcId="{63793126-275C-4105-9AC6-3E8CC7C1FE28}" destId="{B21A0E6E-B807-446B-BBB0-091E49A5ECC4}" srcOrd="0" destOrd="0" presId="urn:microsoft.com/office/officeart/2016/7/layout/BasicLinearProcessNumbered"/>
    <dgm:cxn modelId="{05AD7FA8-5FE8-44AF-942E-061319EE960B}" type="presOf" srcId="{527ACD2C-3D1A-4F4E-ADAC-2E0CF11CB429}" destId="{CCAA77D6-3105-4844-8CDB-FB625AF2EBD8}" srcOrd="0" destOrd="0" presId="urn:microsoft.com/office/officeart/2016/7/layout/BasicLinearProcessNumbered"/>
    <dgm:cxn modelId="{042D34B9-1FEB-4D2A-84FA-C4A0C4D262B8}" type="presOf" srcId="{8ABA5563-B33F-4ED8-8F29-FEEAEA20B4FF}" destId="{D5BFD8C4-B0B0-4D99-8A71-1E878B2E3CA9}" srcOrd="0" destOrd="0" presId="urn:microsoft.com/office/officeart/2016/7/layout/BasicLinearProcessNumbered"/>
    <dgm:cxn modelId="{8C0AB2BA-32D2-498A-AE8C-024928A37B3E}" type="presOf" srcId="{527ACD2C-3D1A-4F4E-ADAC-2E0CF11CB429}" destId="{4DA62905-7560-4BF9-A094-CC9446E5BA1A}" srcOrd="1" destOrd="0" presId="urn:microsoft.com/office/officeart/2016/7/layout/BasicLinearProcessNumbered"/>
    <dgm:cxn modelId="{270D17BD-654D-44EE-A126-B0418BF04FFF}" type="presOf" srcId="{9A15EDEE-F983-4250-94D5-CFF6F635A413}" destId="{0EDF6403-EC00-4F95-9F87-69EB720042A9}" srcOrd="1" destOrd="0" presId="urn:microsoft.com/office/officeart/2016/7/layout/BasicLinearProcessNumbered"/>
    <dgm:cxn modelId="{008C22DE-886B-4A2B-AE6C-B88D8C0FE503}" type="presOf" srcId="{5C54DA42-9DF7-4B89-AE29-D208BD838CE4}" destId="{16E6F7E5-197D-4AF7-A828-70AA8147B344}" srcOrd="0" destOrd="0" presId="urn:microsoft.com/office/officeart/2016/7/layout/BasicLinearProcessNumbered"/>
    <dgm:cxn modelId="{727011E6-C211-4B3E-A418-7B7EC55039BD}" type="presOf" srcId="{9A15EDEE-F983-4250-94D5-CFF6F635A413}" destId="{A83466D0-E506-4378-9B7F-301CCCA9AA58}" srcOrd="0" destOrd="0" presId="urn:microsoft.com/office/officeart/2016/7/layout/BasicLinearProcessNumbered"/>
    <dgm:cxn modelId="{F1BFC6F6-DA81-460A-B106-0F9182957528}" type="presOf" srcId="{251FA6B0-9B02-4F03-96E8-880BEDA9DC4A}" destId="{7769DB0C-F4C5-43F4-A2EE-C59E985FA7D1}" srcOrd="0" destOrd="0" presId="urn:microsoft.com/office/officeart/2016/7/layout/BasicLinearProcessNumbered"/>
    <dgm:cxn modelId="{A83FC9F7-8B72-404E-8675-4C1BD12762D3}" srcId="{63793126-275C-4105-9AC6-3E8CC7C1FE28}" destId="{5C54DA42-9DF7-4B89-AE29-D208BD838CE4}" srcOrd="4" destOrd="0" parTransId="{DC8584D3-6C21-479D-B929-2F465C070C1D}" sibTransId="{09300398-15EE-47DB-902E-E2AC68FFA4CE}"/>
    <dgm:cxn modelId="{67D9F639-3E44-489E-A809-64992EA4A024}" type="presParOf" srcId="{B21A0E6E-B807-446B-BBB0-091E49A5ECC4}" destId="{687830B8-87D9-439C-A0F6-42855F016002}" srcOrd="0" destOrd="0" presId="urn:microsoft.com/office/officeart/2016/7/layout/BasicLinearProcessNumbered"/>
    <dgm:cxn modelId="{0E582550-F8FA-457A-A686-C985C4C0BDA8}" type="presParOf" srcId="{687830B8-87D9-439C-A0F6-42855F016002}" destId="{0A469CC7-1368-443F-99BE-B318A37FD825}" srcOrd="0" destOrd="0" presId="urn:microsoft.com/office/officeart/2016/7/layout/BasicLinearProcessNumbered"/>
    <dgm:cxn modelId="{93AC729D-328A-4216-AA66-190E8668EA38}" type="presParOf" srcId="{687830B8-87D9-439C-A0F6-42855F016002}" destId="{7769DB0C-F4C5-43F4-A2EE-C59E985FA7D1}" srcOrd="1" destOrd="0" presId="urn:microsoft.com/office/officeart/2016/7/layout/BasicLinearProcessNumbered"/>
    <dgm:cxn modelId="{9509F67A-1A08-4DE9-B219-D6560F886BDA}" type="presParOf" srcId="{687830B8-87D9-439C-A0F6-42855F016002}" destId="{676BAA43-BB4F-44FD-8F7F-BAB3B4D8CE05}" srcOrd="2" destOrd="0" presId="urn:microsoft.com/office/officeart/2016/7/layout/BasicLinearProcessNumbered"/>
    <dgm:cxn modelId="{88E24392-DDC9-49DA-8571-69FA157B97BB}" type="presParOf" srcId="{687830B8-87D9-439C-A0F6-42855F016002}" destId="{A79AB681-99BB-4B4F-99DB-64183A771F7F}" srcOrd="3" destOrd="0" presId="urn:microsoft.com/office/officeart/2016/7/layout/BasicLinearProcessNumbered"/>
    <dgm:cxn modelId="{F5E1621D-48E3-4CAF-96BD-59DBFDCAD305}" type="presParOf" srcId="{B21A0E6E-B807-446B-BBB0-091E49A5ECC4}" destId="{8CE687C0-EE9C-425A-A2B5-AD86850387FF}" srcOrd="1" destOrd="0" presId="urn:microsoft.com/office/officeart/2016/7/layout/BasicLinearProcessNumbered"/>
    <dgm:cxn modelId="{E7E54168-8CFD-4BF3-888F-FD4F5B7D8B5E}" type="presParOf" srcId="{B21A0E6E-B807-446B-BBB0-091E49A5ECC4}" destId="{7B8AAD21-3096-4C22-933B-07B68F3E6B8E}" srcOrd="2" destOrd="0" presId="urn:microsoft.com/office/officeart/2016/7/layout/BasicLinearProcessNumbered"/>
    <dgm:cxn modelId="{077A7504-BB23-41AC-BEF4-3A163543CDA4}" type="presParOf" srcId="{7B8AAD21-3096-4C22-933B-07B68F3E6B8E}" destId="{CCAA77D6-3105-4844-8CDB-FB625AF2EBD8}" srcOrd="0" destOrd="0" presId="urn:microsoft.com/office/officeart/2016/7/layout/BasicLinearProcessNumbered"/>
    <dgm:cxn modelId="{F98C73AC-47B6-4C07-A57C-F8F4813566FB}" type="presParOf" srcId="{7B8AAD21-3096-4C22-933B-07B68F3E6B8E}" destId="{2B5F2ECC-A55D-4DAE-A8F2-B779FA86D71D}" srcOrd="1" destOrd="0" presId="urn:microsoft.com/office/officeart/2016/7/layout/BasicLinearProcessNumbered"/>
    <dgm:cxn modelId="{79AD9CFF-6E78-4FED-AC5B-FF17B2B214FD}" type="presParOf" srcId="{7B8AAD21-3096-4C22-933B-07B68F3E6B8E}" destId="{0F547E79-2523-4DB3-9C08-95DD27A51AC4}" srcOrd="2" destOrd="0" presId="urn:microsoft.com/office/officeart/2016/7/layout/BasicLinearProcessNumbered"/>
    <dgm:cxn modelId="{7C626FAE-2B73-4524-8EEF-F62CF34FA1DE}" type="presParOf" srcId="{7B8AAD21-3096-4C22-933B-07B68F3E6B8E}" destId="{4DA62905-7560-4BF9-A094-CC9446E5BA1A}" srcOrd="3" destOrd="0" presId="urn:microsoft.com/office/officeart/2016/7/layout/BasicLinearProcessNumbered"/>
    <dgm:cxn modelId="{7D2653EA-A23E-48B4-A4B3-BE49365304C7}" type="presParOf" srcId="{B21A0E6E-B807-446B-BBB0-091E49A5ECC4}" destId="{26EE6001-67E2-4140-9262-68B17706FA51}" srcOrd="3" destOrd="0" presId="urn:microsoft.com/office/officeart/2016/7/layout/BasicLinearProcessNumbered"/>
    <dgm:cxn modelId="{ED7339BA-CC46-4E28-A4AF-2E6B8683A4BA}" type="presParOf" srcId="{B21A0E6E-B807-446B-BBB0-091E49A5ECC4}" destId="{77B6F255-22B5-4748-8F3D-23282DA77972}" srcOrd="4" destOrd="0" presId="urn:microsoft.com/office/officeart/2016/7/layout/BasicLinearProcessNumbered"/>
    <dgm:cxn modelId="{EFE271C9-458C-4ED3-8BD7-58882F082DE3}" type="presParOf" srcId="{77B6F255-22B5-4748-8F3D-23282DA77972}" destId="{A83466D0-E506-4378-9B7F-301CCCA9AA58}" srcOrd="0" destOrd="0" presId="urn:microsoft.com/office/officeart/2016/7/layout/BasicLinearProcessNumbered"/>
    <dgm:cxn modelId="{5B2DBCEC-4C54-4C01-9F32-377CE74586F0}" type="presParOf" srcId="{77B6F255-22B5-4748-8F3D-23282DA77972}" destId="{D5BFD8C4-B0B0-4D99-8A71-1E878B2E3CA9}" srcOrd="1" destOrd="0" presId="urn:microsoft.com/office/officeart/2016/7/layout/BasicLinearProcessNumbered"/>
    <dgm:cxn modelId="{81D97050-8CBF-4CF3-B24B-EE7DE6D61653}" type="presParOf" srcId="{77B6F255-22B5-4748-8F3D-23282DA77972}" destId="{FBB7C4FD-8A9F-4AD2-82BE-0373CF9AA0DF}" srcOrd="2" destOrd="0" presId="urn:microsoft.com/office/officeart/2016/7/layout/BasicLinearProcessNumbered"/>
    <dgm:cxn modelId="{EA4E8C76-0FB2-4EA6-BF00-C308682E9A72}" type="presParOf" srcId="{77B6F255-22B5-4748-8F3D-23282DA77972}" destId="{0EDF6403-EC00-4F95-9F87-69EB720042A9}" srcOrd="3" destOrd="0" presId="urn:microsoft.com/office/officeart/2016/7/layout/BasicLinearProcessNumbered"/>
    <dgm:cxn modelId="{F51784D6-E7D1-4026-8E06-1B0BFBBBCD0E}" type="presParOf" srcId="{B21A0E6E-B807-446B-BBB0-091E49A5ECC4}" destId="{89C4421D-D6E9-457C-9B10-87EF5AE54EE2}" srcOrd="5" destOrd="0" presId="urn:microsoft.com/office/officeart/2016/7/layout/BasicLinearProcessNumbered"/>
    <dgm:cxn modelId="{0B60D40B-AEDF-4C62-8E6B-BB0FAB939375}" type="presParOf" srcId="{B21A0E6E-B807-446B-BBB0-091E49A5ECC4}" destId="{58CE3DD2-7C37-4780-A232-64B411CD5C2A}" srcOrd="6" destOrd="0" presId="urn:microsoft.com/office/officeart/2016/7/layout/BasicLinearProcessNumbered"/>
    <dgm:cxn modelId="{684C4032-A8D3-413D-98CD-3217085097D8}" type="presParOf" srcId="{58CE3DD2-7C37-4780-A232-64B411CD5C2A}" destId="{05B08170-2A51-4B84-8E36-316A2FB8E2A8}" srcOrd="0" destOrd="0" presId="urn:microsoft.com/office/officeart/2016/7/layout/BasicLinearProcessNumbered"/>
    <dgm:cxn modelId="{AEFBF552-5EEA-4385-A086-2E16F0DCD4D9}" type="presParOf" srcId="{58CE3DD2-7C37-4780-A232-64B411CD5C2A}" destId="{0349DC70-AA64-453F-AC82-88C5373EC56D}" srcOrd="1" destOrd="0" presId="urn:microsoft.com/office/officeart/2016/7/layout/BasicLinearProcessNumbered"/>
    <dgm:cxn modelId="{678F2425-924D-4213-BB74-23B24F5E8768}" type="presParOf" srcId="{58CE3DD2-7C37-4780-A232-64B411CD5C2A}" destId="{68014E59-C244-40B8-9FD9-89F7A544623F}" srcOrd="2" destOrd="0" presId="urn:microsoft.com/office/officeart/2016/7/layout/BasicLinearProcessNumbered"/>
    <dgm:cxn modelId="{035D93B5-99B1-40BF-9DDA-A5333939637E}" type="presParOf" srcId="{58CE3DD2-7C37-4780-A232-64B411CD5C2A}" destId="{BC9710CB-0917-4677-9D54-6DD24C5C3439}" srcOrd="3" destOrd="0" presId="urn:microsoft.com/office/officeart/2016/7/layout/BasicLinearProcessNumbered"/>
    <dgm:cxn modelId="{007BA4E0-3DB7-47E1-933F-302FFBCA9110}" type="presParOf" srcId="{B21A0E6E-B807-446B-BBB0-091E49A5ECC4}" destId="{F1FDFD07-7069-4B72-8AD7-07C40EACAEBD}" srcOrd="7" destOrd="0" presId="urn:microsoft.com/office/officeart/2016/7/layout/BasicLinearProcessNumbered"/>
    <dgm:cxn modelId="{85F80C66-FE12-49C1-92A2-2B2B2491806B}" type="presParOf" srcId="{B21A0E6E-B807-446B-BBB0-091E49A5ECC4}" destId="{63761A0A-20D0-4BB4-A1C2-2C736FF29734}" srcOrd="8" destOrd="0" presId="urn:microsoft.com/office/officeart/2016/7/layout/BasicLinearProcessNumbered"/>
    <dgm:cxn modelId="{EEFA9997-E09D-4F56-B922-FA27539D0F68}" type="presParOf" srcId="{63761A0A-20D0-4BB4-A1C2-2C736FF29734}" destId="{16E6F7E5-197D-4AF7-A828-70AA8147B344}" srcOrd="0" destOrd="0" presId="urn:microsoft.com/office/officeart/2016/7/layout/BasicLinearProcessNumbered"/>
    <dgm:cxn modelId="{ACCC7FCB-752B-4EEA-B3A8-00E263CEFC2B}" type="presParOf" srcId="{63761A0A-20D0-4BB4-A1C2-2C736FF29734}" destId="{9B697E99-C80F-4754-858A-F159AEA84C88}" srcOrd="1" destOrd="0" presId="urn:microsoft.com/office/officeart/2016/7/layout/BasicLinearProcessNumbered"/>
    <dgm:cxn modelId="{BF40A966-61CA-4A09-8040-DFEC87844F79}" type="presParOf" srcId="{63761A0A-20D0-4BB4-A1C2-2C736FF29734}" destId="{A196F8AA-22A8-4A31-94A4-0BFEDF4CB880}" srcOrd="2" destOrd="0" presId="urn:microsoft.com/office/officeart/2016/7/layout/BasicLinearProcessNumbered"/>
    <dgm:cxn modelId="{CD08EF2C-22B6-4878-9452-DF30D16366C1}" type="presParOf" srcId="{63761A0A-20D0-4BB4-A1C2-2C736FF29734}" destId="{2B22DDA2-9114-4144-985F-2FC2B16D35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69CC7-1368-443F-99BE-B318A37FD825}">
      <dsp:nvSpPr>
        <dsp:cNvPr id="0" name=""/>
        <dsp:cNvSpPr/>
      </dsp:nvSpPr>
      <dsp:spPr>
        <a:xfrm>
          <a:off x="3913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1. Formulate H₀ and H₁</a:t>
          </a:r>
        </a:p>
      </dsp:txBody>
      <dsp:txXfrm>
        <a:off x="3913" y="1810325"/>
        <a:ext cx="2118642" cy="1779659"/>
      </dsp:txXfrm>
    </dsp:sp>
    <dsp:sp modelId="{7769DB0C-F4C5-43F4-A2EE-C59E985FA7D1}">
      <dsp:nvSpPr>
        <dsp:cNvPr id="0" name=""/>
        <dsp:cNvSpPr/>
      </dsp:nvSpPr>
      <dsp:spPr>
        <a:xfrm>
          <a:off x="618319" y="979817"/>
          <a:ext cx="889829" cy="889829"/>
        </a:xfrm>
        <a:prstGeom prst="ellipse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1</a:t>
          </a:r>
        </a:p>
      </dsp:txBody>
      <dsp:txXfrm>
        <a:off x="748631" y="1110129"/>
        <a:ext cx="629205" cy="629205"/>
      </dsp:txXfrm>
    </dsp:sp>
    <dsp:sp modelId="{676BAA43-BB4F-44FD-8F7F-BAB3B4D8CE05}">
      <dsp:nvSpPr>
        <dsp:cNvPr id="0" name=""/>
        <dsp:cNvSpPr/>
      </dsp:nvSpPr>
      <dsp:spPr>
        <a:xfrm>
          <a:off x="3913" y="3649235"/>
          <a:ext cx="2118642" cy="72"/>
        </a:xfrm>
        <a:prstGeom prst="rect">
          <a:avLst/>
        </a:prstGeom>
        <a:solidFill>
          <a:srgbClr val="C0504D">
            <a:hueOff val="520169"/>
            <a:satOff val="-649"/>
            <a:lumOff val="153"/>
            <a:alphaOff val="0"/>
          </a:srgbClr>
        </a:solidFill>
        <a:ln w="25400" cap="flat" cmpd="sng" algn="ctr">
          <a:solidFill>
            <a:srgbClr val="C0504D">
              <a:hueOff val="520169"/>
              <a:satOff val="-649"/>
              <a:lumOff val="1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AA77D6-3105-4844-8CDB-FB625AF2EBD8}">
      <dsp:nvSpPr>
        <dsp:cNvPr id="0" name=""/>
        <dsp:cNvSpPr/>
      </dsp:nvSpPr>
      <dsp:spPr>
        <a:xfrm>
          <a:off x="233441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1256455"/>
            <a:satOff val="-1094"/>
            <a:lumOff val="-1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1256455"/>
              <a:satOff val="-1094"/>
              <a:lumOff val="-1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2. Choose α</a:t>
          </a:r>
        </a:p>
      </dsp:txBody>
      <dsp:txXfrm>
        <a:off x="2334419" y="1810325"/>
        <a:ext cx="2118642" cy="1779659"/>
      </dsp:txXfrm>
    </dsp:sp>
    <dsp:sp modelId="{2B5F2ECC-A55D-4DAE-A8F2-B779FA86D71D}">
      <dsp:nvSpPr>
        <dsp:cNvPr id="0" name=""/>
        <dsp:cNvSpPr/>
      </dsp:nvSpPr>
      <dsp:spPr>
        <a:xfrm>
          <a:off x="2948825" y="979817"/>
          <a:ext cx="889829" cy="889829"/>
        </a:xfrm>
        <a:prstGeom prst="ellipse">
          <a:avLst/>
        </a:prstGeom>
        <a:solidFill>
          <a:srgbClr val="C0504D">
            <a:hueOff val="1040338"/>
            <a:satOff val="-1298"/>
            <a:lumOff val="305"/>
            <a:alphaOff val="0"/>
          </a:srgbClr>
        </a:solidFill>
        <a:ln w="25400" cap="flat" cmpd="sng" algn="ctr">
          <a:solidFill>
            <a:srgbClr val="C0504D">
              <a:hueOff val="1040338"/>
              <a:satOff val="-1298"/>
              <a:lumOff val="30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2</a:t>
          </a:r>
        </a:p>
      </dsp:txBody>
      <dsp:txXfrm>
        <a:off x="3079137" y="1110129"/>
        <a:ext cx="629205" cy="629205"/>
      </dsp:txXfrm>
    </dsp:sp>
    <dsp:sp modelId="{0F547E79-2523-4DB3-9C08-95DD27A51AC4}">
      <dsp:nvSpPr>
        <dsp:cNvPr id="0" name=""/>
        <dsp:cNvSpPr/>
      </dsp:nvSpPr>
      <dsp:spPr>
        <a:xfrm>
          <a:off x="2334419" y="3649235"/>
          <a:ext cx="2118642" cy="72"/>
        </a:xfrm>
        <a:prstGeom prst="rect">
          <a:avLst/>
        </a:prstGeom>
        <a:solidFill>
          <a:srgbClr val="C0504D">
            <a:hueOff val="1560506"/>
            <a:satOff val="-1946"/>
            <a:lumOff val="458"/>
            <a:alphaOff val="0"/>
          </a:srgbClr>
        </a:solidFill>
        <a:ln w="25400" cap="flat" cmpd="sng" algn="ctr">
          <a:solidFill>
            <a:srgbClr val="C0504D">
              <a:hueOff val="1560506"/>
              <a:satOff val="-1946"/>
              <a:lumOff val="45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466D0-E506-4378-9B7F-301CCCA9AA58}">
      <dsp:nvSpPr>
        <dsp:cNvPr id="0" name=""/>
        <dsp:cNvSpPr/>
      </dsp:nvSpPr>
      <dsp:spPr>
        <a:xfrm>
          <a:off x="4664926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2512910"/>
            <a:satOff val="-2189"/>
            <a:lumOff val="-3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2512910"/>
              <a:satOff val="-2189"/>
              <a:lumOff val="-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3. Select Test</a:t>
          </a:r>
        </a:p>
      </dsp:txBody>
      <dsp:txXfrm>
        <a:off x="4664926" y="1810325"/>
        <a:ext cx="2118642" cy="1779659"/>
      </dsp:txXfrm>
    </dsp:sp>
    <dsp:sp modelId="{D5BFD8C4-B0B0-4D99-8A71-1E878B2E3CA9}">
      <dsp:nvSpPr>
        <dsp:cNvPr id="0" name=""/>
        <dsp:cNvSpPr/>
      </dsp:nvSpPr>
      <dsp:spPr>
        <a:xfrm>
          <a:off x="5279332" y="979817"/>
          <a:ext cx="889829" cy="889829"/>
        </a:xfrm>
        <a:prstGeom prst="ellipse">
          <a:avLst/>
        </a:prstGeom>
        <a:solidFill>
          <a:srgbClr val="C0504D">
            <a:hueOff val="2080675"/>
            <a:satOff val="-2595"/>
            <a:lumOff val="610"/>
            <a:alphaOff val="0"/>
          </a:srgbClr>
        </a:solidFill>
        <a:ln w="25400" cap="flat" cmpd="sng" algn="ctr">
          <a:solidFill>
            <a:srgbClr val="C0504D">
              <a:hueOff val="2080675"/>
              <a:satOff val="-2595"/>
              <a:lumOff val="61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3</a:t>
          </a:r>
        </a:p>
      </dsp:txBody>
      <dsp:txXfrm>
        <a:off x="5409644" y="1110129"/>
        <a:ext cx="629205" cy="629205"/>
      </dsp:txXfrm>
    </dsp:sp>
    <dsp:sp modelId="{FBB7C4FD-8A9F-4AD2-82BE-0373CF9AA0DF}">
      <dsp:nvSpPr>
        <dsp:cNvPr id="0" name=""/>
        <dsp:cNvSpPr/>
      </dsp:nvSpPr>
      <dsp:spPr>
        <a:xfrm>
          <a:off x="4664926" y="3649235"/>
          <a:ext cx="2118642" cy="72"/>
        </a:xfrm>
        <a:prstGeom prst="rect">
          <a:avLst/>
        </a:prstGeom>
        <a:solidFill>
          <a:srgbClr val="C0504D">
            <a:hueOff val="2600844"/>
            <a:satOff val="-3244"/>
            <a:lumOff val="763"/>
            <a:alphaOff val="0"/>
          </a:srgbClr>
        </a:solidFill>
        <a:ln w="25400" cap="flat" cmpd="sng" algn="ctr">
          <a:solidFill>
            <a:srgbClr val="C0504D">
              <a:hueOff val="2600844"/>
              <a:satOff val="-3244"/>
              <a:lumOff val="76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B08170-2A51-4B84-8E36-316A2FB8E2A8}">
      <dsp:nvSpPr>
        <dsp:cNvPr id="0" name=""/>
        <dsp:cNvSpPr/>
      </dsp:nvSpPr>
      <dsp:spPr>
        <a:xfrm>
          <a:off x="6995432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3769366"/>
            <a:satOff val="-3283"/>
            <a:lumOff val="-4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3769366"/>
              <a:satOff val="-3283"/>
              <a:lumOff val="-4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4. Calculate Test Statistic</a:t>
          </a:r>
        </a:p>
      </dsp:txBody>
      <dsp:txXfrm>
        <a:off x="6995432" y="1810325"/>
        <a:ext cx="2118642" cy="1779659"/>
      </dsp:txXfrm>
    </dsp:sp>
    <dsp:sp modelId="{0349DC70-AA64-453F-AC82-88C5373EC56D}">
      <dsp:nvSpPr>
        <dsp:cNvPr id="0" name=""/>
        <dsp:cNvSpPr/>
      </dsp:nvSpPr>
      <dsp:spPr>
        <a:xfrm>
          <a:off x="7609839" y="979817"/>
          <a:ext cx="889829" cy="889829"/>
        </a:xfrm>
        <a:prstGeom prst="ellipse">
          <a:avLst/>
        </a:prstGeom>
        <a:solidFill>
          <a:srgbClr val="C0504D">
            <a:hueOff val="3121013"/>
            <a:satOff val="-3893"/>
            <a:lumOff val="915"/>
            <a:alphaOff val="0"/>
          </a:srgbClr>
        </a:solidFill>
        <a:ln w="25400" cap="flat" cmpd="sng" algn="ctr">
          <a:solidFill>
            <a:srgbClr val="C0504D">
              <a:hueOff val="3121013"/>
              <a:satOff val="-3893"/>
              <a:lumOff val="91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4</a:t>
          </a:r>
        </a:p>
      </dsp:txBody>
      <dsp:txXfrm>
        <a:off x="7740151" y="1110129"/>
        <a:ext cx="629205" cy="629205"/>
      </dsp:txXfrm>
    </dsp:sp>
    <dsp:sp modelId="{68014E59-C244-40B8-9FD9-89F7A544623F}">
      <dsp:nvSpPr>
        <dsp:cNvPr id="0" name=""/>
        <dsp:cNvSpPr/>
      </dsp:nvSpPr>
      <dsp:spPr>
        <a:xfrm>
          <a:off x="6995432" y="3649235"/>
          <a:ext cx="2118642" cy="72"/>
        </a:xfrm>
        <a:prstGeom prst="rect">
          <a:avLst/>
        </a:prstGeom>
        <a:solidFill>
          <a:srgbClr val="C0504D">
            <a:hueOff val="3641181"/>
            <a:satOff val="-4541"/>
            <a:lumOff val="1068"/>
            <a:alphaOff val="0"/>
          </a:srgbClr>
        </a:solidFill>
        <a:ln w="25400" cap="flat" cmpd="sng" algn="ctr">
          <a:solidFill>
            <a:srgbClr val="C0504D">
              <a:hueOff val="3641181"/>
              <a:satOff val="-4541"/>
              <a:lumOff val="1068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E6F7E5-197D-4AF7-A828-70AA8147B344}">
      <dsp:nvSpPr>
        <dsp:cNvPr id="0" name=""/>
        <dsp:cNvSpPr/>
      </dsp:nvSpPr>
      <dsp:spPr>
        <a:xfrm>
          <a:off x="9325939" y="683207"/>
          <a:ext cx="2118642" cy="2966099"/>
        </a:xfrm>
        <a:prstGeom prst="rect">
          <a:avLst/>
        </a:prstGeom>
        <a:solidFill>
          <a:srgbClr val="C0504D">
            <a:tint val="40000"/>
            <a:alpha val="90000"/>
            <a:hueOff val="5025821"/>
            <a:satOff val="-4378"/>
            <a:lumOff val="-6"/>
            <a:alphaOff val="0"/>
          </a:srgbClr>
        </a:solidFill>
        <a:ln w="25400" cap="flat" cmpd="sng" algn="ctr">
          <a:solidFill>
            <a:srgbClr val="C0504D">
              <a:tint val="40000"/>
              <a:alpha val="90000"/>
              <a:hueOff val="5025821"/>
              <a:satOff val="-4378"/>
              <a:lumOff val="-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78" tIns="330200" rIns="165178" bIns="33020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5. Make Decision</a:t>
          </a:r>
        </a:p>
      </dsp:txBody>
      <dsp:txXfrm>
        <a:off x="9325939" y="1810325"/>
        <a:ext cx="2118642" cy="1779659"/>
      </dsp:txXfrm>
    </dsp:sp>
    <dsp:sp modelId="{9B697E99-C80F-4754-858A-F159AEA84C88}">
      <dsp:nvSpPr>
        <dsp:cNvPr id="0" name=""/>
        <dsp:cNvSpPr/>
      </dsp:nvSpPr>
      <dsp:spPr>
        <a:xfrm>
          <a:off x="9940345" y="979817"/>
          <a:ext cx="889829" cy="889829"/>
        </a:xfrm>
        <a:prstGeom prst="ellipse">
          <a:avLst/>
        </a:prstGeom>
        <a:solidFill>
          <a:srgbClr val="C0504D">
            <a:hueOff val="4161350"/>
            <a:satOff val="-5190"/>
            <a:lumOff val="1220"/>
            <a:alphaOff val="0"/>
          </a:srgbClr>
        </a:solidFill>
        <a:ln w="25400" cap="flat" cmpd="sng" algn="ctr">
          <a:solidFill>
            <a:srgbClr val="C0504D">
              <a:hueOff val="4161350"/>
              <a:satOff val="-5190"/>
              <a:lumOff val="122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375" tIns="12700" rIns="69375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5</a:t>
          </a:r>
        </a:p>
      </dsp:txBody>
      <dsp:txXfrm>
        <a:off x="10070657" y="1110129"/>
        <a:ext cx="629205" cy="629205"/>
      </dsp:txXfrm>
    </dsp:sp>
    <dsp:sp modelId="{A196F8AA-22A8-4A31-94A4-0BFEDF4CB880}">
      <dsp:nvSpPr>
        <dsp:cNvPr id="0" name=""/>
        <dsp:cNvSpPr/>
      </dsp:nvSpPr>
      <dsp:spPr>
        <a:xfrm>
          <a:off x="9325939" y="3649235"/>
          <a:ext cx="2118642" cy="72"/>
        </a:xfrm>
        <a:prstGeom prst="rect">
          <a:avLst/>
        </a:prstGeom>
        <a:solidFill>
          <a:srgbClr val="C0504D">
            <a:hueOff val="4681519"/>
            <a:satOff val="-5839"/>
            <a:lumOff val="1373"/>
            <a:alphaOff val="0"/>
          </a:srgbClr>
        </a:solidFill>
        <a:ln w="25400" cap="flat" cmpd="sng" algn="ctr">
          <a:solidFill>
            <a:srgbClr val="C0504D">
              <a:hueOff val="4681519"/>
              <a:satOff val="-5839"/>
              <a:lumOff val="137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20082ACF-3AE9-146E-7E5F-C65F33E8B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877687-59E4-FE10-798A-5CDB608323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1ECD35-FA11-4851-4A09-09EF2B1ECA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BE6A8-737D-A62C-6551-363023866B3F}"/>
              </a:ext>
            </a:extLst>
          </p:cNvPr>
          <p:cNvSpPr txBox="1">
            <a:spLocks/>
          </p:cNvSpPr>
          <p:nvPr userDrawn="1"/>
        </p:nvSpPr>
        <p:spPr>
          <a:xfrm>
            <a:off x="-139701" y="6346735"/>
            <a:ext cx="3565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Website-</a:t>
            </a:r>
            <a:r>
              <a:rPr lang="en-US" sz="1600" dirty="0">
                <a:latin typeface="Montserrat SemiBold" pitchFamily="2" charset="0"/>
              </a:rPr>
              <a:t> www.onlinecu.in</a:t>
            </a:r>
            <a:endParaRPr lang="en-IN" sz="1600" dirty="0">
              <a:latin typeface="Montserra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CA99B-85F9-8685-ECB4-83814B31D6D6}"/>
              </a:ext>
            </a:extLst>
          </p:cNvPr>
          <p:cNvSpPr txBox="1">
            <a:spLocks/>
          </p:cNvSpPr>
          <p:nvPr userDrawn="1"/>
        </p:nvSpPr>
        <p:spPr>
          <a:xfrm>
            <a:off x="8505373" y="6346736"/>
            <a:ext cx="382632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Helpline no.: </a:t>
            </a:r>
            <a:r>
              <a:rPr lang="en-US" sz="1600" dirty="0">
                <a:latin typeface="Montserrat SemiBold" pitchFamily="2" charset="0"/>
              </a:rPr>
              <a:t>1800 121 388 800 </a:t>
            </a:r>
            <a:endParaRPr lang="en-IN" sz="1600" dirty="0"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12-04-2026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vikashsinghy2k/step-by-step-guide-to-normal-binomial-and-poisson-distributions-using-python-4256762fb958" TargetMode="External"/><Relationship Id="rId3" Type="http://schemas.openxmlformats.org/officeDocument/2006/relationships/hyperlink" Target="https://medium.com/@vikashsinghy2k/frequently-asked-hypothesis-testing-questions-for-data-scientist-interviews-f4ef4a313a07" TargetMode="External"/><Relationship Id="rId7" Type="http://schemas.openxmlformats.org/officeDocument/2006/relationships/hyperlink" Target="https://medium.com/@vikashsinghy2k/how-to-collect-data-effectively-methods-questionnaire-design-and-data-sources-explained-7c0aa41d0afd" TargetMode="External"/><Relationship Id="rId2" Type="http://schemas.openxmlformats.org/officeDocument/2006/relationships/hyperlink" Target="https://medium.com/@vikashsinghy2k/introduction-to-hypothesis-testing-321cf4c9406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complete-guide-to-sampling-methods-random-stratified-systematic-and-cluster-sampling-with-f81eeb07676b" TargetMode="External"/><Relationship Id="rId5" Type="http://schemas.openxmlformats.org/officeDocument/2006/relationships/hyperlink" Target="https://medium.com/@vikashsinghy2k/frequently-asked-hypothesis-testing-questions-for-data-scientist-interviews-part-3-bd524da113cf" TargetMode="External"/><Relationship Id="rId4" Type="http://schemas.openxmlformats.org/officeDocument/2006/relationships/hyperlink" Target="https://medium.com/@vikashsinghy2k/frequently-asked-hypothesis-testing-interview-questions-for-aspiring-data-scientists-part-2-eea00536f423" TargetMode="External"/><Relationship Id="rId9" Type="http://schemas.openxmlformats.org/officeDocument/2006/relationships/hyperlink" Target="https://medium.com/@vikashsinghy2k/step-by-step-guide-to-two-sample-z-test-for-large-samples-population-sd-known-e82f52d29382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45D7B758-93B8-6702-E78A-5420C09B69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88" y="-3481759"/>
            <a:ext cx="12286489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A9F29A-6499-7007-BE30-D0006E28FD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E01D9-0256-D1BA-213E-B0241C636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Hypothesis Testing using Statistical Tests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5642FB-F2EA-04B0-6F92-25F1F679F81B}"/>
              </a:ext>
            </a:extLst>
          </p:cNvPr>
          <p:cNvSpPr txBox="1">
            <a:spLocks/>
          </p:cNvSpPr>
          <p:nvPr/>
        </p:nvSpPr>
        <p:spPr>
          <a:xfrm>
            <a:off x="1001485" y="3048001"/>
            <a:ext cx="10765971" cy="27649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Understand when to use which statistical tests </a:t>
            </a:r>
          </a:p>
          <a:p>
            <a:r>
              <a:rPr lang="en-US"/>
              <a:t>Apply and practice the various steps of Hypothesis Testing</a:t>
            </a:r>
          </a:p>
          <a:p>
            <a:r>
              <a:rPr lang="en-US"/>
              <a:t>Understand the process of one sample and two sample tests.</a:t>
            </a:r>
          </a:p>
          <a:p>
            <a:r>
              <a:rPr lang="en-US"/>
              <a:t>Draw inferences and conclusion.</a:t>
            </a:r>
          </a:p>
          <a:p>
            <a:r>
              <a:rPr lang="en-US"/>
              <a:t>Understand the concept of degrees of freedom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1F271-41DA-A538-EB88-50AE490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361F3A-5E34-A607-B323-75C66E5F6978}"/>
              </a:ext>
            </a:extLst>
          </p:cNvPr>
          <p:cNvSpPr txBox="1">
            <a:spLocks/>
          </p:cNvSpPr>
          <p:nvPr/>
        </p:nvSpPr>
        <p:spPr>
          <a:xfrm>
            <a:off x="2275113" y="217297"/>
            <a:ext cx="86791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Hypothesis and Hypothesis Testing?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27A51BC-1718-DC86-3F98-CD06FDFFA8FD}"/>
              </a:ext>
            </a:extLst>
          </p:cNvPr>
          <p:cNvSpPr txBox="1">
            <a:spLocks/>
          </p:cNvSpPr>
          <p:nvPr/>
        </p:nvSpPr>
        <p:spPr>
          <a:xfrm>
            <a:off x="313519" y="1166018"/>
            <a:ext cx="10765971" cy="45259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An assumption or educated guess about a population parameter.</a:t>
            </a:r>
          </a:p>
          <a:p>
            <a:r>
              <a:rPr lang="en-US"/>
              <a:t>Tested using sample data.</a:t>
            </a:r>
          </a:p>
          <a:p>
            <a:endParaRPr lang="en-US"/>
          </a:p>
          <a:p>
            <a:r>
              <a:rPr lang="en-US"/>
              <a:t>Hypothesis testing is like a detective game where you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start with an assumption (a hypothesis);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2. then collect evidence (data) to decide whether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3. your assumption is likely to be true or not. </a:t>
            </a:r>
          </a:p>
          <a:p>
            <a:endParaRPr lang="en-US"/>
          </a:p>
          <a:p>
            <a:r>
              <a:rPr lang="en-US"/>
              <a:t>It’s a way of making decisions or inferences about a population based on a sample of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C560-F87C-1527-EF66-E6CD394E452E}"/>
              </a:ext>
            </a:extLst>
          </p:cNvPr>
          <p:cNvSpPr txBox="1">
            <a:spLocks/>
          </p:cNvSpPr>
          <p:nvPr/>
        </p:nvSpPr>
        <p:spPr>
          <a:xfrm>
            <a:off x="3026229" y="217297"/>
            <a:ext cx="7928076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Steps in Hypothesis Testing (Recap)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13F9C83-C3C8-428D-1209-1FB7BDE19B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191825"/>
              </p:ext>
            </p:extLst>
          </p:nvPr>
        </p:nvGraphicFramePr>
        <p:xfrm>
          <a:off x="438705" y="1469571"/>
          <a:ext cx="11448495" cy="4332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242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C753-9842-2EC4-0BC8-2DAA95A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B3820-C59F-0867-C81E-6FA117A5A68B}"/>
              </a:ext>
            </a:extLst>
          </p:cNvPr>
          <p:cNvSpPr txBox="1">
            <a:spLocks/>
          </p:cNvSpPr>
          <p:nvPr/>
        </p:nvSpPr>
        <p:spPr>
          <a:xfrm>
            <a:off x="2427513" y="217297"/>
            <a:ext cx="8526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</a:t>
            </a:r>
            <a:endParaRPr lang="en-US" sz="2800" b="1" dirty="0">
              <a:solidFill>
                <a:srgbClr val="D9212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219D858A-1E59-C8BB-1970-F3FBFCAE295A}"/>
                  </a:ext>
                </a:extLst>
              </p:cNvPr>
              <p:cNvSpPr txBox="1"/>
              <p:nvPr/>
            </p:nvSpPr>
            <p:spPr>
              <a:xfrm>
                <a:off x="539292" y="1299606"/>
                <a:ext cx="11113415" cy="1040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925" tIns="16925" rIns="16925" bIns="16925" anchor="t" anchorCtr="0">
                <a:no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Times New Roman" panose="02020603050405020304" pitchFamily="18" charset="0"/>
                    <a:cs typeface="+mn-cs"/>
                  </a:rPr>
                  <a:t>Test statistics</a:t>
                </a:r>
                <a14:m>
                  <m:oMath xmlns:m="http://schemas.openxmlformats.org/officeDocument/2006/math">
                    <m:r>
                      <a:rPr kumimoji="0" lang="en-IN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+mn-cs"/>
                      </a:rPr>
                      <m:t>= </m:t>
                    </m:r>
                    <m:f>
                      <m:fPr>
                        <m:ctrlPr>
                          <a:rPr kumimoji="0" lang="en-I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𝑺𝒂𝒎𝒑𝒍𝒆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𝒔𝒕𝒂𝒕𝒊𝒔𝒕𝒊𝒄</m:t>
                        </m:r>
                        <m:r>
                          <a:rPr kumimoji="0" lang="en-I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𝑷𝒐𝒑𝒖𝒍𝒂𝒕𝒊𝒐𝒏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𝑷𝒂𝒓𝒂𝒎𝒆𝒕𝒆𝒓</m:t>
                        </m:r>
                      </m:num>
                      <m:den>
                        <m:r>
                          <a:rPr kumimoji="0" lang="en-I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𝑺𝒕𝒂𝒏𝒅𝒂𝒓𝒅</m:t>
                        </m:r>
                        <m:r>
                          <a:rPr kumimoji="0" lang="en-IN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 </m:t>
                        </m:r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+mn-cs"/>
                          </a:rPr>
                          <m:t>𝑬𝒓𝒓𝒐𝒓</m:t>
                        </m:r>
                      </m:den>
                    </m:f>
                  </m:oMath>
                </a14:m>
                <a:endParaRPr kumimoji="0" lang="en-IN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219D858A-1E59-C8BB-1970-F3FBFCAE2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92" y="1299606"/>
                <a:ext cx="11113415" cy="1040828"/>
              </a:xfrm>
              <a:prstGeom prst="rect">
                <a:avLst/>
              </a:prstGeom>
              <a:blipFill>
                <a:blip r:embed="rId2"/>
                <a:stretch>
                  <a:fillRect l="-23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FBC722-96BC-0792-A4CA-FC0DD47DD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545058"/>
              </p:ext>
            </p:extLst>
          </p:nvPr>
        </p:nvGraphicFramePr>
        <p:xfrm>
          <a:off x="511270" y="3195709"/>
          <a:ext cx="11234416" cy="2268919"/>
        </p:xfrm>
        <a:graphic>
          <a:graphicData uri="http://schemas.openxmlformats.org/drawingml/2006/table">
            <a:tbl>
              <a:tblPr/>
              <a:tblGrid>
                <a:gridCol w="2808604">
                  <a:extLst>
                    <a:ext uri="{9D8B030D-6E8A-4147-A177-3AD203B41FA5}">
                      <a16:colId xmlns:a16="http://schemas.microsoft.com/office/drawing/2014/main" val="2868701459"/>
                    </a:ext>
                  </a:extLst>
                </a:gridCol>
                <a:gridCol w="2808604">
                  <a:extLst>
                    <a:ext uri="{9D8B030D-6E8A-4147-A177-3AD203B41FA5}">
                      <a16:colId xmlns:a16="http://schemas.microsoft.com/office/drawing/2014/main" val="863082295"/>
                    </a:ext>
                  </a:extLst>
                </a:gridCol>
                <a:gridCol w="2808604">
                  <a:extLst>
                    <a:ext uri="{9D8B030D-6E8A-4147-A177-3AD203B41FA5}">
                      <a16:colId xmlns:a16="http://schemas.microsoft.com/office/drawing/2014/main" val="3933272726"/>
                    </a:ext>
                  </a:extLst>
                </a:gridCol>
                <a:gridCol w="2808604">
                  <a:extLst>
                    <a:ext uri="{9D8B030D-6E8A-4147-A177-3AD203B41FA5}">
                      <a16:colId xmlns:a16="http://schemas.microsoft.com/office/drawing/2014/main" val="516551415"/>
                    </a:ext>
                  </a:extLst>
                </a:gridCol>
              </a:tblGrid>
              <a:tr h="818711"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Significance Level (⍺)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Two-Tailed Test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One-Tailed Test (Left)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One-Tailed Test (Right)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996284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0.01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±2.58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-2.326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+2.326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837706"/>
                  </a:ext>
                </a:extLst>
              </a:tr>
              <a:tr h="617526"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0.05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3600" dirty="0">
                          <a:effectLst/>
                          <a:highlight>
                            <a:srgbClr val="FFFF00"/>
                          </a:highlight>
                        </a:rPr>
                        <a:t>±1.96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b="1" dirty="0">
                          <a:effectLst/>
                        </a:rPr>
                        <a:t>-1.645</a:t>
                      </a:r>
                      <a:endParaRPr lang="en-IN" sz="2400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b="1" dirty="0">
                          <a:effectLst/>
                        </a:rPr>
                        <a:t>+1.645</a:t>
                      </a:r>
                      <a:endParaRPr lang="en-IN" sz="2400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861969"/>
                  </a:ext>
                </a:extLst>
              </a:tr>
              <a:tr h="416341"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0.10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b="1" dirty="0">
                          <a:effectLst/>
                        </a:rPr>
                        <a:t>±1.645</a:t>
                      </a:r>
                      <a:endParaRPr lang="en-IN" sz="2400" dirty="0">
                        <a:effectLst/>
                      </a:endParaRP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-1.282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IN" sz="2400" dirty="0">
                          <a:effectLst/>
                        </a:rPr>
                        <a:t>+1.282</a:t>
                      </a:r>
                    </a:p>
                  </a:txBody>
                  <a:tcPr marL="6350" marR="6350" marT="6350" marB="63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087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54B1202-883B-F534-6D72-F874F32DAC55}"/>
              </a:ext>
            </a:extLst>
          </p:cNvPr>
          <p:cNvSpPr txBox="1"/>
          <p:nvPr/>
        </p:nvSpPr>
        <p:spPr>
          <a:xfrm>
            <a:off x="681057" y="2734045"/>
            <a:ext cx="74920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Commonly used Critical z values</a:t>
            </a:r>
          </a:p>
        </p:txBody>
      </p:sp>
    </p:spTree>
    <p:extLst>
      <p:ext uri="{BB962C8B-B14F-4D97-AF65-F5344CB8AC3E}">
        <p14:creationId xmlns:p14="http://schemas.microsoft.com/office/powerpoint/2010/main" val="261619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B2ED-A3C6-B644-A321-6E86468FA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D717-0143-6789-E5DA-1556FF95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498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Statistical Test Computations</a:t>
            </a:r>
          </a:p>
        </p:txBody>
      </p:sp>
    </p:spTree>
    <p:extLst>
      <p:ext uri="{BB962C8B-B14F-4D97-AF65-F5344CB8AC3E}">
        <p14:creationId xmlns:p14="http://schemas.microsoft.com/office/powerpoint/2010/main" val="110274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CA3F0-5D74-4967-F591-DED6512EB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0735-08EE-79AF-E3EB-C0B0347C38C8}"/>
              </a:ext>
            </a:extLst>
          </p:cNvPr>
          <p:cNvSpPr txBox="1">
            <a:spLocks/>
          </p:cNvSpPr>
          <p:nvPr/>
        </p:nvSpPr>
        <p:spPr>
          <a:xfrm>
            <a:off x="2601685" y="217297"/>
            <a:ext cx="8352619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One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Google Shape;74;p43">
            <a:extLst>
              <a:ext uri="{FF2B5EF4-FFF2-40B4-BE49-F238E27FC236}">
                <a16:creationId xmlns:a16="http://schemas.microsoft.com/office/drawing/2014/main" id="{0A75557A-D6E4-1206-EAE2-DF4DDC492BD3}"/>
              </a:ext>
            </a:extLst>
          </p:cNvPr>
          <p:cNvSpPr txBox="1"/>
          <p:nvPr/>
        </p:nvSpPr>
        <p:spPr>
          <a:xfrm>
            <a:off x="622300" y="1764268"/>
            <a:ext cx="10947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450215" algn="just">
              <a:lnSpc>
                <a:spcPct val="150000"/>
              </a:lnSpc>
            </a:pP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 used: Z test </a:t>
            </a:r>
            <a:r>
              <a:rPr lang="en-IN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(as the sample size is large and population SD is known)</a:t>
            </a:r>
          </a:p>
          <a:p>
            <a:pPr marL="450215" algn="just">
              <a:lnSpc>
                <a:spcPct val="150000"/>
              </a:lnSpc>
            </a:pPr>
            <a:r>
              <a:rPr lang="en-IN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Central limit theorem states that if you take a sample size of 30 or more, then the distribution tends to become normally distributed. </a:t>
            </a:r>
          </a:p>
          <a:p>
            <a:pPr marL="450215" algn="just">
              <a:lnSpc>
                <a:spcPct val="150000"/>
              </a:lnSpc>
            </a:pPr>
            <a:r>
              <a:rPr lang="en-IN" sz="3600" dirty="0"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Tes</a:t>
            </a:r>
            <a:r>
              <a:rPr lang="en-IN" sz="3600" dirty="0"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t statistic: </a:t>
            </a:r>
            <a:endParaRPr lang="en-IN" sz="3600" dirty="0">
              <a:effectLst/>
              <a:highlight>
                <a:srgbClr val="FFFF00"/>
              </a:highligh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0215" algn="just">
              <a:lnSpc>
                <a:spcPct val="150000"/>
              </a:lnSpc>
            </a:pPr>
            <a:endParaRPr lang="en-IN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Google Shape;75;p43">
            <a:extLst>
              <a:ext uri="{FF2B5EF4-FFF2-40B4-BE49-F238E27FC236}">
                <a16:creationId xmlns:a16="http://schemas.microsoft.com/office/drawing/2014/main" id="{CC7EEF18-CC15-4B10-4D36-50DDF2F5757A}"/>
              </a:ext>
            </a:extLst>
          </p:cNvPr>
          <p:cNvSpPr txBox="1"/>
          <p:nvPr/>
        </p:nvSpPr>
        <p:spPr>
          <a:xfrm>
            <a:off x="622300" y="1314451"/>
            <a:ext cx="11299902" cy="4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400" dirty="0"/>
              <a:t>Testing of Mean – One sample – </a:t>
            </a:r>
            <a:r>
              <a:rPr lang="en-US" sz="2400" b="1" dirty="0"/>
              <a:t>Large Sample(&gt;=30) and Population SD is known</a:t>
            </a:r>
            <a:endParaRPr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ED34C6-83AE-F2D8-94FA-E22CC336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875" y="4508999"/>
            <a:ext cx="3637438" cy="197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48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D338124-C37E-A26B-6918-EEECFD206DEB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One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74;p43">
                <a:extLst>
                  <a:ext uri="{FF2B5EF4-FFF2-40B4-BE49-F238E27FC236}">
                    <a16:creationId xmlns:a16="http://schemas.microsoft.com/office/drawing/2014/main" id="{B3343FD2-009B-CBE5-CB59-DC2CF497D9B6}"/>
                  </a:ext>
                </a:extLst>
              </p:cNvPr>
              <p:cNvSpPr txBox="1"/>
              <p:nvPr/>
            </p:nvSpPr>
            <p:spPr>
              <a:xfrm>
                <a:off x="622300" y="1764268"/>
                <a:ext cx="10947400" cy="47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925" tIns="16925" rIns="16925" bIns="16925" anchor="t" anchorCtr="0">
                <a:noAutofit/>
              </a:bodyPr>
              <a:lstStyle/>
              <a:p>
                <a:pPr marL="450215" algn="just">
                  <a:lnSpc>
                    <a:spcPct val="150000"/>
                  </a:lnSpc>
                </a:pPr>
                <a:r>
                  <a:rPr lang="en-IN" sz="24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Example: </a:t>
                </a:r>
                <a:r>
                  <a:rPr lang="en-I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Test whether the </a:t>
                </a:r>
                <a:r>
                  <a:rPr lang="en-IN" sz="2400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a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verage height of </a:t>
                </a:r>
                <a:r>
                  <a:rPr lang="en-IN" sz="2400" b="1" dirty="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18 year old adults in a town 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is 158cms  with Standard deviation of 2cms. </a:t>
                </a:r>
                <a:r>
                  <a:rPr lang="en-IN" sz="2400" b="1" dirty="0">
                    <a:solidFill>
                      <a:srgbClr val="0070C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 sample of 100, 18 year old 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was selected and the mean was found to be 159.</a:t>
                </a:r>
                <a:endParaRPr lang="en-IN" sz="2400" b="1" dirty="0">
                  <a:solidFill>
                    <a:schemeClr val="dk1"/>
                  </a:solidFill>
                  <a:effectLst/>
                  <a:latin typeface="Calibri"/>
                  <a:ea typeface="Times New Roman" panose="02020603050405020304" pitchFamily="18" charset="0"/>
                  <a:cs typeface="Calibri"/>
                  <a:sym typeface="Calibri"/>
                </a:endParaRP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400" b="1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Null Hypothesis: </a:t>
                </a:r>
                <a:r>
                  <a:rPr lang="en-IN" sz="2400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There is no significan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t difference between the sample mean and population mean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400" b="1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Alternate hypothesis</a:t>
                </a:r>
                <a:r>
                  <a:rPr lang="en-IN" sz="2400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: </a:t>
                </a:r>
                <a:r>
                  <a:rPr lang="en-IN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IN" sz="2400" dirty="0">
                    <a:solidFill>
                      <a:schemeClr val="dk1"/>
                    </a:solidFill>
                    <a:effectLst/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There is significan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Times New Roman" panose="02020603050405020304" pitchFamily="18" charset="0"/>
                    <a:cs typeface="Calibri"/>
                    <a:sym typeface="Calibri"/>
                  </a:rPr>
                  <a:t>t difference between the sample mean and population mean</a:t>
                </a:r>
                <a:endParaRPr lang="en-I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4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Level of Significance: </a:t>
                </a:r>
                <a14:m>
                  <m:oMath xmlns:m="http://schemas.openxmlformats.org/officeDocument/2006/math">
                    <m:r>
                      <a:rPr lang="en-I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endParaRPr lang="en-I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450215" algn="just">
                  <a:lnSpc>
                    <a:spcPct val="150000"/>
                  </a:lnSpc>
                </a:pPr>
                <a:endParaRPr lang="en-IN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Google Shape;74;p43">
                <a:extLst>
                  <a:ext uri="{FF2B5EF4-FFF2-40B4-BE49-F238E27FC236}">
                    <a16:creationId xmlns:a16="http://schemas.microsoft.com/office/drawing/2014/main" id="{B3343FD2-009B-CBE5-CB59-DC2CF497D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" y="1764268"/>
                <a:ext cx="10947400" cy="4724400"/>
              </a:xfrm>
              <a:prstGeom prst="rect">
                <a:avLst/>
              </a:prstGeom>
              <a:blipFill>
                <a:blip r:embed="rId2"/>
                <a:stretch>
                  <a:fillRect r="-1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75;p43">
            <a:extLst>
              <a:ext uri="{FF2B5EF4-FFF2-40B4-BE49-F238E27FC236}">
                <a16:creationId xmlns:a16="http://schemas.microsoft.com/office/drawing/2014/main" id="{66CD9648-78AE-D826-BD3C-927A55E9A46C}"/>
              </a:ext>
            </a:extLst>
          </p:cNvPr>
          <p:cNvSpPr txBox="1"/>
          <p:nvPr/>
        </p:nvSpPr>
        <p:spPr>
          <a:xfrm>
            <a:off x="622300" y="1314451"/>
            <a:ext cx="11299902" cy="4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400" dirty="0"/>
              <a:t>Testing of Mean – One sample – Large Sample(&gt;=30) and Population SD is known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731288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8A89-E6A0-B3C7-7538-6580A82E3287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Calculation and Result</a:t>
            </a:r>
            <a:endParaRPr lang="en-US" sz="2800" b="1" dirty="0">
              <a:solidFill>
                <a:srgbClr val="D9212B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CC91498F-3E82-1099-3355-9118E662A72E}"/>
                  </a:ext>
                </a:extLst>
              </p:cNvPr>
              <p:cNvSpPr txBox="1"/>
              <p:nvPr/>
            </p:nvSpPr>
            <p:spPr>
              <a:xfrm>
                <a:off x="535214" y="1213932"/>
                <a:ext cx="10947400" cy="495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6925" tIns="16925" rIns="16925" bIns="16925" anchor="t" anchorCtr="0">
                <a:noAutofit/>
              </a:bodyPr>
              <a:lstStyle/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Test Statistics: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𝑍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~ N(0,1)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Calculated Value: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𝑍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159−158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2/</m:t>
                        </m:r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den>
                    </m:f>
                  </m:oMath>
                </a14:m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= 5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Table value: </a:t>
                </a:r>
                <a:r>
                  <a:rPr lang="en-IN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Z value @ 5% level of significance and two tail test is 1.96</a:t>
                </a:r>
              </a:p>
              <a:p>
                <a:pPr marL="450215" algn="just">
                  <a:lnSpc>
                    <a:spcPct val="150000"/>
                  </a:lnSpc>
                </a:pPr>
                <a:r>
                  <a:rPr lang="en-IN" sz="20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Inference: </a:t>
                </a:r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As the </a:t>
                </a:r>
                <a:r>
                  <a:rPr lang="en-IN" sz="3200" dirty="0">
                    <a:effectLst/>
                    <a:highlight>
                      <a:srgbClr val="FFFF00"/>
                    </a:highlight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calculated value is greater than the table value, Reject Ho</a:t>
                </a:r>
                <a:r>
                  <a:rPr lang="en-IN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 Hence ther</a:t>
                </a:r>
                <a:r>
                  <a:rPr lang="en-IN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e is significant difference between the sample mean and population mean.</a:t>
                </a:r>
              </a:p>
            </p:txBody>
          </p:sp>
        </mc:Choice>
        <mc:Fallback>
          <p:sp>
            <p:nvSpPr>
              <p:cNvPr id="4" name="Google Shape;74;p43">
                <a:extLst>
                  <a:ext uri="{FF2B5EF4-FFF2-40B4-BE49-F238E27FC236}">
                    <a16:creationId xmlns:a16="http://schemas.microsoft.com/office/drawing/2014/main" id="{CC91498F-3E82-1099-3355-9118E662A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14" y="1213932"/>
                <a:ext cx="10947400" cy="4953000"/>
              </a:xfrm>
              <a:prstGeom prst="rect">
                <a:avLst/>
              </a:prstGeom>
              <a:blipFill>
                <a:blip r:embed="rId2"/>
                <a:stretch>
                  <a:fillRect r="-29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909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55458-D1FC-5568-B399-692100B4A754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One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Google Shape;255;p15">
            <a:extLst>
              <a:ext uri="{FF2B5EF4-FFF2-40B4-BE49-F238E27FC236}">
                <a16:creationId xmlns:a16="http://schemas.microsoft.com/office/drawing/2014/main" id="{225F91E1-4DFC-EAEA-9A2A-64002E69E8AB}"/>
              </a:ext>
            </a:extLst>
          </p:cNvPr>
          <p:cNvSpPr txBox="1"/>
          <p:nvPr/>
        </p:nvSpPr>
        <p:spPr>
          <a:xfrm>
            <a:off x="622300" y="1314451"/>
            <a:ext cx="11299902" cy="449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of Mean – One sample – 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Sample(&lt;30) </a:t>
            </a: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IN" sz="2400" dirty="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Population SD is known</a:t>
            </a:r>
            <a:endParaRPr sz="2400" dirty="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E5930-B6DE-810E-E71D-85CDD03D5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05" y="1835728"/>
            <a:ext cx="10806926" cy="370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17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4;p16">
            <a:extLst>
              <a:ext uri="{FF2B5EF4-FFF2-40B4-BE49-F238E27FC236}">
                <a16:creationId xmlns:a16="http://schemas.microsoft.com/office/drawing/2014/main" id="{6812D3B7-3859-23D3-A3D3-9412AC0864D0}"/>
              </a:ext>
            </a:extLst>
          </p:cNvPr>
          <p:cNvSpPr txBox="1"/>
          <p:nvPr/>
        </p:nvSpPr>
        <p:spPr>
          <a:xfrm>
            <a:off x="222805" y="1240971"/>
            <a:ext cx="11479338" cy="527957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r="-115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</a:rPr>
              <a:t> 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519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BD69-C9FB-6A65-9AF5-5424BCFA4DAC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5ED1D6-7BB9-197E-FB74-1095C8CED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00" y="1195792"/>
            <a:ext cx="9501192" cy="467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1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34E7-60B5-A196-B457-1C0439EDFA5E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88320-E71E-848E-A57C-665F91DDB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86" y="1348192"/>
            <a:ext cx="9501192" cy="467160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B7728D0-7668-9B49-CCE5-2DD34BDDDB3E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2ADA19-4A50-373A-BDB6-3B01503C2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86" y="1348192"/>
            <a:ext cx="9501192" cy="46716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B7B63A-0747-2AA1-57EC-8DB2857B5B3B}"/>
              </a:ext>
            </a:extLst>
          </p:cNvPr>
          <p:cNvSpPr txBox="1"/>
          <p:nvPr/>
        </p:nvSpPr>
        <p:spPr>
          <a:xfrm>
            <a:off x="4005943" y="2637396"/>
            <a:ext cx="744582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Answer: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D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) Z-test</a:t>
            </a:r>
          </a:p>
          <a:p>
            <a:pPr algn="l"/>
            <a:endParaRPr lang="en-US" sz="24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Explanation: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Even though the sample size is small, if the population standard deviation (SD) is known and the data is approximately normally distributed, a </a:t>
            </a:r>
            <a:r>
              <a:rPr lang="en-US" sz="2400" b="1" i="0" dirty="0">
                <a:solidFill>
                  <a:srgbClr val="242424"/>
                </a:solidFill>
                <a:effectLst/>
                <a:latin typeface="source-serif-pro"/>
              </a:rPr>
              <a:t>Z-test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can still be used. However, if the sample size is small and the population SD is unknown, a T-test would be more appropriate.</a:t>
            </a:r>
          </a:p>
        </p:txBody>
      </p:sp>
    </p:spTree>
    <p:extLst>
      <p:ext uri="{BB962C8B-B14F-4D97-AF65-F5344CB8AC3E}">
        <p14:creationId xmlns:p14="http://schemas.microsoft.com/office/powerpoint/2010/main" val="113756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A503-96BE-EE48-B2FE-D607CA6DFF72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One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F751C-F427-765D-EA6B-59DA2022F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70" y="905995"/>
            <a:ext cx="10167257" cy="22853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2E9673-7256-AF42-2CED-14AE0FED56E1}"/>
              </a:ext>
            </a:extLst>
          </p:cNvPr>
          <p:cNvSpPr txBox="1"/>
          <p:nvPr/>
        </p:nvSpPr>
        <p:spPr>
          <a:xfrm>
            <a:off x="1132114" y="7293429"/>
            <a:ext cx="960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 </a:t>
            </a:r>
          </a:p>
          <a:p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DC29D75F-152B-B038-8792-AC5F1E042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711" y="3212826"/>
            <a:ext cx="11832771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Small Sample (n &lt; 30):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 use this specific test when we have a small group. Small groups are "jittery" and less predictable than large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oogle Sans Text"/>
              </a:rPr>
              <a:t>Population SD is unknown:</a:t>
            </a:r>
            <a:r>
              <a:rPr lang="en-US" altLang="en-US" dirty="0"/>
              <a:t> We don't know the exact "spread" of the entire world, so we have to guess the spread based on our small group (</a:t>
            </a:r>
            <a:r>
              <a:rPr lang="en-US" altLang="en-US" dirty="0">
                <a:latin typeface="Google Sans Text"/>
              </a:rPr>
              <a:t>s</a:t>
            </a:r>
            <a:r>
              <a:rPr lang="en-US" altLang="en-US" dirty="0"/>
              <a:t>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/>
              <a:t>Level of Significance (5%):</a:t>
            </a:r>
            <a:r>
              <a:rPr lang="en-US" dirty="0"/>
              <a:t> This is our "confidence bar." We are saying, "I only want to be wrong 5% of the time.“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Google Sans Text"/>
              </a:rPr>
              <a:t>Degrees of Freedom (n-1):</a:t>
            </a:r>
            <a:r>
              <a:rPr lang="en-US" altLang="en-US" dirty="0"/>
              <a:t> This is a technical adjustment. If you have 10 people, you have 9 "degrees of freedom." It accounts for the uncertainty of small samples. (will discuss later slide).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041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F5873-D88A-1F64-20AD-7AC6FF1F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3938-5983-5159-4C03-7064712614DB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Problem Statement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790F8C-5377-EC58-606A-28B7C6774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78" y="1085418"/>
            <a:ext cx="11986587" cy="39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55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15EDF-B6E4-9D48-103F-9204C1D2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37F8-6283-62FC-F650-358C4623F939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Calculation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3F8B6-F2F6-6471-E80F-04571546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73" y="1310878"/>
            <a:ext cx="4850622" cy="35441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C29C8B-8F76-0C43-1001-C1393CE81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658" y="2085220"/>
            <a:ext cx="4649718" cy="134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28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C62E9-0EF0-58FE-8077-EA28AAB8C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AEB93-452F-AD10-DD6A-69E4C441BE51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Calculation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F129DD-813C-51A2-7E23-E63F07C94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73" y="1310878"/>
            <a:ext cx="4519641" cy="3302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9D9BF9-C858-CEE7-DA0C-207796809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651" y="1490925"/>
            <a:ext cx="6466582" cy="296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97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B0AF8-4FFF-9406-BB00-4B108EAFE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9B14-C239-40C2-1F37-AC5161818065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Result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4373AF-595B-4C14-0B30-D61288C3C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94" y="1217563"/>
            <a:ext cx="9878649" cy="500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81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6633E-680D-BAAE-B049-04F5E2BEA0AF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T-table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1FD477-26AD-33FC-5F68-68B9BB4EA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621" y="905995"/>
            <a:ext cx="9683684" cy="589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16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7DBB-D5D0-DEFA-4535-944C47994BC3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Degrees of freedom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7F5B73-49F6-D989-35CD-69F8B3E5EA89}"/>
              </a:ext>
            </a:extLst>
          </p:cNvPr>
          <p:cNvSpPr txBox="1"/>
          <p:nvPr/>
        </p:nvSpPr>
        <p:spPr>
          <a:xfrm>
            <a:off x="591105" y="905995"/>
            <a:ext cx="1071915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Degrees of Freedom (</a:t>
            </a:r>
            <a:r>
              <a:rPr lang="en-US" sz="2400" b="1" dirty="0" err="1"/>
              <a:t>DoF</a:t>
            </a:r>
            <a:r>
              <a:rPr lang="en-US" sz="2400" b="1" dirty="0"/>
              <a:t>)</a:t>
            </a:r>
            <a:r>
              <a:rPr lang="en-US" sz="2400" dirty="0"/>
              <a:t> represent the number of independent values that can vary in a statistical calculation.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Suppose you have 5 test scores (out of 100), and the mean is 80.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So, what is the sum of the scores?  </a:t>
            </a:r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4760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E5629-B7CE-26E8-55BE-69EEE7C26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E846-2126-5205-41FF-4B384EC4B4A9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Degrees of freedom Example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415AA-577A-01F9-A8E3-C383B8579418}"/>
              </a:ext>
            </a:extLst>
          </p:cNvPr>
          <p:cNvSpPr txBox="1"/>
          <p:nvPr/>
        </p:nvSpPr>
        <p:spPr>
          <a:xfrm>
            <a:off x="591105" y="905995"/>
            <a:ext cx="10719152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Sum of the scores is 5 * 80 = 400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Now suppose the first four scores are allowed to vary freely.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br>
              <a:rPr lang="en-US" sz="2000" dirty="0"/>
            </a:br>
            <a:r>
              <a:rPr lang="en-US" sz="2000" dirty="0"/>
              <a:t>BUT — once 4 of the scores are finalized, the </a:t>
            </a:r>
            <a:r>
              <a:rPr lang="en-US" sz="2000" b="1" dirty="0"/>
              <a:t>fifth value is fixed</a:t>
            </a:r>
            <a:r>
              <a:rPr lang="en-US" sz="2000" dirty="0"/>
              <a:t> to maintain the same mean </a:t>
            </a:r>
            <a:r>
              <a:rPr lang="en-US" sz="2000" b="1" dirty="0"/>
              <a:t>(80) and sum (400).</a:t>
            </a:r>
          </a:p>
          <a:p>
            <a:endParaRPr lang="en-US" sz="2000" b="1" dirty="0"/>
          </a:p>
          <a:p>
            <a:r>
              <a:rPr lang="en-US" sz="2000" dirty="0"/>
              <a:t>Thus, Degrees of Freedom = n - 1 = 5 - 1 = 4</a:t>
            </a:r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C83C0-2F72-61E7-B6D6-84A446A83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43" y="1785650"/>
            <a:ext cx="6611607" cy="304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61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D0F5-AD8F-4289-1814-6E8967BE2537}"/>
              </a:ext>
            </a:extLst>
          </p:cNvPr>
          <p:cNvSpPr txBox="1">
            <a:spLocks/>
          </p:cNvSpPr>
          <p:nvPr/>
        </p:nvSpPr>
        <p:spPr>
          <a:xfrm>
            <a:off x="1014451" y="347926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Testing of Mean – Two Independent sample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Google Shape;289;p19">
            <a:extLst>
              <a:ext uri="{FF2B5EF4-FFF2-40B4-BE49-F238E27FC236}">
                <a16:creationId xmlns:a16="http://schemas.microsoft.com/office/drawing/2014/main" id="{28ADF609-5856-58E6-8960-4BBF500E95C5}"/>
              </a:ext>
            </a:extLst>
          </p:cNvPr>
          <p:cNvSpPr txBox="1"/>
          <p:nvPr/>
        </p:nvSpPr>
        <p:spPr>
          <a:xfrm>
            <a:off x="622300" y="1314451"/>
            <a:ext cx="11299902" cy="171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of Mean – Two independent  sample – Large Sample(&gt;=30) and Population 			SD is known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Test-statistic: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37D4DC-BC0E-9DC1-59CD-1BEB94D80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936" y="2274269"/>
            <a:ext cx="7938978" cy="369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53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22F2-5EB2-916B-5B38-C6256E914C9E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Two Independent Sample Z-Test 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D639467-F041-075A-4F86-8DB0A7B338A3}"/>
              </a:ext>
            </a:extLst>
          </p:cNvPr>
          <p:cNvSpPr txBox="1">
            <a:spLocks/>
          </p:cNvSpPr>
          <p:nvPr/>
        </p:nvSpPr>
        <p:spPr>
          <a:xfrm>
            <a:off x="611414" y="1257973"/>
            <a:ext cx="10947400" cy="50817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indent="0">
              <a:buFont typeface="Arial" panose="020B0604020202020204" pitchFamily="34" charset="0"/>
              <a:buNone/>
            </a:pPr>
            <a:r>
              <a:rPr lang="en-US" sz="2400" b="1"/>
              <a:t>Problem Statement:</a:t>
            </a:r>
          </a:p>
          <a:p>
            <a:r>
              <a:rPr lang="en-US" sz="2400"/>
              <a:t>A </a:t>
            </a:r>
            <a:r>
              <a:rPr lang="en-US" sz="2400" b="1"/>
              <a:t>researcher</a:t>
            </a:r>
            <a:r>
              <a:rPr lang="en-US" sz="2400"/>
              <a:t> wants to compare the </a:t>
            </a:r>
            <a:r>
              <a:rPr lang="en-US" sz="2400" b="1"/>
              <a:t>average daily calorie intake</a:t>
            </a:r>
            <a:r>
              <a:rPr lang="en-US" sz="2400"/>
              <a:t> of </a:t>
            </a:r>
            <a:r>
              <a:rPr lang="en-US" sz="2400" b="1"/>
              <a:t>male and female adults</a:t>
            </a:r>
            <a:r>
              <a:rPr lang="en-US" sz="2400"/>
              <a:t> in a city. Two </a:t>
            </a:r>
            <a:r>
              <a:rPr lang="en-US" sz="2400" b="1"/>
              <a:t>independent random samples</a:t>
            </a:r>
            <a:r>
              <a:rPr lang="en-US" sz="2400"/>
              <a:t> are taken:</a:t>
            </a:r>
          </a:p>
          <a:p>
            <a:endParaRPr lang="en-US" sz="2400"/>
          </a:p>
          <a:p>
            <a:r>
              <a:rPr lang="en-US" sz="2400" b="1"/>
              <a:t>Sample 1 (Males):</a:t>
            </a:r>
            <a:r>
              <a:rPr lang="en-US" sz="2400"/>
              <a:t> n1=40, mean X1_bar =2500, population standard deviation </a:t>
            </a:r>
            <a:r>
              <a:rPr lang="el-GR" sz="2400"/>
              <a:t>σ1=300</a:t>
            </a:r>
          </a:p>
          <a:p>
            <a:r>
              <a:rPr lang="en-US" sz="2400" b="1"/>
              <a:t>Sample 2 (Females):</a:t>
            </a:r>
            <a:r>
              <a:rPr lang="en-US" sz="2400"/>
              <a:t> n2=35, mean X2_bar=2300, population standard deviation </a:t>
            </a:r>
            <a:r>
              <a:rPr lang="el-GR" sz="2400"/>
              <a:t>σ2=250</a:t>
            </a:r>
            <a:r>
              <a:rPr lang="en-US" sz="2400"/>
              <a:t> </a:t>
            </a:r>
          </a:p>
          <a:p>
            <a:endParaRPr lang="en-US" sz="2400"/>
          </a:p>
          <a:p>
            <a:r>
              <a:rPr lang="en-US" sz="2400"/>
              <a:t>At </a:t>
            </a:r>
            <a:r>
              <a:rPr lang="en-US" sz="2400" b="1"/>
              <a:t>5% level of significance</a:t>
            </a:r>
            <a:r>
              <a:rPr lang="en-US" sz="2400"/>
              <a:t>, test whether there is a </a:t>
            </a:r>
            <a:r>
              <a:rPr lang="en-US" sz="2400" b="1"/>
              <a:t>significant difference</a:t>
            </a:r>
            <a:r>
              <a:rPr lang="en-US" sz="2400"/>
              <a:t> in the mean calorie intake between males and females.</a:t>
            </a:r>
          </a:p>
          <a:p>
            <a:pPr marL="25400" indent="0">
              <a:buFont typeface="Arial" panose="020B0604020202020204" pitchFamily="34" charset="0"/>
              <a:buNone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74982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67833-CB04-FF44-BD8C-52ADBA3ED5B5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1: define the hypothesis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BE5342E-5099-28A7-D7CE-C803FC622330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1569700" cy="5343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conduct a </a:t>
            </a:r>
            <a:r>
              <a:rPr lang="en-US" b="1" dirty="0"/>
              <a:t>two-sample Z-test</a:t>
            </a:r>
            <a:r>
              <a:rPr lang="en-US" dirty="0"/>
              <a:t> because: </a:t>
            </a:r>
          </a:p>
          <a:p>
            <a:pPr lvl="1"/>
            <a:r>
              <a:rPr lang="en-US" b="1" dirty="0"/>
              <a:t>Sample sizes are large</a:t>
            </a:r>
            <a:r>
              <a:rPr lang="en-US" dirty="0"/>
              <a:t> (n1,n2≥30)</a:t>
            </a:r>
          </a:p>
          <a:p>
            <a:pPr lvl="1"/>
            <a:r>
              <a:rPr lang="en-US" b="1" dirty="0"/>
              <a:t>Population standard deviations (</a:t>
            </a:r>
            <a:r>
              <a:rPr lang="el-GR" b="1" dirty="0"/>
              <a:t>σ1, σ2​) </a:t>
            </a:r>
            <a:r>
              <a:rPr lang="en-US" b="1" dirty="0"/>
              <a:t>are known</a:t>
            </a:r>
          </a:p>
          <a:p>
            <a:endParaRPr lang="en-US" dirty="0"/>
          </a:p>
          <a:p>
            <a:r>
              <a:rPr lang="en-US" b="1" dirty="0"/>
              <a:t>Null Hypothesis (H0​)</a:t>
            </a:r>
            <a:r>
              <a:rPr lang="en-US" dirty="0"/>
              <a:t>: There is </a:t>
            </a:r>
            <a:r>
              <a:rPr lang="en-US" b="1" dirty="0"/>
              <a:t>no significant difference</a:t>
            </a:r>
            <a:r>
              <a:rPr lang="en-US" dirty="0"/>
              <a:t> between the mean calorie intake of males and females. H0:</a:t>
            </a:r>
            <a:r>
              <a:rPr lang="el-GR" dirty="0"/>
              <a:t>μ1=μ2</a:t>
            </a:r>
            <a:endParaRPr lang="en-US" dirty="0"/>
          </a:p>
          <a:p>
            <a:endParaRPr lang="el-GR" dirty="0"/>
          </a:p>
          <a:p>
            <a:r>
              <a:rPr lang="en-US" b="1" dirty="0"/>
              <a:t>Alternative Hypothesis (H1​)</a:t>
            </a:r>
            <a:r>
              <a:rPr lang="en-US" dirty="0"/>
              <a:t>: There </a:t>
            </a:r>
            <a:r>
              <a:rPr lang="en-US" b="1" dirty="0"/>
              <a:t>is a significant difference</a:t>
            </a:r>
            <a:r>
              <a:rPr lang="en-US" dirty="0"/>
              <a:t> between the mean calorie intake of males and females. H1:</a:t>
            </a:r>
            <a:r>
              <a:rPr lang="el-GR" dirty="0"/>
              <a:t>μ1≠μ2</a:t>
            </a:r>
            <a:endParaRPr lang="en-US" dirty="0"/>
          </a:p>
          <a:p>
            <a:endParaRPr lang="el-GR" dirty="0"/>
          </a:p>
          <a:p>
            <a:r>
              <a:rPr lang="en-US" dirty="0"/>
              <a:t>This is a </a:t>
            </a:r>
            <a:r>
              <a:rPr lang="en-US" b="1" dirty="0"/>
              <a:t>two-tailed test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1915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93DE1-02A3-B037-D499-FB8BF203C36A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2: Compute the Test Statistic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9BCA6-EDC7-A2F2-2032-7A0219C0D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558" y="1178137"/>
            <a:ext cx="6935168" cy="1743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760CDB-CC43-874C-55FB-67CD4D5E5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980" y="3102992"/>
            <a:ext cx="6601746" cy="1667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F654E4-3022-CFB2-F713-12AC6C2E8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980" y="4951637"/>
            <a:ext cx="6497849" cy="1524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D84DB6-D8E8-BBE4-78ED-4240E2FBE5F5}"/>
              </a:ext>
            </a:extLst>
          </p:cNvPr>
          <p:cNvSpPr txBox="1"/>
          <p:nvPr/>
        </p:nvSpPr>
        <p:spPr>
          <a:xfrm>
            <a:off x="8686800" y="5852387"/>
            <a:ext cx="244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Z comes out to be ?</a:t>
            </a:r>
          </a:p>
        </p:txBody>
      </p:sp>
    </p:spTree>
    <p:extLst>
      <p:ext uri="{BB962C8B-B14F-4D97-AF65-F5344CB8AC3E}">
        <p14:creationId xmlns:p14="http://schemas.microsoft.com/office/powerpoint/2010/main" val="550570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EB80A-7F9C-2DD3-6289-F92C84C6F950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3: Find the Critical Z-Value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8E62C6-7EFD-198F-35DA-72970F1F418C}"/>
              </a:ext>
            </a:extLst>
          </p:cNvPr>
          <p:cNvSpPr txBox="1"/>
          <p:nvPr/>
        </p:nvSpPr>
        <p:spPr>
          <a:xfrm>
            <a:off x="438705" y="1470352"/>
            <a:ext cx="11426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For a </a:t>
            </a:r>
            <a:r>
              <a:rPr lang="en-US" sz="2400" b="1" dirty="0"/>
              <a:t>two-tailed test</a:t>
            </a:r>
            <a:r>
              <a:rPr lang="en-US" sz="2400" dirty="0"/>
              <a:t> at </a:t>
            </a:r>
            <a:r>
              <a:rPr lang="en-US" sz="2400" b="1" dirty="0"/>
              <a:t>5% significance level (α=0.05)</a:t>
            </a:r>
            <a:r>
              <a:rPr lang="en-US" sz="2400" dirty="0"/>
              <a:t>, we look up the </a:t>
            </a:r>
            <a:r>
              <a:rPr lang="en-US" sz="2400" b="1" dirty="0"/>
              <a:t>Z-table</a:t>
            </a:r>
            <a:r>
              <a:rPr lang="en-US" sz="2400" dirty="0"/>
              <a:t>:</a:t>
            </a:r>
          </a:p>
          <a:p>
            <a:endParaRPr lang="en-US" sz="2400" dirty="0"/>
          </a:p>
          <a:p>
            <a:r>
              <a:rPr lang="en-US" sz="2400" dirty="0" err="1"/>
              <a:t>Zcritical</a:t>
            </a:r>
            <a:r>
              <a:rPr lang="en-US" sz="2400" dirty="0"/>
              <a:t> =±1.96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73D659-47D3-0AB9-E65B-BE5F19E0C973}"/>
              </a:ext>
            </a:extLst>
          </p:cNvPr>
          <p:cNvSpPr txBox="1">
            <a:spLocks/>
          </p:cNvSpPr>
          <p:nvPr/>
        </p:nvSpPr>
        <p:spPr>
          <a:xfrm>
            <a:off x="438705" y="289382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4: Compare and Make Decision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5360D23-08FF-61BB-D8B7-8F9283CFE2D4}"/>
              </a:ext>
            </a:extLst>
          </p:cNvPr>
          <p:cNvSpPr txBox="1">
            <a:spLocks/>
          </p:cNvSpPr>
          <p:nvPr/>
        </p:nvSpPr>
        <p:spPr>
          <a:xfrm>
            <a:off x="622300" y="3836533"/>
            <a:ext cx="10947400" cy="2804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Calculated Z-value</a:t>
            </a:r>
            <a:r>
              <a:rPr lang="en-US"/>
              <a:t> = </a:t>
            </a:r>
            <a:r>
              <a:rPr lang="en-US" b="1"/>
              <a:t>3.15</a:t>
            </a:r>
            <a:endParaRPr lang="en-US"/>
          </a:p>
          <a:p>
            <a:r>
              <a:rPr lang="en-US" b="1"/>
              <a:t>Critical Z-value</a:t>
            </a:r>
            <a:r>
              <a:rPr lang="en-US"/>
              <a:t> = </a:t>
            </a:r>
            <a:r>
              <a:rPr lang="en-US" b="1"/>
              <a:t>±1.96</a:t>
            </a:r>
            <a:endParaRPr lang="en-US"/>
          </a:p>
          <a:p>
            <a:r>
              <a:rPr lang="en-US"/>
              <a:t>Since Z-calculated &gt; Z critical, </a:t>
            </a:r>
            <a:r>
              <a:rPr lang="en-US" b="1"/>
              <a:t>we reject the null hypothesis H0​</a:t>
            </a:r>
            <a:r>
              <a:rPr lang="en-US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82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6DFD-A821-8A0E-D93D-FD6FC9CF02FB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Step 5: Final Inference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094BA9FC-1F78-6351-5EEC-166052CD1C6A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3296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There is </a:t>
            </a:r>
            <a:r>
              <a:rPr lang="en-US" b="1"/>
              <a:t>a statistically significant difference</a:t>
            </a:r>
            <a:r>
              <a:rPr lang="en-US"/>
              <a:t> in the mean calorie intake of males and females.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This suggests that </a:t>
            </a:r>
            <a:r>
              <a:rPr lang="en-US" b="1"/>
              <a:t>gender has an influence</a:t>
            </a:r>
            <a:r>
              <a:rPr lang="en-US"/>
              <a:t> on daily calorie consumption.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283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DC06-7B5B-E3F4-E2AC-5EF0C5527D0B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Session Summary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CD02F-FE0D-6C03-58E4-74C96BEC45A3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venir Next LT Pro" panose="020B0504020202020204" pitchFamily="34" charset="0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AAD582-7EFA-A2E3-85F6-03A1DCCF824F}"/>
              </a:ext>
            </a:extLst>
          </p:cNvPr>
          <p:cNvSpPr txBox="1">
            <a:spLocks/>
          </p:cNvSpPr>
          <p:nvPr/>
        </p:nvSpPr>
        <p:spPr>
          <a:xfrm>
            <a:off x="1001485" y="3048001"/>
            <a:ext cx="10765971" cy="27649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Understand when to use which statistical tests </a:t>
            </a:r>
          </a:p>
          <a:p>
            <a:r>
              <a:rPr lang="en-US"/>
              <a:t>Apply and practice the various steps of Hypothesis Testing</a:t>
            </a:r>
          </a:p>
          <a:p>
            <a:r>
              <a:rPr lang="en-US"/>
              <a:t>Understand the process of one sample and two sample tests.</a:t>
            </a:r>
          </a:p>
          <a:p>
            <a:r>
              <a:rPr lang="en-US"/>
              <a:t>Draw inferences and conclusion.</a:t>
            </a:r>
          </a:p>
          <a:p>
            <a:r>
              <a:rPr lang="en-US"/>
              <a:t>Understand the concept of degrees of freedom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3900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5F0-F166-25F6-CB6B-5FB525F78AD4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7E35-1F84-EE85-BC81-5B04C7BF64A0}"/>
              </a:ext>
            </a:extLst>
          </p:cNvPr>
          <p:cNvSpPr txBox="1">
            <a:spLocks/>
          </p:cNvSpPr>
          <p:nvPr/>
        </p:nvSpPr>
        <p:spPr>
          <a:xfrm>
            <a:off x="301894" y="1015408"/>
            <a:ext cx="11588212" cy="550513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hlinkClick r:id="rId2"/>
              </a:rPr>
              <a:t>Introduction to Hypothesis Testing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3"/>
              </a:rPr>
              <a:t>Frequently asked hypothesis testing interview questions and answers – part 1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4"/>
              </a:rPr>
              <a:t>Frequently asked hypothesis testing interview questions and answers – part 2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5"/>
              </a:rPr>
              <a:t>Frequently asked hypothesis testing interview questions and answers – part 3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6"/>
              </a:rPr>
              <a:t>Sampling methods guide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7"/>
              </a:rPr>
              <a:t>How to Collect Data Effectively: Methods, Questionnaire Design, and Data Sources Explained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8"/>
              </a:rPr>
              <a:t>Probability Distributions in Python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hlinkClick r:id="rId9"/>
              </a:rPr>
              <a:t>Step-by-Step Guide to Two-Sample Z-Test for Large Samples (Population SD Known)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2620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C9DB-1243-8917-3E48-68F815A4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B6BE01BD-3DAC-F870-8EC1-54E7EA800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E61552-9547-D4A5-64B9-3FC2792844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2A5AA-EA6D-A358-BDB0-EBEA5D789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60C9D-F6A2-8648-CD70-A21AC50214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11316" y="4833449"/>
            <a:ext cx="3569368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C00000"/>
                </a:solidFill>
                <a:latin typeface="Montserrat Bold" pitchFamily="2" charset="0"/>
              </a:rPr>
              <a:t>For any Query:</a:t>
            </a:r>
            <a:endParaRPr lang="en-IN" sz="2300" dirty="0">
              <a:solidFill>
                <a:srgbClr val="C00000"/>
              </a:solidFill>
              <a:latin typeface="Montserrat 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26E7-6195-40B3-121B-6814444C791D}"/>
              </a:ext>
            </a:extLst>
          </p:cNvPr>
          <p:cNvSpPr txBox="1">
            <a:spLocks/>
          </p:cNvSpPr>
          <p:nvPr/>
        </p:nvSpPr>
        <p:spPr>
          <a:xfrm>
            <a:off x="2876550" y="5363953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Website- www.onlinecu.in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955B1-0493-1C1D-DF37-CC783517B463}"/>
              </a:ext>
            </a:extLst>
          </p:cNvPr>
          <p:cNvSpPr txBox="1">
            <a:spLocks/>
          </p:cNvSpPr>
          <p:nvPr/>
        </p:nvSpPr>
        <p:spPr>
          <a:xfrm>
            <a:off x="2876550" y="5722217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Helpline no.: 1800 121 388 800 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9BC1C-B8FD-B4C5-4F1A-EF8B8E99CD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660232" y="2519769"/>
            <a:ext cx="3879226" cy="61233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242B34"/>
                </a:solidFill>
                <a:effectLst/>
                <a:latin typeface="Montserra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en-US" sz="4000" dirty="0">
                <a:solidFill>
                  <a:schemeClr val="tx1"/>
                </a:solidFill>
              </a:rPr>
              <a:t>THANK 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B7D14C-B6FF-E969-C90A-BE0B31E318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60677" y="1903384"/>
            <a:ext cx="1363827" cy="1738069"/>
            <a:chOff x="3505200" y="1214438"/>
            <a:chExt cx="2016126" cy="3225800"/>
          </a:xfrm>
        </p:grpSpPr>
        <p:sp>
          <p:nvSpPr>
            <p:cNvPr id="13" name="Diamond 6">
              <a:extLst>
                <a:ext uri="{FF2B5EF4-FFF2-40B4-BE49-F238E27FC236}">
                  <a16:creationId xmlns:a16="http://schemas.microsoft.com/office/drawing/2014/main" id="{0FB5638E-DA82-408B-D548-520AF0032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505200" y="1214438"/>
              <a:ext cx="1822450" cy="3225800"/>
            </a:xfrm>
            <a:custGeom>
              <a:avLst/>
              <a:gdLst>
                <a:gd name="T0" fmla="*/ 1024904 w 2430463"/>
                <a:gd name="T1" fmla="*/ 2413000 h 3225800"/>
                <a:gd name="T2" fmla="*/ 680146 w 2430463"/>
                <a:gd name="T3" fmla="*/ 3225800 h 3225800"/>
                <a:gd name="T4" fmla="*/ 0 w 2430463"/>
                <a:gd name="T5" fmla="*/ 1612900 h 3225800"/>
                <a:gd name="T6" fmla="*/ 680146 w 2430463"/>
                <a:gd name="T7" fmla="*/ 0 h 3225800"/>
                <a:gd name="T8" fmla="*/ 1024904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  <p:sp>
          <p:nvSpPr>
            <p:cNvPr id="14" name="Diamond 6">
              <a:extLst>
                <a:ext uri="{FF2B5EF4-FFF2-40B4-BE49-F238E27FC236}">
                  <a16:creationId xmlns:a16="http://schemas.microsoft.com/office/drawing/2014/main" id="{F6A4D4F5-BE08-6D8F-3085-311D2F755A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697289" y="1214438"/>
              <a:ext cx="1824037" cy="3225800"/>
            </a:xfrm>
            <a:custGeom>
              <a:avLst/>
              <a:gdLst>
                <a:gd name="T0" fmla="*/ 1026691 w 2430463"/>
                <a:gd name="T1" fmla="*/ 2413000 h 3225800"/>
                <a:gd name="T2" fmla="*/ 681330 w 2430463"/>
                <a:gd name="T3" fmla="*/ 3225800 h 3225800"/>
                <a:gd name="T4" fmla="*/ 0 w 2430463"/>
                <a:gd name="T5" fmla="*/ 1612900 h 3225800"/>
                <a:gd name="T6" fmla="*/ 681330 w 2430463"/>
                <a:gd name="T7" fmla="*/ 0 h 3225800"/>
                <a:gd name="T8" fmla="*/ 1026691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26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1309</Words>
  <Application>Microsoft Office PowerPoint</Application>
  <PresentationFormat>Widescreen</PresentationFormat>
  <Paragraphs>175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Aptos</vt:lpstr>
      <vt:lpstr>Aptos Display</vt:lpstr>
      <vt:lpstr>Arial</vt:lpstr>
      <vt:lpstr>Avenir Next LT Pro</vt:lpstr>
      <vt:lpstr>Calibri</vt:lpstr>
      <vt:lpstr>Cambria Math</vt:lpstr>
      <vt:lpstr>Google Sans Text</vt:lpstr>
      <vt:lpstr>Montserrat</vt:lpstr>
      <vt:lpstr>Montserrat Bold</vt:lpstr>
      <vt:lpstr>Montserrat SemiBold</vt:lpstr>
      <vt:lpstr>source-serif-pro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Test Computations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Vikash Singh</cp:lastModifiedBy>
  <cp:revision>108</cp:revision>
  <dcterms:created xsi:type="dcterms:W3CDTF">2025-07-09T10:39:06Z</dcterms:created>
  <dcterms:modified xsi:type="dcterms:W3CDTF">2026-04-12T05:25:07Z</dcterms:modified>
</cp:coreProperties>
</file>