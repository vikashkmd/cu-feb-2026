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02" r:id="rId4"/>
    <p:sldId id="290" r:id="rId5"/>
    <p:sldId id="310" r:id="rId6"/>
    <p:sldId id="311" r:id="rId7"/>
    <p:sldId id="271" r:id="rId8"/>
    <p:sldId id="284" r:id="rId9"/>
    <p:sldId id="312" r:id="rId10"/>
    <p:sldId id="313" r:id="rId11"/>
    <p:sldId id="314" r:id="rId12"/>
    <p:sldId id="282" r:id="rId13"/>
    <p:sldId id="298" r:id="rId14"/>
    <p:sldId id="303" r:id="rId15"/>
    <p:sldId id="315" r:id="rId16"/>
    <p:sldId id="304" r:id="rId17"/>
    <p:sldId id="316" r:id="rId18"/>
    <p:sldId id="322" r:id="rId19"/>
    <p:sldId id="323" r:id="rId20"/>
    <p:sldId id="305" r:id="rId21"/>
    <p:sldId id="317" r:id="rId22"/>
    <p:sldId id="318" r:id="rId23"/>
    <p:sldId id="319" r:id="rId24"/>
    <p:sldId id="320" r:id="rId25"/>
    <p:sldId id="285" r:id="rId26"/>
    <p:sldId id="286" r:id="rId27"/>
    <p:sldId id="324" r:id="rId28"/>
    <p:sldId id="325" r:id="rId29"/>
    <p:sldId id="326" r:id="rId30"/>
    <p:sldId id="327" r:id="rId31"/>
    <p:sldId id="328" r:id="rId32"/>
    <p:sldId id="330" r:id="rId33"/>
    <p:sldId id="321" r:id="rId34"/>
    <p:sldId id="300" r:id="rId35"/>
    <p:sldId id="291" r:id="rId36"/>
    <p:sldId id="293" r:id="rId37"/>
    <p:sldId id="296" r:id="rId38"/>
    <p:sldId id="295" r:id="rId39"/>
    <p:sldId id="257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66" userDrawn="1">
          <p15:clr>
            <a:srgbClr val="A4A3A4"/>
          </p15:clr>
        </p15:guide>
        <p15:guide id="4" pos="75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71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1028" y="52"/>
      </p:cViewPr>
      <p:guideLst>
        <p:guide orient="horz" pos="2160"/>
        <p:guide pos="3840"/>
        <p:guide pos="166"/>
        <p:guide pos="75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CAB6-0A18-B12A-06A5-CFD0B0666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1E932-87D4-E4A3-5EC5-FD37D2ADB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61194-F8BE-C949-EFCA-00EE7F86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34BE2-760E-FA63-F53E-6EC6D65C1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19652-B072-95C3-666A-824B223F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103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uilding with a large square structure&#10;&#10;AI-generated content may be incorrect.">
            <a:extLst>
              <a:ext uri="{FF2B5EF4-FFF2-40B4-BE49-F238E27FC236}">
                <a16:creationId xmlns:a16="http://schemas.microsoft.com/office/drawing/2014/main" id="{20082ACF-3AE9-146E-7E5F-C65F33E8B8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244" y="-3712171"/>
            <a:ext cx="12286488" cy="108400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877687-59E4-FE10-798A-5CDB6083232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29"/>
          <a:stretch>
            <a:fillRect/>
          </a:stretch>
        </p:blipFill>
        <p:spPr>
          <a:xfrm>
            <a:off x="266700" y="86360"/>
            <a:ext cx="2347089" cy="6248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1ECD35-FA11-4851-4A09-09EF2B1ECA3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19" r="51933"/>
          <a:stretch>
            <a:fillRect/>
          </a:stretch>
        </p:blipFill>
        <p:spPr>
          <a:xfrm>
            <a:off x="10202069" y="124460"/>
            <a:ext cx="2163416" cy="6248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5BE6A8-737D-A62C-6551-363023866B3F}"/>
              </a:ext>
            </a:extLst>
          </p:cNvPr>
          <p:cNvSpPr txBox="1">
            <a:spLocks/>
          </p:cNvSpPr>
          <p:nvPr userDrawn="1"/>
        </p:nvSpPr>
        <p:spPr>
          <a:xfrm>
            <a:off x="-139701" y="6346735"/>
            <a:ext cx="35650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Montserrat SemiBold" pitchFamily="2" charset="0"/>
              </a:rPr>
              <a:t>Website-</a:t>
            </a:r>
            <a:r>
              <a:rPr lang="en-US" sz="1600" dirty="0">
                <a:latin typeface="Montserrat SemiBold" pitchFamily="2" charset="0"/>
              </a:rPr>
              <a:t> www.onlinecu.in</a:t>
            </a:r>
            <a:endParaRPr lang="en-IN" sz="1600" dirty="0">
              <a:latin typeface="Montserrat SemiBold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DCA99B-85F9-8685-ECB4-83814B31D6D6}"/>
              </a:ext>
            </a:extLst>
          </p:cNvPr>
          <p:cNvSpPr txBox="1">
            <a:spLocks/>
          </p:cNvSpPr>
          <p:nvPr userDrawn="1"/>
        </p:nvSpPr>
        <p:spPr>
          <a:xfrm>
            <a:off x="8505373" y="6346736"/>
            <a:ext cx="382632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Montserrat SemiBold" pitchFamily="2" charset="0"/>
              </a:rPr>
              <a:t>Helpline no.: </a:t>
            </a:r>
            <a:r>
              <a:rPr lang="en-US" sz="1600" dirty="0">
                <a:latin typeface="Montserrat SemiBold" pitchFamily="2" charset="0"/>
              </a:rPr>
              <a:t>1800 121 388 800 </a:t>
            </a:r>
            <a:endParaRPr lang="en-IN" sz="1600" dirty="0"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62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5807-6537-7A6D-A641-B2A17376E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B0403-42FF-1C59-1D5B-32C3D7622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86C83-3353-0411-EE9B-3502DB3E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F388B-76FB-C020-4F27-4E8F47369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13B55-0C9D-95FE-DE57-76D9CAC5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862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200A-4353-C353-E184-88D52DAD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E2DB6-9BB8-38D4-16CA-0544ED95B0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55387-24D0-58FA-83A3-7DE9457A8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92733-6AE7-EB0F-FA3B-AF5CDFCC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F2C6F-7464-367E-E3F8-97DC8C8F3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16EA2-7E56-7BA3-2439-E543C416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239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A9EF-5440-6E76-FF73-0CF065E3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46708-25E5-77F6-A964-227D0EE4C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C22E3-5FB3-FA79-ED62-21819A6A0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96025A-E802-D170-D6B8-690A286BC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B7203-20FE-415A-F923-11A30CAAC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7DA1C9-7D6A-71D0-70D9-9B0828718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FE8C4F-142A-8803-C2AD-C6393A49A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83C7CE-86E2-2A63-0ECE-6F7089A6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71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AE12F-6D65-52A0-48AA-B03A63F84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C2E755-9EA8-6439-9AA9-91FF3D91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EB468B-111F-CF06-6C38-3BC8CFF4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94801-333D-738E-07D1-D8DAF45C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337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45271-495D-152E-CF4A-DF4710D8B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F704DD-032D-53A7-BFF6-45E5965DD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77178-4230-89A4-5872-75B349208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00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A69D6-24F8-42C9-1D77-EC8866907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61D7-9867-D57B-393C-47C770AA6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ED94E2-1CFC-4DFF-4491-2085D8036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CD279-5116-5E15-60C5-9EF79DDB4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31C19-F77D-04E3-B033-CF6338C13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963EA-8864-E6BE-24F5-23AFDA15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667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56FE6-775B-5F83-EEAB-E36547DB1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964366-F9DB-7570-8134-3DDD5A101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FF4E6-78FE-6A93-F107-25294F26C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A6E5D-D1B7-97B4-E5F0-293D2283C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0F263-4F04-05C5-5AB8-17B4BF43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888F2-58F4-670D-C34D-AD8FC745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837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8A30-B913-89F3-B532-786CB42C2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D29D4D-DEE7-6A1D-B42E-38574A727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6FAF5-A696-3446-BF82-38164F6A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E94DE-54DD-A6A8-474C-AB93008EA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8F6DA-A2A6-C945-BF21-6706B5FA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72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308265-AD14-4580-CC74-9C4CF00E99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309DA-5772-6FBD-97A3-F137B93F9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1C790-714C-45F7-D996-F901BECA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76402-000D-C35B-9564-25F55D31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67743-5BF8-DFC2-CBDC-EB27E011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585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B05E56-8D2F-5F2F-8551-44A2B095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445D5-7E47-8624-9AC3-BB3BCD277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B5D27-2F61-7E25-7C4F-55CEB6262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0130E-D3C0-4B5D-8C12-EBDFC4E82B3D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E40CC-F5EF-5459-5DE6-51B24194D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77AFA-267B-483B-8828-7D5EC7CBF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19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vikashsinghy2k/mastering-credit-risk-analysis-a-step-by-step-guide-to-descriptive-statistics-in-python-bfbdfba627d5" TargetMode="External"/><Relationship Id="rId2" Type="http://schemas.openxmlformats.org/officeDocument/2006/relationships/hyperlink" Target="https://medium.com/@vikashsinghy2k/10-must-know-probability-concepts-for-every-aspiring-statistician-and-data-scientist-66a5b48cacec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@vikashsinghy2k/10-must-know-statistics-interview-questions-with-real-examples-formulas-0b1118f5eb10" TargetMode="External"/><Relationship Id="rId5" Type="http://schemas.openxmlformats.org/officeDocument/2006/relationships/hyperlink" Target="https://medium.com/@vikashsinghy2k/top-20-interview-questions-on-descriptive-and-inferential-statistics-b9ce9da9b1f9" TargetMode="External"/><Relationship Id="rId4" Type="http://schemas.openxmlformats.org/officeDocument/2006/relationships/hyperlink" Target="https://medium.com/@vikashsinghy2k/10-statistical-concepts-every-aspiring-data-scientist-should-know-the-davangers-guide-bf215749c209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uilding with a large square structure&#10;&#10;AI-generated content may be incorrect.">
            <a:extLst>
              <a:ext uri="{FF2B5EF4-FFF2-40B4-BE49-F238E27FC236}">
                <a16:creationId xmlns:a16="http://schemas.microsoft.com/office/drawing/2014/main" id="{45D7B758-93B8-6702-E78A-5420C09B69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488" y="-3481759"/>
            <a:ext cx="12286489" cy="108400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A9F29A-6499-7007-BE30-D0006E28FD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29"/>
          <a:stretch>
            <a:fillRect/>
          </a:stretch>
        </p:blipFill>
        <p:spPr>
          <a:xfrm>
            <a:off x="266700" y="86360"/>
            <a:ext cx="2347089" cy="6248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3E01D9-0256-D1BA-213E-B0241C636F5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19" r="51933"/>
          <a:stretch>
            <a:fillRect/>
          </a:stretch>
        </p:blipFill>
        <p:spPr>
          <a:xfrm>
            <a:off x="10202069" y="124460"/>
            <a:ext cx="2163416" cy="62484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8A999DC-A153-1905-C7EE-7C969DA83FFE}"/>
              </a:ext>
            </a:extLst>
          </p:cNvPr>
          <p:cNvSpPr/>
          <p:nvPr/>
        </p:nvSpPr>
        <p:spPr>
          <a:xfrm>
            <a:off x="-419100" y="4152147"/>
            <a:ext cx="12705589" cy="4105276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C59026-22DA-C7EE-E8D5-0A960E14490B}"/>
              </a:ext>
            </a:extLst>
          </p:cNvPr>
          <p:cNvSpPr/>
          <p:nvPr/>
        </p:nvSpPr>
        <p:spPr>
          <a:xfrm>
            <a:off x="0" y="5429251"/>
            <a:ext cx="12192001" cy="865268"/>
          </a:xfrm>
          <a:prstGeom prst="rect">
            <a:avLst/>
          </a:prstGeom>
          <a:solidFill>
            <a:srgbClr val="C00000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AFFA5-8138-FB30-6CEE-C907D53506F8}"/>
              </a:ext>
            </a:extLst>
          </p:cNvPr>
          <p:cNvSpPr txBox="1"/>
          <p:nvPr/>
        </p:nvSpPr>
        <p:spPr>
          <a:xfrm>
            <a:off x="1195137" y="5113697"/>
            <a:ext cx="9801726" cy="147732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  <a:p>
            <a:pPr algn="ctr"/>
            <a:r>
              <a:rPr lang="en-US" sz="3000" dirty="0">
                <a:solidFill>
                  <a:schemeClr val="bg1"/>
                </a:solidFill>
                <a:latin typeface="Montserrat SemiBold" pitchFamily="2" charset="0"/>
              </a:rPr>
              <a:t>Probability Theory</a:t>
            </a:r>
          </a:p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95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E650A68-EA3A-2D91-1B47-FD55243C0DD5}"/>
              </a:ext>
            </a:extLst>
          </p:cNvPr>
          <p:cNvSpPr txBox="1">
            <a:spLocks/>
          </p:cNvSpPr>
          <p:nvPr/>
        </p:nvSpPr>
        <p:spPr>
          <a:xfrm>
            <a:off x="3606449" y="239070"/>
            <a:ext cx="69091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Learning Objectives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DD431F-D61B-40D1-6A24-AC95A22F2994}"/>
              </a:ext>
            </a:extLst>
          </p:cNvPr>
          <p:cNvSpPr txBox="1">
            <a:spLocks/>
          </p:cNvSpPr>
          <p:nvPr/>
        </p:nvSpPr>
        <p:spPr>
          <a:xfrm>
            <a:off x="864833" y="2134159"/>
            <a:ext cx="10249481" cy="571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latin typeface="Avenir Next LT Pro" panose="020B0504020202020204" pitchFamily="34" charset="0"/>
                <a:cs typeface="Arial" pitchFamily="34" charset="0"/>
              </a:rPr>
              <a:t>By the end of this session, you will be able to: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B7DAA53-E44E-F1A9-8E93-74E570E860D3}"/>
              </a:ext>
            </a:extLst>
          </p:cNvPr>
          <p:cNvSpPr txBox="1">
            <a:spLocks/>
          </p:cNvSpPr>
          <p:nvPr/>
        </p:nvSpPr>
        <p:spPr>
          <a:xfrm>
            <a:off x="864832" y="2819400"/>
            <a:ext cx="10717567" cy="339634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rgbClr val="404040"/>
                </a:solidFill>
                <a:latin typeface="DeepSeek-CJK-patch"/>
              </a:rPr>
              <a:t>Define</a:t>
            </a:r>
            <a:r>
              <a:rPr lang="en-US">
                <a:solidFill>
                  <a:srgbClr val="404040"/>
                </a:solidFill>
                <a:latin typeface="DeepSeek-CJK-patch"/>
              </a:rPr>
              <a:t> probability, sample space, and events.</a:t>
            </a:r>
          </a:p>
          <a:p>
            <a:endParaRPr lang="en-US">
              <a:solidFill>
                <a:srgbClr val="404040"/>
              </a:solidFill>
              <a:latin typeface="DeepSeek-CJK-patch"/>
            </a:endParaRPr>
          </a:p>
          <a:p>
            <a:pPr>
              <a:spcBef>
                <a:spcPts val="300"/>
              </a:spcBef>
            </a:pPr>
            <a:r>
              <a:rPr lang="en-US">
                <a:solidFill>
                  <a:srgbClr val="404040"/>
                </a:solidFill>
                <a:latin typeface="DeepSeek-CJK-patch"/>
              </a:rPr>
              <a:t>Understand key properties of probability.</a:t>
            </a:r>
          </a:p>
          <a:p>
            <a:pPr>
              <a:spcBef>
                <a:spcPts val="300"/>
              </a:spcBef>
            </a:pPr>
            <a:endParaRPr lang="en-US" b="1">
              <a:solidFill>
                <a:srgbClr val="404040"/>
              </a:solidFill>
              <a:latin typeface="DeepSeek-CJK-patch"/>
            </a:endParaRPr>
          </a:p>
          <a:p>
            <a:pPr>
              <a:spcBef>
                <a:spcPts val="300"/>
              </a:spcBef>
            </a:pPr>
            <a:r>
              <a:rPr lang="en-US" b="1">
                <a:solidFill>
                  <a:srgbClr val="404040"/>
                </a:solidFill>
                <a:latin typeface="DeepSeek-CJK-patch"/>
              </a:rPr>
              <a:t>Calculate</a:t>
            </a:r>
            <a:r>
              <a:rPr lang="en-US">
                <a:solidFill>
                  <a:srgbClr val="404040"/>
                </a:solidFill>
                <a:latin typeface="DeepSeek-CJK-patch"/>
              </a:rPr>
              <a:t> probabilities for dice, coins, and cards </a:t>
            </a:r>
            <a:r>
              <a:rPr lang="en-US" b="1">
                <a:solidFill>
                  <a:srgbClr val="404040"/>
                </a:solidFill>
                <a:latin typeface="DeepSeek-CJK-patch"/>
              </a:rPr>
              <a:t>with step-by-step solutions</a:t>
            </a:r>
            <a:r>
              <a:rPr lang="en-US">
                <a:solidFill>
                  <a:srgbClr val="404040"/>
                </a:solidFill>
                <a:latin typeface="DeepSeek-CJK-patch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202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1F271-41DA-A538-EB88-50AE4905C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2645CA2-7F1D-3079-C67B-BC1747BC0515}"/>
              </a:ext>
            </a:extLst>
          </p:cNvPr>
          <p:cNvSpPr txBox="1">
            <a:spLocks/>
          </p:cNvSpPr>
          <p:nvPr/>
        </p:nvSpPr>
        <p:spPr>
          <a:xfrm>
            <a:off x="3606449" y="239070"/>
            <a:ext cx="69091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What is Probability?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D9212B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8FA149C-EB1B-99B9-53FC-346B272B014F}"/>
              </a:ext>
            </a:extLst>
          </p:cNvPr>
          <p:cNvSpPr txBox="1">
            <a:spLocks/>
          </p:cNvSpPr>
          <p:nvPr/>
        </p:nvSpPr>
        <p:spPr>
          <a:xfrm>
            <a:off x="729343" y="1137127"/>
            <a:ext cx="10515600" cy="14101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Probability</a:t>
            </a:r>
            <a:r>
              <a:rPr lang="en-US" dirty="0"/>
              <a:t> is a mathematical measure that quantifies the likelihood that an event will occur.</a:t>
            </a:r>
          </a:p>
          <a:p>
            <a:r>
              <a:rPr lang="en-US" dirty="0">
                <a:solidFill>
                  <a:srgbClr val="404040"/>
                </a:solidFill>
                <a:latin typeface="DeepSeek-CJK-patch"/>
              </a:rPr>
              <a:t>Range: 0 to 1.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C48586-F848-F5E8-3553-242F0C481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00" y="2723884"/>
            <a:ext cx="10971399" cy="16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CA3F0-5D74-4967-F591-DED6512EB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8F1DA-ED54-6CD4-86D9-253893DBA29B}"/>
              </a:ext>
            </a:extLst>
          </p:cNvPr>
          <p:cNvSpPr txBox="1">
            <a:spLocks/>
          </p:cNvSpPr>
          <p:nvPr/>
        </p:nvSpPr>
        <p:spPr>
          <a:xfrm>
            <a:off x="3167743" y="217297"/>
            <a:ext cx="77865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Basic Probability Concepts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B12BCE-FDC8-0FB3-87E5-5C7AE612CC40}"/>
              </a:ext>
            </a:extLst>
          </p:cNvPr>
          <p:cNvSpPr txBox="1">
            <a:spLocks noChangeArrowheads="1"/>
          </p:cNvSpPr>
          <p:nvPr/>
        </p:nvSpPr>
        <p:spPr>
          <a:xfrm>
            <a:off x="402771" y="1457523"/>
            <a:ext cx="11375572" cy="39429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en-US" sz="3200">
                <a:solidFill>
                  <a:srgbClr val="0070C0"/>
                </a:solidFill>
              </a:rPr>
              <a:t>Probability</a:t>
            </a:r>
            <a:r>
              <a:rPr lang="en-US" altLang="en-US" sz="3200">
                <a:solidFill>
                  <a:srgbClr val="C1BAF8"/>
                </a:solidFill>
              </a:rPr>
              <a:t> </a:t>
            </a:r>
            <a:r>
              <a:rPr lang="en-US" altLang="en-US" sz="3200"/>
              <a:t>– the chance that an uncertain event will occur (always between 0 and 1)</a:t>
            </a:r>
          </a:p>
          <a:p>
            <a:pPr marL="342900" indent="-342900"/>
            <a:endParaRPr lang="en-US" altLang="en-US" sz="3200"/>
          </a:p>
          <a:p>
            <a:pPr marL="342900" indent="-342900"/>
            <a:r>
              <a:rPr lang="en-US" altLang="en-US" sz="3200">
                <a:solidFill>
                  <a:srgbClr val="0070C0"/>
                </a:solidFill>
              </a:rPr>
              <a:t>Impossible Event </a:t>
            </a:r>
            <a:r>
              <a:rPr lang="en-US" altLang="en-US" sz="3200"/>
              <a:t>– an event that has no chance of occurring (probability = 0)</a:t>
            </a:r>
          </a:p>
          <a:p>
            <a:pPr marL="342900" indent="-342900"/>
            <a:endParaRPr lang="en-US" altLang="en-US" sz="3200"/>
          </a:p>
          <a:p>
            <a:pPr marL="342900" indent="-342900"/>
            <a:r>
              <a:rPr lang="en-US" altLang="en-US" sz="3200">
                <a:solidFill>
                  <a:srgbClr val="0070C0"/>
                </a:solidFill>
              </a:rPr>
              <a:t>Certain Event </a:t>
            </a:r>
            <a:r>
              <a:rPr lang="en-US" altLang="en-US" sz="3200"/>
              <a:t>– an event that is sure to occur (probability = 1)</a:t>
            </a:r>
          </a:p>
          <a:p>
            <a:pPr marL="342900" indent="-342900"/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521482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50B684-5A06-A39E-AB17-4C258993C23B}"/>
              </a:ext>
            </a:extLst>
          </p:cNvPr>
          <p:cNvSpPr/>
          <p:nvPr/>
        </p:nvSpPr>
        <p:spPr>
          <a:xfrm>
            <a:off x="699562" y="1557887"/>
            <a:ext cx="1079287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Söhne"/>
              </a:rPr>
              <a:t>Question:</a:t>
            </a:r>
            <a:r>
              <a:rPr lang="en-US" sz="3200" dirty="0">
                <a:solidFill>
                  <a:srgbClr val="374151"/>
                </a:solidFill>
                <a:latin typeface="Söhne"/>
              </a:rPr>
              <a:t> What is the probability of rolling a number greater than 4 on a fair six-sided die?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056E92-EF57-D710-A803-73734F11D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997" y="2841053"/>
            <a:ext cx="3279574" cy="3037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909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A35756-6EA7-992F-B7A8-B3F6B8B31371}"/>
              </a:ext>
            </a:extLst>
          </p:cNvPr>
          <p:cNvSpPr/>
          <p:nvPr/>
        </p:nvSpPr>
        <p:spPr>
          <a:xfrm>
            <a:off x="492034" y="1410009"/>
            <a:ext cx="11207931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374151"/>
                </a:solidFill>
                <a:latin typeface="Söhne"/>
              </a:rPr>
              <a:t>Problem:</a:t>
            </a:r>
            <a:r>
              <a:rPr lang="en-US" sz="2800" dirty="0">
                <a:solidFill>
                  <a:srgbClr val="374151"/>
                </a:solidFill>
                <a:latin typeface="Söhne"/>
              </a:rPr>
              <a:t> What is the probability of rolling a number greater than 4 on a fair six-sided die?</a:t>
            </a:r>
          </a:p>
          <a:p>
            <a:endParaRPr lang="en-US" sz="2800" dirty="0">
              <a:solidFill>
                <a:srgbClr val="374151"/>
              </a:solidFill>
              <a:latin typeface="Söhne"/>
            </a:endParaRPr>
          </a:p>
          <a:p>
            <a:r>
              <a:rPr lang="en-US" sz="2800" b="1" dirty="0">
                <a:solidFill>
                  <a:srgbClr val="374151"/>
                </a:solidFill>
                <a:latin typeface="Söhne"/>
              </a:rPr>
              <a:t>Solution:</a:t>
            </a:r>
            <a:r>
              <a:rPr lang="en-US" sz="2800" dirty="0">
                <a:solidFill>
                  <a:srgbClr val="374151"/>
                </a:solidFill>
                <a:latin typeface="Söhne"/>
              </a:rPr>
              <a:t> A six-sided die has six possible outcomes: 1, 2, 3, 4, 5, and 6. The favorable outcomes for rolling a number greater than 4 are 5 and 6.</a:t>
            </a:r>
          </a:p>
          <a:p>
            <a:endParaRPr lang="en-US" sz="2800" dirty="0">
              <a:solidFill>
                <a:srgbClr val="374151"/>
              </a:solidFill>
              <a:latin typeface="Söhn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74151"/>
                </a:solidFill>
                <a:latin typeface="Söhne"/>
              </a:rPr>
              <a:t>Number of favorable outcomes: 2 (which are 5 and 6)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74151"/>
                </a:solidFill>
                <a:latin typeface="Söhne"/>
              </a:rPr>
              <a:t>Total number of outcomes: 6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374151"/>
              </a:solidFill>
              <a:latin typeface="Söhne"/>
            </a:endParaRPr>
          </a:p>
          <a:p>
            <a:r>
              <a:rPr lang="en-US" sz="2800" b="1" dirty="0">
                <a:solidFill>
                  <a:srgbClr val="374151"/>
                </a:solidFill>
                <a:latin typeface="Söhne"/>
              </a:rPr>
              <a:t>Answer:</a:t>
            </a:r>
            <a:r>
              <a:rPr lang="en-US" sz="2800" dirty="0">
                <a:solidFill>
                  <a:srgbClr val="374151"/>
                </a:solidFill>
                <a:latin typeface="Söhne"/>
              </a:rPr>
              <a:t> The probability of rolling a number greater than 4 is </a:t>
            </a:r>
            <a:r>
              <a:rPr lang="en-US" sz="2800" dirty="0">
                <a:solidFill>
                  <a:srgbClr val="374151"/>
                </a:solidFill>
                <a:latin typeface="KaTeX_Main"/>
              </a:rPr>
              <a:t>2/6 = 1/3</a:t>
            </a:r>
            <a:endParaRPr lang="en-US" sz="28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925790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9F5CC-7C78-2830-995A-742570655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0EE76BE-076E-7E6B-B609-64BB0A4E6552}"/>
              </a:ext>
            </a:extLst>
          </p:cNvPr>
          <p:cNvSpPr txBox="1">
            <a:spLocks/>
          </p:cNvSpPr>
          <p:nvPr/>
        </p:nvSpPr>
        <p:spPr>
          <a:xfrm>
            <a:off x="3265713" y="217297"/>
            <a:ext cx="76885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Key Terms in Probability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494782-0397-0445-D606-2DD5ACE03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10528"/>
            <a:ext cx="10751712" cy="3812585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3507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F74FA-259D-AE93-651F-B8A502C1E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41252-497D-FF0D-14FB-D1F83D86864A}"/>
              </a:ext>
            </a:extLst>
          </p:cNvPr>
          <p:cNvSpPr txBox="1">
            <a:spLocks/>
          </p:cNvSpPr>
          <p:nvPr/>
        </p:nvSpPr>
        <p:spPr>
          <a:xfrm>
            <a:off x="2481943" y="217297"/>
            <a:ext cx="84723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Reference Dataset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E017E6-E93E-5CEA-C56F-FEF96B5596BB}"/>
              </a:ext>
            </a:extLst>
          </p:cNvPr>
          <p:cNvSpPr txBox="1"/>
          <p:nvPr/>
        </p:nvSpPr>
        <p:spPr>
          <a:xfrm>
            <a:off x="657059" y="1588618"/>
            <a:ext cx="10877881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‘titanic’ dataset crosstab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128A61-64F4-FBAC-259A-02551A1D4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039" y="2396057"/>
            <a:ext cx="8411749" cy="2305372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46678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1270-9560-CD8A-D8C9-E57D7437EB9E}"/>
              </a:ext>
            </a:extLst>
          </p:cNvPr>
          <p:cNvSpPr txBox="1">
            <a:spLocks/>
          </p:cNvSpPr>
          <p:nvPr/>
        </p:nvSpPr>
        <p:spPr>
          <a:xfrm>
            <a:off x="2481943" y="217297"/>
            <a:ext cx="84723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Simple Calculations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2ED932-8A80-CCF0-5BB4-A29113495064}"/>
              </a:ext>
            </a:extLst>
          </p:cNvPr>
          <p:cNvSpPr txBox="1"/>
          <p:nvPr/>
        </p:nvSpPr>
        <p:spPr>
          <a:xfrm>
            <a:off x="568777" y="905995"/>
            <a:ext cx="474345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Find out the following probabilities:</a:t>
            </a:r>
          </a:p>
          <a:p>
            <a:endParaRPr lang="en-US" sz="2200" dirty="0"/>
          </a:p>
          <a:p>
            <a:r>
              <a:rPr lang="en-US" sz="2200" dirty="0"/>
              <a:t>1. Probability that a passenger is female (P(Female)).</a:t>
            </a:r>
          </a:p>
          <a:p>
            <a:endParaRPr lang="en-US" sz="2200" dirty="0"/>
          </a:p>
          <a:p>
            <a:r>
              <a:rPr lang="en-US" sz="2200" dirty="0"/>
              <a:t>2. Probability that a passenger is male (P(Male))</a:t>
            </a:r>
          </a:p>
          <a:p>
            <a:endParaRPr lang="en-US" sz="2200" dirty="0"/>
          </a:p>
          <a:p>
            <a:r>
              <a:rPr lang="en-US" sz="2200" dirty="0"/>
              <a:t>3. Probability that a passenger survived (P(Survived))</a:t>
            </a:r>
          </a:p>
          <a:p>
            <a:endParaRPr lang="en-US" sz="2200" dirty="0"/>
          </a:p>
          <a:p>
            <a:r>
              <a:rPr lang="en-US" sz="2200" dirty="0"/>
              <a:t>4. Probability that a passenger is female and survived (P(Female ∩ Survived))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C7F6CE-99C5-F5F5-A374-57A2C4979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943" y="2229252"/>
            <a:ext cx="6089102" cy="1668814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48897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DC4429-3681-0C07-65E2-B5B91F0A7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092" y="1075557"/>
            <a:ext cx="9561594" cy="15836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B88B91-3801-DC1F-73E0-D13BB6271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713" y="3149279"/>
            <a:ext cx="9006316" cy="197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191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A05C77-FDFB-9CEB-D3EF-77FC2DA07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903" y="1502818"/>
            <a:ext cx="6639852" cy="13051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77A05D-722A-7A54-8CA2-9BF194D59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077" y="3439886"/>
            <a:ext cx="8126639" cy="130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62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3809C-9761-6A1E-B6AA-24619AB85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46EC9-827F-D82C-2A52-67C320195836}"/>
              </a:ext>
            </a:extLst>
          </p:cNvPr>
          <p:cNvSpPr txBox="1">
            <a:spLocks/>
          </p:cNvSpPr>
          <p:nvPr/>
        </p:nvSpPr>
        <p:spPr>
          <a:xfrm>
            <a:off x="2416629" y="217297"/>
            <a:ext cx="85376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Properties of Probability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78774F-DD39-5DA7-9907-CFEA351B8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05" y="1011043"/>
            <a:ext cx="9977515" cy="25111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F2B0D1-3231-B7D0-CE33-8F4FF9F85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05" y="3720946"/>
            <a:ext cx="9715032" cy="1876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333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199DE-72C0-6C3F-C639-925F1DD8F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5062E-4F1B-E2ED-6D7F-B35CAC48CA20}"/>
              </a:ext>
            </a:extLst>
          </p:cNvPr>
          <p:cNvSpPr txBox="1">
            <a:spLocks/>
          </p:cNvSpPr>
          <p:nvPr/>
        </p:nvSpPr>
        <p:spPr>
          <a:xfrm>
            <a:off x="3722913" y="217297"/>
            <a:ext cx="72313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Complement Rule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07CFF4-6DDD-4D1B-1744-B85FE4041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972" y="1189755"/>
            <a:ext cx="10507541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53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D346C-F2B3-501D-D77C-AB5495317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10763-EFA5-EB85-6023-2636E4F76119}"/>
              </a:ext>
            </a:extLst>
          </p:cNvPr>
          <p:cNvSpPr txBox="1">
            <a:spLocks/>
          </p:cNvSpPr>
          <p:nvPr/>
        </p:nvSpPr>
        <p:spPr>
          <a:xfrm>
            <a:off x="2449286" y="217297"/>
            <a:ext cx="740228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Addition Rule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192002-CF3F-A19E-2087-D30B561B6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38" y="1418997"/>
            <a:ext cx="11170657" cy="3316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73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E3D1FC-1570-2F5A-E502-7DC3AEC03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60" y="1241294"/>
            <a:ext cx="11618317" cy="2579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362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37340-B94E-8D83-A375-589741220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6F9821-B2AA-59A0-5A2B-3A70F8827B40}"/>
              </a:ext>
            </a:extLst>
          </p:cNvPr>
          <p:cNvSpPr txBox="1"/>
          <p:nvPr/>
        </p:nvSpPr>
        <p:spPr>
          <a:xfrm>
            <a:off x="223156" y="1070206"/>
            <a:ext cx="117456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Probability that a passenger is female or survived (P(Female ∪ Survived))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2D8EF0-D23D-DE15-BE93-88E55C074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27" y="1874997"/>
            <a:ext cx="9945488" cy="95263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8D0D328-B16E-3574-4109-E1620E0D4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599" y="3195964"/>
            <a:ext cx="8913323" cy="2442836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31920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3F410-E2BD-532A-699F-FC5F3600C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6D75B2-68DE-9ACA-5E0C-3148775E6BE5}"/>
              </a:ext>
            </a:extLst>
          </p:cNvPr>
          <p:cNvSpPr txBox="1"/>
          <p:nvPr/>
        </p:nvSpPr>
        <p:spPr>
          <a:xfrm>
            <a:off x="223156" y="1070206"/>
            <a:ext cx="117456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Probability that a passenger is female or survived (P(Female ∪ Survived))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59A1D0-50CE-8261-F29B-ADCB60264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99" y="2147498"/>
            <a:ext cx="10307488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180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2F50D-ED68-3EAB-6A62-0CD5359AAF1A}"/>
              </a:ext>
            </a:extLst>
          </p:cNvPr>
          <p:cNvSpPr txBox="1">
            <a:spLocks/>
          </p:cNvSpPr>
          <p:nvPr/>
        </p:nvSpPr>
        <p:spPr>
          <a:xfrm>
            <a:off x="2427513" y="217297"/>
            <a:ext cx="85267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Addition Rule for Mutually Exclusive Events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80837A-6F37-1DFA-F894-B774099AE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84" y="1536032"/>
            <a:ext cx="11633905" cy="332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328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78BAD7-61F5-C840-D26E-04C32EFC5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05" y="1885406"/>
            <a:ext cx="11553916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162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48D77-7D71-56AB-5618-72EE822BC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0BFC9DD-16D0-8AB8-F594-86D264CE84F2}"/>
              </a:ext>
            </a:extLst>
          </p:cNvPr>
          <p:cNvSpPr txBox="1">
            <a:spLocks/>
          </p:cNvSpPr>
          <p:nvPr/>
        </p:nvSpPr>
        <p:spPr>
          <a:xfrm>
            <a:off x="3301729" y="217297"/>
            <a:ext cx="76525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Conditional Probability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2768C8-8120-CE3E-49F5-4E08ABE4E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51" y="1285060"/>
            <a:ext cx="11089666" cy="20677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5F3F4A-0F43-7640-277B-EA6EE912B4B5}"/>
              </a:ext>
            </a:extLst>
          </p:cNvPr>
          <p:cNvSpPr txBox="1"/>
          <p:nvPr/>
        </p:nvSpPr>
        <p:spPr>
          <a:xfrm>
            <a:off x="471451" y="4009350"/>
            <a:ext cx="990268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Probability that a passenger survived given that they are female (P(Survived | Female))</a:t>
            </a:r>
          </a:p>
        </p:txBody>
      </p:sp>
    </p:spTree>
    <p:extLst>
      <p:ext uri="{BB962C8B-B14F-4D97-AF65-F5344CB8AC3E}">
        <p14:creationId xmlns:p14="http://schemas.microsoft.com/office/powerpoint/2010/main" val="1885084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D00D2-2941-7C62-451E-76B2C8158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94F7764-3A35-9591-F207-3F406B7941B1}"/>
              </a:ext>
            </a:extLst>
          </p:cNvPr>
          <p:cNvSpPr txBox="1">
            <a:spLocks/>
          </p:cNvSpPr>
          <p:nvPr/>
        </p:nvSpPr>
        <p:spPr>
          <a:xfrm>
            <a:off x="3301729" y="217297"/>
            <a:ext cx="76525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Conditional Probability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639CB0-C347-B33E-589A-16D434F69C99}"/>
              </a:ext>
            </a:extLst>
          </p:cNvPr>
          <p:cNvSpPr txBox="1"/>
          <p:nvPr/>
        </p:nvSpPr>
        <p:spPr>
          <a:xfrm>
            <a:off x="667393" y="1255265"/>
            <a:ext cx="990268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Probability that a passenger survived given that they are female (P(Survived | Female))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D860F3-4496-CBC1-9AF6-30C9307FD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572" y="2752630"/>
            <a:ext cx="9155794" cy="18520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7364B9-0F35-1871-B95C-716C07C26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057" y="4768328"/>
            <a:ext cx="6089102" cy="1668814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270046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6696D-6676-70E2-16B1-5E07EA932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B65B39D-02E7-D2DE-61A4-66FEF655C148}"/>
              </a:ext>
            </a:extLst>
          </p:cNvPr>
          <p:cNvSpPr txBox="1">
            <a:spLocks/>
          </p:cNvSpPr>
          <p:nvPr/>
        </p:nvSpPr>
        <p:spPr>
          <a:xfrm>
            <a:off x="3301729" y="217297"/>
            <a:ext cx="76525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Conditional Probability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FDDFA3-3541-7E47-C2B9-FC01671DB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57" y="1163658"/>
            <a:ext cx="9155794" cy="18520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78D15D-F5CC-2DCB-7FAE-A9F45C2D4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772" y="3059613"/>
            <a:ext cx="6089102" cy="1668814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C976B8-04AB-0195-E4ED-EBC89CCFE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7552" y="5133915"/>
            <a:ext cx="8145012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1787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B6DD6-AB70-6B82-29ED-C28CC3834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E244D38-3B72-3DB5-BDC5-455EBF93AA85}"/>
              </a:ext>
            </a:extLst>
          </p:cNvPr>
          <p:cNvSpPr txBox="1">
            <a:spLocks/>
          </p:cNvSpPr>
          <p:nvPr/>
        </p:nvSpPr>
        <p:spPr>
          <a:xfrm>
            <a:off x="3301729" y="217297"/>
            <a:ext cx="76525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Conditional Probability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896130-A135-2125-7A33-3A4712CC3799}"/>
              </a:ext>
            </a:extLst>
          </p:cNvPr>
          <p:cNvSpPr txBox="1"/>
          <p:nvPr/>
        </p:nvSpPr>
        <p:spPr>
          <a:xfrm>
            <a:off x="667393" y="1255265"/>
            <a:ext cx="990268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Probability that a passenger survived given that they are male (P(Male | Female))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6BF698-946D-31FB-C166-D2A27E633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609" y="2804131"/>
            <a:ext cx="9111728" cy="2497212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47774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A3721-4673-4899-7F22-0E428E310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2A11E7A-90E7-EF73-FB08-46C440A93C77}"/>
              </a:ext>
            </a:extLst>
          </p:cNvPr>
          <p:cNvSpPr txBox="1">
            <a:spLocks/>
          </p:cNvSpPr>
          <p:nvPr/>
        </p:nvSpPr>
        <p:spPr>
          <a:xfrm>
            <a:off x="3301729" y="217297"/>
            <a:ext cx="76525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Conditional Probability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4D8BB1-ECD3-51FF-23D2-AB381F56F06A}"/>
              </a:ext>
            </a:extLst>
          </p:cNvPr>
          <p:cNvSpPr txBox="1"/>
          <p:nvPr/>
        </p:nvSpPr>
        <p:spPr>
          <a:xfrm>
            <a:off x="667393" y="1255265"/>
            <a:ext cx="990268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Probability that a passenger survived given that they are male (P(Male | Female))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819D32-1DD1-5C96-A019-51AC46556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70" y="2533524"/>
            <a:ext cx="10699256" cy="215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4866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890B2-E345-9525-7ED1-63CC28B0D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122985C-9A04-A956-B273-D1350AB71C8F}"/>
              </a:ext>
            </a:extLst>
          </p:cNvPr>
          <p:cNvSpPr txBox="1">
            <a:spLocks/>
          </p:cNvSpPr>
          <p:nvPr/>
        </p:nvSpPr>
        <p:spPr>
          <a:xfrm>
            <a:off x="3298371" y="217297"/>
            <a:ext cx="7655934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Baye’s Theorem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9F91D-6CDD-0698-86E9-54BB1B827A6A}"/>
              </a:ext>
            </a:extLst>
          </p:cNvPr>
          <p:cNvSpPr txBox="1"/>
          <p:nvPr/>
        </p:nvSpPr>
        <p:spPr>
          <a:xfrm>
            <a:off x="481691" y="1220763"/>
            <a:ext cx="1106805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Bayes’ Theorem</a:t>
            </a:r>
            <a:r>
              <a:rPr lang="en-US" sz="2800" dirty="0"/>
              <a:t> is a way to update our beliefs about the probability of an event based on new evidence.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In simple terms:</a:t>
            </a:r>
          </a:p>
          <a:p>
            <a:pPr>
              <a:buNone/>
            </a:pPr>
            <a:r>
              <a:rPr lang="en-US" sz="2800" b="1" dirty="0"/>
              <a:t>It tells us how likely something is, </a:t>
            </a:r>
            <a:r>
              <a:rPr lang="en-US" sz="2800" b="1" i="1" dirty="0"/>
              <a:t>given</a:t>
            </a:r>
            <a:r>
              <a:rPr lang="en-US" sz="2800" b="1" dirty="0"/>
              <a:t> that we already know something else has happened.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77823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022A7-CBD3-9F27-E4E6-11D40EC2B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9CED029-0C99-C118-B3C9-5364A05BCCF2}"/>
              </a:ext>
            </a:extLst>
          </p:cNvPr>
          <p:cNvSpPr txBox="1">
            <a:spLocks/>
          </p:cNvSpPr>
          <p:nvPr/>
        </p:nvSpPr>
        <p:spPr>
          <a:xfrm>
            <a:off x="4103913" y="217297"/>
            <a:ext cx="68503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Baye’s theorem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8823CC-6B58-1C40-0A5A-CC969A868996}"/>
              </a:ext>
            </a:extLst>
          </p:cNvPr>
          <p:cNvSpPr txBox="1"/>
          <p:nvPr/>
        </p:nvSpPr>
        <p:spPr>
          <a:xfrm>
            <a:off x="742950" y="1371991"/>
            <a:ext cx="62538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Formula of Bayes’ Theorem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E675BD-6B8E-E1A9-C086-982731282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84" y="2299652"/>
            <a:ext cx="10961269" cy="332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2882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A87A5-77DB-3A43-A8AF-1F44DF7F92CD}"/>
              </a:ext>
            </a:extLst>
          </p:cNvPr>
          <p:cNvSpPr txBox="1">
            <a:spLocks/>
          </p:cNvSpPr>
          <p:nvPr/>
        </p:nvSpPr>
        <p:spPr>
          <a:xfrm>
            <a:off x="4103913" y="217297"/>
            <a:ext cx="68503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Baye’s theorem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991D7B-A0DB-9E90-E8FD-84B850820572}"/>
              </a:ext>
            </a:extLst>
          </p:cNvPr>
          <p:cNvSpPr txBox="1"/>
          <p:nvPr/>
        </p:nvSpPr>
        <p:spPr>
          <a:xfrm>
            <a:off x="623207" y="1419722"/>
            <a:ext cx="1086122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The Scenario:</a:t>
            </a:r>
            <a:r>
              <a:rPr lang="en-US" sz="2400" dirty="0"/>
              <a:t> Imagine you have two cookie jars:</a:t>
            </a:r>
          </a:p>
          <a:p>
            <a:pPr>
              <a:buNone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Jar 1:</a:t>
            </a:r>
            <a:r>
              <a:rPr lang="en-US" sz="2400" dirty="0"/>
              <a:t> 30 chocolate chip cookies and 10 plain cookies.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Jar 2:</a:t>
            </a:r>
            <a:r>
              <a:rPr lang="en-US" sz="2400" dirty="0"/>
              <a:t> 20 chocolate chip cookies and 20 plain cookies.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You pick a jar at random (50/50 chance) and blindly pull out a cookie. It's a </a:t>
            </a:r>
            <a:r>
              <a:rPr lang="en-US" sz="2400" b="1" dirty="0"/>
              <a:t>chocolate chip cookie</a:t>
            </a:r>
            <a:r>
              <a:rPr lang="en-US" sz="2400" dirty="0"/>
              <a:t>. 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What is the probability that it came from </a:t>
            </a:r>
            <a:r>
              <a:rPr lang="en-US" sz="2400" b="1" dirty="0"/>
              <a:t>Jar 1</a:t>
            </a:r>
            <a:r>
              <a:rPr lang="en-US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613405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54B90-BFA6-4B05-F3F9-BC18FF8A46A9}"/>
              </a:ext>
            </a:extLst>
          </p:cNvPr>
          <p:cNvSpPr txBox="1">
            <a:spLocks/>
          </p:cNvSpPr>
          <p:nvPr/>
        </p:nvSpPr>
        <p:spPr>
          <a:xfrm>
            <a:off x="4103913" y="217297"/>
            <a:ext cx="68503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Step by step solution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8D4FA1-BA40-9D2D-97BC-EA3B6A336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00" y="1640244"/>
            <a:ext cx="10326541" cy="14003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BD2770-DE94-6F97-7D86-545A552FB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486" y="3335324"/>
            <a:ext cx="8740581" cy="265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0697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A5855-1B4A-A701-66C1-1FAE6854F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8C660-D79D-34BD-8EA0-93E854E8DF6C}"/>
              </a:ext>
            </a:extLst>
          </p:cNvPr>
          <p:cNvSpPr txBox="1">
            <a:spLocks/>
          </p:cNvSpPr>
          <p:nvPr/>
        </p:nvSpPr>
        <p:spPr>
          <a:xfrm>
            <a:off x="4103913" y="217297"/>
            <a:ext cx="68503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Step by step solution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6F111D-25DD-5620-2EFF-96282547C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486" y="3335324"/>
            <a:ext cx="8740581" cy="2653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0FDF71-2B41-31BD-EF0A-432A878E3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811" y="1477632"/>
            <a:ext cx="9497750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3644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BD71D-6E23-3BE8-1F56-26B7E9CFE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67FCF-3F26-9A5C-D9CC-3D42F15EB3BA}"/>
              </a:ext>
            </a:extLst>
          </p:cNvPr>
          <p:cNvSpPr txBox="1">
            <a:spLocks/>
          </p:cNvSpPr>
          <p:nvPr/>
        </p:nvSpPr>
        <p:spPr>
          <a:xfrm>
            <a:off x="4103913" y="217297"/>
            <a:ext cx="68503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Step by step solution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91E419-AA27-FAB0-9B30-6F6F1DE21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143" y="3335324"/>
            <a:ext cx="8740581" cy="2653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023A47-8A60-D4AC-BA1E-3BFF7008E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00" y="1177553"/>
            <a:ext cx="10240804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0250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50B5C-D8B0-9043-80FD-EC7A92395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3BDCF-3E94-3F21-9DCA-864E12ABA719}"/>
              </a:ext>
            </a:extLst>
          </p:cNvPr>
          <p:cNvSpPr txBox="1">
            <a:spLocks/>
          </p:cNvSpPr>
          <p:nvPr/>
        </p:nvSpPr>
        <p:spPr>
          <a:xfrm>
            <a:off x="4103913" y="217297"/>
            <a:ext cx="68503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Step by step solution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507812-C483-96C0-2AF9-97930B2C5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143" y="3335324"/>
            <a:ext cx="8740581" cy="2653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8C0D1B-FA18-D092-E1C4-3181D4AEB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648" y="1005425"/>
            <a:ext cx="9440592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3730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4A124-5F15-97A4-E2A2-C9767ED17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D82C6-4863-287C-BEC6-5D1FAF3F4131}"/>
              </a:ext>
            </a:extLst>
          </p:cNvPr>
          <p:cNvSpPr txBox="1">
            <a:spLocks/>
          </p:cNvSpPr>
          <p:nvPr/>
        </p:nvSpPr>
        <p:spPr>
          <a:xfrm>
            <a:off x="4103913" y="217297"/>
            <a:ext cx="68503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Simple explanation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0123FF-7144-DB12-0271-D1D46EC08EAE}"/>
              </a:ext>
            </a:extLst>
          </p:cNvPr>
          <p:cNvSpPr txBox="1"/>
          <p:nvPr/>
        </p:nvSpPr>
        <p:spPr>
          <a:xfrm>
            <a:off x="601435" y="1183369"/>
            <a:ext cx="1110070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/>
              <a:t>Use this </a:t>
            </a:r>
            <a:r>
              <a:rPr lang="en-US" sz="3200" b="1" dirty="0"/>
              <a:t>three-step logic</a:t>
            </a:r>
            <a:r>
              <a:rPr lang="en-US" sz="3200" dirty="0"/>
              <a:t>:</a:t>
            </a:r>
          </a:p>
          <a:p>
            <a:pPr>
              <a:buFont typeface="+mj-lt"/>
              <a:buAutoNum type="arabicPeriod"/>
            </a:pPr>
            <a:r>
              <a:rPr lang="en-US" sz="3200" b="1" dirty="0"/>
              <a:t>Start with what you knew:</a:t>
            </a:r>
            <a:r>
              <a:rPr lang="en-US" sz="3200" dirty="0"/>
              <a:t> I have a 50/50 shot of picking Jar 1.</a:t>
            </a:r>
          </a:p>
          <a:p>
            <a:pPr>
              <a:buFont typeface="+mj-lt"/>
              <a:buAutoNum type="arabicPeriod"/>
            </a:pPr>
            <a:endParaRPr lang="en-US" sz="3200" dirty="0"/>
          </a:p>
          <a:p>
            <a:pPr>
              <a:buFont typeface="+mj-lt"/>
              <a:buAutoNum type="arabicPeriod"/>
            </a:pPr>
            <a:r>
              <a:rPr lang="en-US" sz="3200" b="1" dirty="0"/>
              <a:t>See the evidence:</a:t>
            </a:r>
            <a:r>
              <a:rPr lang="en-US" sz="3200" dirty="0"/>
              <a:t> I just pulled a chocolate cookie. Jar 1 has more of those than Jar 2.</a:t>
            </a:r>
          </a:p>
          <a:p>
            <a:pPr>
              <a:buFont typeface="+mj-lt"/>
              <a:buAutoNum type="arabicPeriod"/>
            </a:pPr>
            <a:endParaRPr lang="en-US" sz="3200" dirty="0"/>
          </a:p>
          <a:p>
            <a:pPr>
              <a:buFont typeface="+mj-lt"/>
              <a:buAutoNum type="arabicPeriod"/>
            </a:pPr>
            <a:r>
              <a:rPr lang="en-US" sz="3200" b="1" dirty="0"/>
              <a:t>Update the belief:</a:t>
            </a:r>
            <a:r>
              <a:rPr lang="en-US" sz="3200" dirty="0"/>
              <a:t> Since Jar 1 is 'better' at producing chocolate cookies, my 50% confidence should go up. Bayes tells us exactly how much it goes up (to 60%).</a:t>
            </a:r>
          </a:p>
        </p:txBody>
      </p:sp>
    </p:spTree>
    <p:extLst>
      <p:ext uri="{BB962C8B-B14F-4D97-AF65-F5344CB8AC3E}">
        <p14:creationId xmlns:p14="http://schemas.microsoft.com/office/powerpoint/2010/main" val="29923489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FE99EB-6963-264A-84E7-D157C831EF95}"/>
                  </a:ext>
                </a:extLst>
              </p:cNvPr>
              <p:cNvSpPr txBox="1"/>
              <p:nvPr/>
            </p:nvSpPr>
            <p:spPr>
              <a:xfrm>
                <a:off x="329292" y="1462092"/>
                <a:ext cx="8956221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800" b="1" dirty="0"/>
                  <a:t>What’s the probability a survivor was female?</a:t>
                </a:r>
                <a:endParaRPr lang="en-US" sz="2800" dirty="0"/>
              </a:p>
              <a:p>
                <a:pPr>
                  <a:buNone/>
                </a:pPr>
                <a:r>
                  <a:rPr lang="en-US" sz="2800" dirty="0"/>
                  <a:t>That’s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𝐹𝑒𝑚𝑎𝑙𝑒</m:t>
                        </m:r>
                        <m:r>
                          <a:rPr lang="ar-AE" sz="2800" i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𝑆𝑢𝑟𝑣𝑖𝑣𝑒𝑑</m:t>
                        </m:r>
                      </m:e>
                    </m:d>
                  </m:oMath>
                </a14:m>
                <a:endParaRPr lang="ar-AE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FE99EB-6963-264A-84E7-D157C831E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92" y="1462092"/>
                <a:ext cx="8956221" cy="954107"/>
              </a:xfrm>
              <a:prstGeom prst="rect">
                <a:avLst/>
              </a:prstGeom>
              <a:blipFill>
                <a:blip r:embed="rId2"/>
                <a:stretch>
                  <a:fillRect l="-1361" t="-7051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8B9B2B94-80F0-3E53-77FF-D396BB97695C}"/>
              </a:ext>
            </a:extLst>
          </p:cNvPr>
          <p:cNvSpPr txBox="1">
            <a:spLocks/>
          </p:cNvSpPr>
          <p:nvPr/>
        </p:nvSpPr>
        <p:spPr>
          <a:xfrm>
            <a:off x="4103913" y="217297"/>
            <a:ext cx="68503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Baye’s theorem example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B968ED-CA90-A48C-56AB-325B272AB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68" y="2866575"/>
            <a:ext cx="9050703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4282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FE265-9529-08FB-A853-5B7072BC9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51C7DD6-2CF8-43FE-7269-2AE74AEDCAF2}"/>
              </a:ext>
            </a:extLst>
          </p:cNvPr>
          <p:cNvSpPr txBox="1">
            <a:spLocks/>
          </p:cNvSpPr>
          <p:nvPr/>
        </p:nvSpPr>
        <p:spPr>
          <a:xfrm>
            <a:off x="4103913" y="217297"/>
            <a:ext cx="68503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Difference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5924688-70E8-A547-9519-F3EB4283D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444519"/>
              </p:ext>
            </p:extLst>
          </p:nvPr>
        </p:nvGraphicFramePr>
        <p:xfrm>
          <a:off x="438704" y="1066800"/>
          <a:ext cx="10515600" cy="47244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90286169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2778387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09089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dirty="0"/>
                        <a:t>Conditional Probability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dirty="0"/>
                        <a:t>Bayes’ Theorem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49474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Definition</a:t>
                      </a: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Probability of A given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Updates probability of A after B is observed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54218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Purpose</a:t>
                      </a: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Direct computation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Reversing or updating beliefs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485282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Focus</a:t>
                      </a: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Descriptive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Inference / learning from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80436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Use Case</a:t>
                      </a: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"If it’s raining, what’s the chance the ground is wet?"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"The ground is wet — what’s the chance it rained?"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155148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14872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F1030-9CD0-1240-3950-D8F56A05B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951A195-4346-45AB-3A24-8512E8CA2F6C}"/>
              </a:ext>
            </a:extLst>
          </p:cNvPr>
          <p:cNvSpPr txBox="1">
            <a:spLocks/>
          </p:cNvSpPr>
          <p:nvPr/>
        </p:nvSpPr>
        <p:spPr>
          <a:xfrm>
            <a:off x="2623457" y="217297"/>
            <a:ext cx="83308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Multiple Choice Questions (MCQs)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3D41CA-8F84-975E-86E7-F2666CF267A6}"/>
              </a:ext>
            </a:extLst>
          </p:cNvPr>
          <p:cNvSpPr txBox="1">
            <a:spLocks/>
          </p:cNvSpPr>
          <p:nvPr/>
        </p:nvSpPr>
        <p:spPr>
          <a:xfrm>
            <a:off x="438705" y="1253331"/>
            <a:ext cx="10515600" cy="43513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Q1:</a:t>
            </a:r>
            <a:r>
              <a:rPr lang="en-US" dirty="0"/>
              <a:t> If events A and B are independent, P(A ∩ B) is:</a:t>
            </a:r>
            <a:br>
              <a:rPr lang="en-US" dirty="0"/>
            </a:br>
            <a:r>
              <a:rPr lang="en-US" dirty="0"/>
              <a:t>A) P(A) + P(B)</a:t>
            </a:r>
            <a:br>
              <a:rPr lang="en-US" dirty="0"/>
            </a:br>
            <a:r>
              <a:rPr lang="en-US" dirty="0"/>
              <a:t>B) P(A) – P(B)</a:t>
            </a:r>
            <a:br>
              <a:rPr lang="en-US" dirty="0"/>
            </a:br>
            <a:r>
              <a:rPr lang="en-US" dirty="0"/>
              <a:t>C) P(A) × P(B) </a:t>
            </a:r>
            <a:br>
              <a:rPr lang="en-US" dirty="0"/>
            </a:br>
            <a:r>
              <a:rPr lang="en-US" dirty="0"/>
              <a:t>D) None of the above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404040"/>
                </a:solidFill>
                <a:latin typeface="DeepSeek-CJK-patch"/>
              </a:rPr>
              <a:t>Q2: What is the sample space for a coin toss?</a:t>
            </a:r>
            <a:br>
              <a:rPr lang="en-US" dirty="0"/>
            </a:br>
            <a:r>
              <a:rPr lang="en-US" dirty="0">
                <a:solidFill>
                  <a:srgbClr val="404040"/>
                </a:solidFill>
                <a:latin typeface="DeepSeek-CJK-patch"/>
              </a:rPr>
              <a:t>A) {H, T}</a:t>
            </a:r>
            <a:br>
              <a:rPr lang="en-US" dirty="0"/>
            </a:br>
            <a:r>
              <a:rPr lang="en-US" dirty="0">
                <a:solidFill>
                  <a:srgbClr val="404040"/>
                </a:solidFill>
                <a:latin typeface="DeepSeek-CJK-patch"/>
              </a:rPr>
              <a:t>B) {1, 2}</a:t>
            </a:r>
            <a:br>
              <a:rPr lang="en-US" dirty="0"/>
            </a:br>
            <a:r>
              <a:rPr lang="en-US" dirty="0">
                <a:solidFill>
                  <a:srgbClr val="404040"/>
                </a:solidFill>
                <a:latin typeface="DeepSeek-CJK-patch"/>
              </a:rPr>
              <a:t>C) {Red, Black}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6102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BD7B1-DE66-2A70-9441-A4D9EA811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CD102-CBE3-629B-0142-74A52F6CFAF2}"/>
              </a:ext>
            </a:extLst>
          </p:cNvPr>
          <p:cNvSpPr txBox="1">
            <a:spLocks/>
          </p:cNvSpPr>
          <p:nvPr/>
        </p:nvSpPr>
        <p:spPr>
          <a:xfrm>
            <a:off x="2623457" y="217297"/>
            <a:ext cx="83308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Multiple Choice Questions (MCQs)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7C130-CCC1-5FAF-0AF6-9DC13FF7CFED}"/>
              </a:ext>
            </a:extLst>
          </p:cNvPr>
          <p:cNvSpPr txBox="1">
            <a:spLocks/>
          </p:cNvSpPr>
          <p:nvPr/>
        </p:nvSpPr>
        <p:spPr>
          <a:xfrm>
            <a:off x="438705" y="1253331"/>
            <a:ext cx="10515600" cy="43513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Q1:</a:t>
            </a:r>
            <a:r>
              <a:rPr lang="en-US"/>
              <a:t> If events A and B are independent, P(A ∩ B) is:</a:t>
            </a:r>
            <a:br>
              <a:rPr lang="en-US"/>
            </a:br>
            <a:r>
              <a:rPr lang="en-US"/>
              <a:t>A) P(A) + P(B)</a:t>
            </a:r>
            <a:br>
              <a:rPr lang="en-US"/>
            </a:br>
            <a:r>
              <a:rPr lang="en-US"/>
              <a:t>B) P(A) – P(B)</a:t>
            </a:r>
            <a:br>
              <a:rPr lang="en-US"/>
            </a:br>
            <a:r>
              <a:rPr lang="en-US"/>
              <a:t>C) P(A) × P(B) ✅</a:t>
            </a:r>
            <a:br>
              <a:rPr lang="en-US"/>
            </a:br>
            <a:r>
              <a:rPr lang="en-US"/>
              <a:t>D) None of the above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olidFill>
                  <a:srgbClr val="404040"/>
                </a:solidFill>
                <a:latin typeface="DeepSeek-CJK-patch"/>
              </a:rPr>
              <a:t>Q2: What is the sample space for a coin toss?</a:t>
            </a:r>
            <a:br>
              <a:rPr lang="en-US"/>
            </a:br>
            <a:r>
              <a:rPr lang="en-US">
                <a:solidFill>
                  <a:srgbClr val="404040"/>
                </a:solidFill>
                <a:latin typeface="DeepSeek-CJK-patch"/>
              </a:rPr>
              <a:t>A) {H, T}</a:t>
            </a:r>
            <a:br>
              <a:rPr lang="en-US"/>
            </a:br>
            <a:r>
              <a:rPr lang="en-US">
                <a:solidFill>
                  <a:srgbClr val="404040"/>
                </a:solidFill>
                <a:latin typeface="DeepSeek-CJK-patch"/>
              </a:rPr>
              <a:t>B) {1, 2}</a:t>
            </a:r>
            <a:br>
              <a:rPr lang="en-US"/>
            </a:br>
            <a:r>
              <a:rPr lang="en-US">
                <a:solidFill>
                  <a:srgbClr val="404040"/>
                </a:solidFill>
                <a:latin typeface="DeepSeek-CJK-patch"/>
              </a:rPr>
              <a:t>C) {Red, Black}</a:t>
            </a:r>
            <a:br>
              <a:rPr lang="en-US"/>
            </a:br>
            <a:r>
              <a:rPr lang="en-US" b="1">
                <a:solidFill>
                  <a:srgbClr val="404040"/>
                </a:solidFill>
                <a:latin typeface="DeepSeek-CJK-patch"/>
              </a:rPr>
              <a:t>Answer:</a:t>
            </a:r>
            <a:r>
              <a:rPr lang="en-US">
                <a:solidFill>
                  <a:srgbClr val="404040"/>
                </a:solidFill>
                <a:latin typeface="DeepSeek-CJK-patch"/>
              </a:rPr>
              <a:t> A) {H, T}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5009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58974-99FB-3720-754B-A84E5788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41BF9BA-6723-0FB9-52FA-08701D972DCC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D9212B"/>
                </a:solidFill>
                <a:effectLst/>
                <a:uLnTx/>
                <a:uFillTx/>
                <a:latin typeface="Avenir Next LT Pro" panose="020B0504020202020204" pitchFamily="34" charset="0"/>
                <a:ea typeface="+mj-ea"/>
                <a:cs typeface="Arial" pitchFamily="34" charset="0"/>
              </a:rPr>
              <a:t>Session Summary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D9212B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BE93AF-E7B5-D045-8429-AD60E786E755}"/>
              </a:ext>
            </a:extLst>
          </p:cNvPr>
          <p:cNvSpPr txBox="1"/>
          <p:nvPr/>
        </p:nvSpPr>
        <p:spPr>
          <a:xfrm>
            <a:off x="1218460" y="2305520"/>
            <a:ext cx="6147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itchFamily="34" charset="0"/>
              </a:rPr>
              <a:t>In this session, we have discussed about: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56DF94-CA52-B7EB-45DA-7C50E631ABE5}"/>
              </a:ext>
            </a:extLst>
          </p:cNvPr>
          <p:cNvSpPr txBox="1">
            <a:spLocks/>
          </p:cNvSpPr>
          <p:nvPr/>
        </p:nvSpPr>
        <p:spPr>
          <a:xfrm>
            <a:off x="864832" y="2819400"/>
            <a:ext cx="10717567" cy="339634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rgbClr val="404040"/>
                </a:solidFill>
                <a:latin typeface="DeepSeek-CJK-patch"/>
              </a:rPr>
              <a:t>Define</a:t>
            </a:r>
            <a:r>
              <a:rPr lang="en-US">
                <a:solidFill>
                  <a:srgbClr val="404040"/>
                </a:solidFill>
                <a:latin typeface="DeepSeek-CJK-patch"/>
              </a:rPr>
              <a:t> probability, sample space, and events.</a:t>
            </a:r>
          </a:p>
          <a:p>
            <a:endParaRPr lang="en-US">
              <a:solidFill>
                <a:srgbClr val="404040"/>
              </a:solidFill>
              <a:latin typeface="DeepSeek-CJK-patch"/>
            </a:endParaRPr>
          </a:p>
          <a:p>
            <a:pPr>
              <a:spcBef>
                <a:spcPts val="300"/>
              </a:spcBef>
            </a:pPr>
            <a:r>
              <a:rPr lang="en-US">
                <a:solidFill>
                  <a:srgbClr val="404040"/>
                </a:solidFill>
                <a:latin typeface="DeepSeek-CJK-patch"/>
              </a:rPr>
              <a:t>Understand key properties of probability.</a:t>
            </a:r>
          </a:p>
          <a:p>
            <a:pPr>
              <a:spcBef>
                <a:spcPts val="300"/>
              </a:spcBef>
            </a:pPr>
            <a:endParaRPr lang="en-US" b="1">
              <a:solidFill>
                <a:srgbClr val="404040"/>
              </a:solidFill>
              <a:latin typeface="DeepSeek-CJK-patch"/>
            </a:endParaRPr>
          </a:p>
          <a:p>
            <a:pPr>
              <a:spcBef>
                <a:spcPts val="300"/>
              </a:spcBef>
            </a:pPr>
            <a:r>
              <a:rPr lang="en-US" b="1">
                <a:solidFill>
                  <a:srgbClr val="404040"/>
                </a:solidFill>
                <a:latin typeface="DeepSeek-CJK-patch"/>
              </a:rPr>
              <a:t>Calculate</a:t>
            </a:r>
            <a:r>
              <a:rPr lang="en-US">
                <a:solidFill>
                  <a:srgbClr val="404040"/>
                </a:solidFill>
                <a:latin typeface="DeepSeek-CJK-patch"/>
              </a:rPr>
              <a:t> probabilities for dice, coins, and cards </a:t>
            </a:r>
            <a:r>
              <a:rPr lang="en-US" b="1">
                <a:solidFill>
                  <a:srgbClr val="404040"/>
                </a:solidFill>
                <a:latin typeface="DeepSeek-CJK-patch"/>
              </a:rPr>
              <a:t>with step-by-step solutions</a:t>
            </a:r>
            <a:r>
              <a:rPr lang="en-US">
                <a:solidFill>
                  <a:srgbClr val="404040"/>
                </a:solidFill>
                <a:latin typeface="DeepSeek-CJK-patch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3594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59546-DE86-A91D-D6C0-4DC694BE7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FE865F2-B3CB-A157-5545-C09B44282D58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Reference Links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6448FF5-C12F-7CD4-DA8D-FBF82FEE1569}"/>
              </a:ext>
            </a:extLst>
          </p:cNvPr>
          <p:cNvSpPr txBox="1">
            <a:spLocks/>
          </p:cNvSpPr>
          <p:nvPr/>
        </p:nvSpPr>
        <p:spPr>
          <a:xfrm>
            <a:off x="622300" y="1160003"/>
            <a:ext cx="10947400" cy="496865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hlinkClick r:id="rId2"/>
              </a:rPr>
              <a:t>10 Must-Know Probability Concepts for Every Aspiring Statistician and Data Scientist</a:t>
            </a:r>
            <a:endParaRPr lang="en-US" dirty="0"/>
          </a:p>
          <a:p>
            <a:endParaRPr lang="en-US" dirty="0"/>
          </a:p>
          <a:p>
            <a:r>
              <a:rPr lang="en-US" u="sng" dirty="0">
                <a:hlinkClick r:id="rId3"/>
              </a:rPr>
              <a:t>Mastering Credit Risk Analysis: A Step-by-Step Guide to Descriptive Statistics in Python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linkClick r:id="rId4"/>
              </a:rPr>
              <a:t>10 Statistical Concepts Every Aspiring Data Scientist Should Know — The </a:t>
            </a:r>
            <a:r>
              <a:rPr lang="en-US" dirty="0" err="1">
                <a:hlinkClick r:id="rId4"/>
              </a:rPr>
              <a:t>Davangers</a:t>
            </a:r>
            <a:r>
              <a:rPr lang="en-US" dirty="0">
                <a:hlinkClick r:id="rId4"/>
              </a:rPr>
              <a:t>’ Guide!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linkClick r:id="rId5"/>
              </a:rPr>
              <a:t>Top 20 Interview Questions on Descriptive and Inferential Statistics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linkClick r:id="rId6"/>
              </a:rPr>
              <a:t>10 Must-Know Statistics Interview Questions (With Real Examples &amp; Formulas!)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7087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8C9DB-1243-8917-3E48-68F815A48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uilding with a large square structure&#10;&#10;AI-generated content may be incorrect.">
            <a:extLst>
              <a:ext uri="{FF2B5EF4-FFF2-40B4-BE49-F238E27FC236}">
                <a16:creationId xmlns:a16="http://schemas.microsoft.com/office/drawing/2014/main" id="{B6BE01BD-3DAC-F870-8EC1-54E7EA800B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1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244" y="-3712171"/>
            <a:ext cx="12286488" cy="108400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E61552-9547-D4A5-64B9-3FC2792844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29"/>
          <a:stretch>
            <a:fillRect/>
          </a:stretch>
        </p:blipFill>
        <p:spPr>
          <a:xfrm>
            <a:off x="266700" y="86360"/>
            <a:ext cx="2347089" cy="6248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02A5AA-EA6D-A358-BDB0-EBEA5D7898D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19" r="51933"/>
          <a:stretch>
            <a:fillRect/>
          </a:stretch>
        </p:blipFill>
        <p:spPr>
          <a:xfrm>
            <a:off x="10202069" y="124460"/>
            <a:ext cx="2163416" cy="6248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260C9D-F6A2-8648-CD70-A21AC50214E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311316" y="4833449"/>
            <a:ext cx="3569368" cy="4462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dirty="0">
                <a:solidFill>
                  <a:srgbClr val="C00000"/>
                </a:solidFill>
                <a:latin typeface="Montserrat Bold" pitchFamily="2" charset="0"/>
              </a:rPr>
              <a:t>For any Query:</a:t>
            </a:r>
            <a:endParaRPr lang="en-IN" sz="2300" dirty="0">
              <a:solidFill>
                <a:srgbClr val="C00000"/>
              </a:solidFill>
              <a:latin typeface="Montserrat Bold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E26E7-6195-40B3-121B-6814444C791D}"/>
              </a:ext>
            </a:extLst>
          </p:cNvPr>
          <p:cNvSpPr txBox="1">
            <a:spLocks/>
          </p:cNvSpPr>
          <p:nvPr/>
        </p:nvSpPr>
        <p:spPr>
          <a:xfrm>
            <a:off x="2876550" y="5363953"/>
            <a:ext cx="6438900" cy="3847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900" dirty="0">
                <a:latin typeface="Montserrat SemiBold" pitchFamily="2" charset="0"/>
              </a:rPr>
              <a:t>Website- www.onlinecu.in</a:t>
            </a:r>
            <a:endParaRPr lang="en-IN" sz="1900" dirty="0">
              <a:latin typeface="Montserrat SemiBo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2955B1-0493-1C1D-DF37-CC783517B463}"/>
              </a:ext>
            </a:extLst>
          </p:cNvPr>
          <p:cNvSpPr txBox="1">
            <a:spLocks/>
          </p:cNvSpPr>
          <p:nvPr/>
        </p:nvSpPr>
        <p:spPr>
          <a:xfrm>
            <a:off x="2876550" y="5722217"/>
            <a:ext cx="6438900" cy="3847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900" dirty="0">
                <a:latin typeface="Montserrat SemiBold" pitchFamily="2" charset="0"/>
              </a:rPr>
              <a:t>Helpline no.: 1800 121 388 800 </a:t>
            </a:r>
            <a:endParaRPr lang="en-IN" sz="1900" dirty="0">
              <a:latin typeface="Montserrat SemiBold" pitchFamily="2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219BC1C-B8FD-B4C5-4F1A-EF8B8E99CD2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4660232" y="2519769"/>
            <a:ext cx="3879226" cy="612339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000" b="1" i="0">
                <a:solidFill>
                  <a:srgbClr val="242B34"/>
                </a:solidFill>
                <a:effectLst/>
                <a:latin typeface="Montserra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en-US" sz="4000" dirty="0">
                <a:solidFill>
                  <a:schemeClr val="tx1"/>
                </a:solidFill>
              </a:rPr>
              <a:t>THANK YOU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B7D14C-B6FF-E969-C90A-BE0B31E3188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760677" y="1903384"/>
            <a:ext cx="1363827" cy="1738069"/>
            <a:chOff x="3505200" y="1214438"/>
            <a:chExt cx="2016126" cy="3225800"/>
          </a:xfrm>
        </p:grpSpPr>
        <p:sp>
          <p:nvSpPr>
            <p:cNvPr id="13" name="Diamond 6">
              <a:extLst>
                <a:ext uri="{FF2B5EF4-FFF2-40B4-BE49-F238E27FC236}">
                  <a16:creationId xmlns:a16="http://schemas.microsoft.com/office/drawing/2014/main" id="{0FB5638E-DA82-408B-D548-520AF00325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3505200" y="1214438"/>
              <a:ext cx="1822450" cy="3225800"/>
            </a:xfrm>
            <a:custGeom>
              <a:avLst/>
              <a:gdLst>
                <a:gd name="T0" fmla="*/ 1024904 w 2430463"/>
                <a:gd name="T1" fmla="*/ 2413000 h 3225800"/>
                <a:gd name="T2" fmla="*/ 680146 w 2430463"/>
                <a:gd name="T3" fmla="*/ 3225800 h 3225800"/>
                <a:gd name="T4" fmla="*/ 0 w 2430463"/>
                <a:gd name="T5" fmla="*/ 1612900 h 3225800"/>
                <a:gd name="T6" fmla="*/ 680146 w 2430463"/>
                <a:gd name="T7" fmla="*/ 0 h 3225800"/>
                <a:gd name="T8" fmla="*/ 1024904 w 2430463"/>
                <a:gd name="T9" fmla="*/ 817563 h 32258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30463" h="3225800">
                  <a:moveTo>
                    <a:pt x="2430463" y="2413000"/>
                  </a:moveTo>
                  <a:lnTo>
                    <a:pt x="1612900" y="3225800"/>
                  </a:lnTo>
                  <a:lnTo>
                    <a:pt x="0" y="1612900"/>
                  </a:lnTo>
                  <a:lnTo>
                    <a:pt x="1612900" y="0"/>
                  </a:lnTo>
                  <a:lnTo>
                    <a:pt x="2430463" y="817563"/>
                  </a:lnTo>
                </a:path>
              </a:pathLst>
            </a:custGeom>
            <a:noFill/>
            <a:ln w="38100" cap="flat" cmpd="sng" algn="ctr">
              <a:solidFill>
                <a:srgbClr val="C00000"/>
              </a:solidFill>
              <a:prstDash val="solid"/>
              <a:miter lim="800000"/>
              <a:headEnd/>
              <a:tailEnd/>
            </a:ln>
          </p:spPr>
          <p:txBody>
            <a:bodyPr anchor="ctr"/>
            <a:lstStyle/>
            <a:p>
              <a:endParaRPr lang="en-US" dirty="0">
                <a:latin typeface="Montserrat" pitchFamily="2" charset="0"/>
              </a:endParaRPr>
            </a:p>
          </p:txBody>
        </p:sp>
        <p:sp>
          <p:nvSpPr>
            <p:cNvPr id="14" name="Diamond 6">
              <a:extLst>
                <a:ext uri="{FF2B5EF4-FFF2-40B4-BE49-F238E27FC236}">
                  <a16:creationId xmlns:a16="http://schemas.microsoft.com/office/drawing/2014/main" id="{F6A4D4F5-BE08-6D8F-3085-311D2F755A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3697289" y="1214438"/>
              <a:ext cx="1824037" cy="3225800"/>
            </a:xfrm>
            <a:custGeom>
              <a:avLst/>
              <a:gdLst>
                <a:gd name="T0" fmla="*/ 1026691 w 2430463"/>
                <a:gd name="T1" fmla="*/ 2413000 h 3225800"/>
                <a:gd name="T2" fmla="*/ 681330 w 2430463"/>
                <a:gd name="T3" fmla="*/ 3225800 h 3225800"/>
                <a:gd name="T4" fmla="*/ 0 w 2430463"/>
                <a:gd name="T5" fmla="*/ 1612900 h 3225800"/>
                <a:gd name="T6" fmla="*/ 681330 w 2430463"/>
                <a:gd name="T7" fmla="*/ 0 h 3225800"/>
                <a:gd name="T8" fmla="*/ 1026691 w 2430463"/>
                <a:gd name="T9" fmla="*/ 817563 h 32258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30463" h="3225800">
                  <a:moveTo>
                    <a:pt x="2430463" y="2413000"/>
                  </a:moveTo>
                  <a:lnTo>
                    <a:pt x="1612900" y="3225800"/>
                  </a:lnTo>
                  <a:lnTo>
                    <a:pt x="0" y="1612900"/>
                  </a:lnTo>
                  <a:lnTo>
                    <a:pt x="1612900" y="0"/>
                  </a:lnTo>
                  <a:lnTo>
                    <a:pt x="2430463" y="817563"/>
                  </a:lnTo>
                </a:path>
              </a:pathLst>
            </a:custGeom>
            <a:noFill/>
            <a:ln w="38100" cap="flat" cmpd="sng" algn="ctr">
              <a:solidFill>
                <a:srgbClr val="C00000"/>
              </a:solidFill>
              <a:prstDash val="solid"/>
              <a:miter lim="800000"/>
              <a:headEnd/>
              <a:tailEnd/>
            </a:ln>
          </p:spPr>
          <p:txBody>
            <a:bodyPr anchor="ctr"/>
            <a:lstStyle/>
            <a:p>
              <a:endParaRPr lang="en-US" dirty="0">
                <a:latin typeface="Montserra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5262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1553</TotalTime>
  <Words>1058</Words>
  <Application>Microsoft Office PowerPoint</Application>
  <PresentationFormat>Widescreen</PresentationFormat>
  <Paragraphs>134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2" baseType="lpstr">
      <vt:lpstr>Aptos</vt:lpstr>
      <vt:lpstr>Aptos Display</vt:lpstr>
      <vt:lpstr>Arial</vt:lpstr>
      <vt:lpstr>Avenir Next LT Pro</vt:lpstr>
      <vt:lpstr>Calibri</vt:lpstr>
      <vt:lpstr>Cambria Math</vt:lpstr>
      <vt:lpstr>DeepSeek-CJK-patch</vt:lpstr>
      <vt:lpstr>KaTeX_Main</vt:lpstr>
      <vt:lpstr>Montserrat</vt:lpstr>
      <vt:lpstr>Montserrat Bold</vt:lpstr>
      <vt:lpstr>Montserrat SemiBold</vt:lpstr>
      <vt:lpstr>Söhne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idol</dc:creator>
  <cp:lastModifiedBy>Vikash Singh</cp:lastModifiedBy>
  <cp:revision>83</cp:revision>
  <dcterms:created xsi:type="dcterms:W3CDTF">2025-07-09T10:39:06Z</dcterms:created>
  <dcterms:modified xsi:type="dcterms:W3CDTF">2026-03-21T15:39:58Z</dcterms:modified>
</cp:coreProperties>
</file>