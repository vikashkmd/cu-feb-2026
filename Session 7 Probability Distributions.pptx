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02" r:id="rId4"/>
    <p:sldId id="324" r:id="rId5"/>
    <p:sldId id="290" r:id="rId6"/>
    <p:sldId id="310" r:id="rId7"/>
    <p:sldId id="311" r:id="rId8"/>
    <p:sldId id="325" r:id="rId9"/>
    <p:sldId id="271" r:id="rId10"/>
    <p:sldId id="326" r:id="rId11"/>
    <p:sldId id="284" r:id="rId12"/>
    <p:sldId id="327" r:id="rId13"/>
    <p:sldId id="312" r:id="rId14"/>
    <p:sldId id="313" r:id="rId15"/>
    <p:sldId id="314" r:id="rId16"/>
    <p:sldId id="328" r:id="rId17"/>
    <p:sldId id="329" r:id="rId18"/>
    <p:sldId id="282" r:id="rId19"/>
    <p:sldId id="298" r:id="rId20"/>
    <p:sldId id="303" r:id="rId21"/>
    <p:sldId id="315" r:id="rId22"/>
    <p:sldId id="304" r:id="rId23"/>
    <p:sldId id="322" r:id="rId24"/>
    <p:sldId id="291" r:id="rId25"/>
    <p:sldId id="330" r:id="rId26"/>
    <p:sldId id="293" r:id="rId27"/>
    <p:sldId id="331" r:id="rId28"/>
    <p:sldId id="296" r:id="rId29"/>
    <p:sldId id="295" r:id="rId30"/>
    <p:sldId id="257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66" userDrawn="1">
          <p15:clr>
            <a:srgbClr val="A4A3A4"/>
          </p15:clr>
        </p15:guide>
        <p15:guide id="4" pos="75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71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172" y="52"/>
      </p:cViewPr>
      <p:guideLst>
        <p:guide orient="horz" pos="2160"/>
        <p:guide pos="3840"/>
        <p:guide pos="166"/>
        <p:guide pos="75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E20191-79D5-4E5E-B3DA-228445DE07B2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46E80D2-9696-40A9-BBD4-48BDBD501277}">
      <dgm:prSet/>
      <dgm:spPr/>
      <dgm:t>
        <a:bodyPr/>
        <a:lstStyle/>
        <a:p>
          <a:r>
            <a:rPr lang="en-US"/>
            <a:t>Discrete Distributions: Binomial, Poisson</a:t>
          </a:r>
        </a:p>
      </dgm:t>
    </dgm:pt>
    <dgm:pt modelId="{3656D5C9-2BDF-48C9-A93F-0100B3D6F134}" type="parTrans" cxnId="{F119818B-DD92-4DF6-8066-D3CA4E0B6CD3}">
      <dgm:prSet/>
      <dgm:spPr/>
      <dgm:t>
        <a:bodyPr/>
        <a:lstStyle/>
        <a:p>
          <a:endParaRPr lang="en-US" sz="2800"/>
        </a:p>
      </dgm:t>
    </dgm:pt>
    <dgm:pt modelId="{83AF8C37-AA60-482A-B9E2-2108CC2B3BE9}" type="sibTrans" cxnId="{F119818B-DD92-4DF6-8066-D3CA4E0B6CD3}">
      <dgm:prSet/>
      <dgm:spPr/>
      <dgm:t>
        <a:bodyPr/>
        <a:lstStyle/>
        <a:p>
          <a:endParaRPr lang="en-US"/>
        </a:p>
      </dgm:t>
    </dgm:pt>
    <dgm:pt modelId="{E293B620-CE18-46D3-973F-02D267B68DA9}">
      <dgm:prSet/>
      <dgm:spPr/>
      <dgm:t>
        <a:bodyPr/>
        <a:lstStyle/>
        <a:p>
          <a:r>
            <a:rPr lang="en-US"/>
            <a:t>Continuous Distributions: Normal, Exponential</a:t>
          </a:r>
        </a:p>
      </dgm:t>
    </dgm:pt>
    <dgm:pt modelId="{062945B8-70EC-44BD-BE24-8329D3EB4022}" type="parTrans" cxnId="{E64D28C5-AE1D-4FF1-B312-4F4CBD255819}">
      <dgm:prSet/>
      <dgm:spPr/>
      <dgm:t>
        <a:bodyPr/>
        <a:lstStyle/>
        <a:p>
          <a:endParaRPr lang="en-US" sz="2800"/>
        </a:p>
      </dgm:t>
    </dgm:pt>
    <dgm:pt modelId="{341ED391-2358-4341-932D-2A1FF32C07F6}" type="sibTrans" cxnId="{E64D28C5-AE1D-4FF1-B312-4F4CBD255819}">
      <dgm:prSet/>
      <dgm:spPr/>
      <dgm:t>
        <a:bodyPr/>
        <a:lstStyle/>
        <a:p>
          <a:endParaRPr lang="en-US"/>
        </a:p>
      </dgm:t>
    </dgm:pt>
    <dgm:pt modelId="{B1CD5AFC-DCBE-4294-8257-BDCF0507580A}" type="pres">
      <dgm:prSet presAssocID="{8CE20191-79D5-4E5E-B3DA-228445DE07B2}" presName="diagram" presStyleCnt="0">
        <dgm:presLayoutVars>
          <dgm:dir/>
          <dgm:resizeHandles val="exact"/>
        </dgm:presLayoutVars>
      </dgm:prSet>
      <dgm:spPr/>
    </dgm:pt>
    <dgm:pt modelId="{B9F869BE-BEBF-4D8E-83C5-8564CCED4894}" type="pres">
      <dgm:prSet presAssocID="{A46E80D2-9696-40A9-BBD4-48BDBD501277}" presName="node" presStyleLbl="node1" presStyleIdx="0" presStyleCnt="2">
        <dgm:presLayoutVars>
          <dgm:bulletEnabled val="1"/>
        </dgm:presLayoutVars>
      </dgm:prSet>
      <dgm:spPr/>
    </dgm:pt>
    <dgm:pt modelId="{C44BD1D9-6620-452F-A3FC-D2F572256911}" type="pres">
      <dgm:prSet presAssocID="{83AF8C37-AA60-482A-B9E2-2108CC2B3BE9}" presName="sibTrans" presStyleCnt="0"/>
      <dgm:spPr/>
    </dgm:pt>
    <dgm:pt modelId="{1D6D2A50-812B-478F-A79A-F5C1091095DC}" type="pres">
      <dgm:prSet presAssocID="{E293B620-CE18-46D3-973F-02D267B68DA9}" presName="node" presStyleLbl="node1" presStyleIdx="1" presStyleCnt="2">
        <dgm:presLayoutVars>
          <dgm:bulletEnabled val="1"/>
        </dgm:presLayoutVars>
      </dgm:prSet>
      <dgm:spPr/>
    </dgm:pt>
  </dgm:ptLst>
  <dgm:cxnLst>
    <dgm:cxn modelId="{4A489871-0023-4FA0-9F69-066CA56DEA8D}" type="presOf" srcId="{E293B620-CE18-46D3-973F-02D267B68DA9}" destId="{1D6D2A50-812B-478F-A79A-F5C1091095DC}" srcOrd="0" destOrd="0" presId="urn:microsoft.com/office/officeart/2005/8/layout/default"/>
    <dgm:cxn modelId="{12137082-3AC5-4362-8E47-6DAC3A09EF69}" type="presOf" srcId="{8CE20191-79D5-4E5E-B3DA-228445DE07B2}" destId="{B1CD5AFC-DCBE-4294-8257-BDCF0507580A}" srcOrd="0" destOrd="0" presId="urn:microsoft.com/office/officeart/2005/8/layout/default"/>
    <dgm:cxn modelId="{F119818B-DD92-4DF6-8066-D3CA4E0B6CD3}" srcId="{8CE20191-79D5-4E5E-B3DA-228445DE07B2}" destId="{A46E80D2-9696-40A9-BBD4-48BDBD501277}" srcOrd="0" destOrd="0" parTransId="{3656D5C9-2BDF-48C9-A93F-0100B3D6F134}" sibTransId="{83AF8C37-AA60-482A-B9E2-2108CC2B3BE9}"/>
    <dgm:cxn modelId="{F96C0CBE-AAD4-48E5-B0B0-8963E1EA0BBE}" type="presOf" srcId="{A46E80D2-9696-40A9-BBD4-48BDBD501277}" destId="{B9F869BE-BEBF-4D8E-83C5-8564CCED4894}" srcOrd="0" destOrd="0" presId="urn:microsoft.com/office/officeart/2005/8/layout/default"/>
    <dgm:cxn modelId="{E64D28C5-AE1D-4FF1-B312-4F4CBD255819}" srcId="{8CE20191-79D5-4E5E-B3DA-228445DE07B2}" destId="{E293B620-CE18-46D3-973F-02D267B68DA9}" srcOrd="1" destOrd="0" parTransId="{062945B8-70EC-44BD-BE24-8329D3EB4022}" sibTransId="{341ED391-2358-4341-932D-2A1FF32C07F6}"/>
    <dgm:cxn modelId="{FC034919-841E-47D9-B888-406AD784CE39}" type="presParOf" srcId="{B1CD5AFC-DCBE-4294-8257-BDCF0507580A}" destId="{B9F869BE-BEBF-4D8E-83C5-8564CCED4894}" srcOrd="0" destOrd="0" presId="urn:microsoft.com/office/officeart/2005/8/layout/default"/>
    <dgm:cxn modelId="{C454750A-7FCD-461A-B82E-9D7F49415E27}" type="presParOf" srcId="{B1CD5AFC-DCBE-4294-8257-BDCF0507580A}" destId="{C44BD1D9-6620-452F-A3FC-D2F572256911}" srcOrd="1" destOrd="0" presId="urn:microsoft.com/office/officeart/2005/8/layout/default"/>
    <dgm:cxn modelId="{FEDF7B10-84B9-4397-944F-D9EC150776ED}" type="presParOf" srcId="{B1CD5AFC-DCBE-4294-8257-BDCF0507580A}" destId="{1D6D2A50-812B-478F-A79A-F5C1091095DC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0B3CF3-4DA9-4DAD-92DE-4AB48AEA458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202E6DC-E840-4A7C-8DCB-74CB01A0F4D4}">
      <dgm:prSet/>
      <dgm:spPr/>
      <dgm:t>
        <a:bodyPr/>
        <a:lstStyle/>
        <a:p>
          <a:pPr>
            <a:defRPr cap="all"/>
          </a:pPr>
          <a:r>
            <a:rPr lang="en-US"/>
            <a:t>Binomial: fixed trials, yes/no</a:t>
          </a:r>
        </a:p>
      </dgm:t>
    </dgm:pt>
    <dgm:pt modelId="{211FFB38-06A4-4D4C-A16A-46C361D97EFB}" type="parTrans" cxnId="{F883DBE4-4C2A-42B6-8B34-1BB624F90AC9}">
      <dgm:prSet/>
      <dgm:spPr/>
      <dgm:t>
        <a:bodyPr/>
        <a:lstStyle/>
        <a:p>
          <a:endParaRPr lang="en-US"/>
        </a:p>
      </dgm:t>
    </dgm:pt>
    <dgm:pt modelId="{907CC9BD-6C43-4367-94DE-F960C6F179AA}" type="sibTrans" cxnId="{F883DBE4-4C2A-42B6-8B34-1BB624F90AC9}">
      <dgm:prSet/>
      <dgm:spPr/>
      <dgm:t>
        <a:bodyPr/>
        <a:lstStyle/>
        <a:p>
          <a:endParaRPr lang="en-US"/>
        </a:p>
      </dgm:t>
    </dgm:pt>
    <dgm:pt modelId="{011B9D05-5A5F-4C6E-86AB-6317733475B6}">
      <dgm:prSet/>
      <dgm:spPr/>
      <dgm:t>
        <a:bodyPr/>
        <a:lstStyle/>
        <a:p>
          <a:pPr>
            <a:defRPr cap="all"/>
          </a:pPr>
          <a:r>
            <a:rPr lang="en-US"/>
            <a:t>Poisson: rare events over time</a:t>
          </a:r>
        </a:p>
      </dgm:t>
    </dgm:pt>
    <dgm:pt modelId="{AEDDD25B-9EAC-43C5-9024-B1F261D1BC15}" type="parTrans" cxnId="{C1D2F78D-7FC4-466B-9195-CE3235016B84}">
      <dgm:prSet/>
      <dgm:spPr/>
      <dgm:t>
        <a:bodyPr/>
        <a:lstStyle/>
        <a:p>
          <a:endParaRPr lang="en-US"/>
        </a:p>
      </dgm:t>
    </dgm:pt>
    <dgm:pt modelId="{9F00C446-F41B-447E-A680-BDBF5BB157D3}" type="sibTrans" cxnId="{C1D2F78D-7FC4-466B-9195-CE3235016B84}">
      <dgm:prSet/>
      <dgm:spPr/>
      <dgm:t>
        <a:bodyPr/>
        <a:lstStyle/>
        <a:p>
          <a:endParaRPr lang="en-US"/>
        </a:p>
      </dgm:t>
    </dgm:pt>
    <dgm:pt modelId="{67D3F84B-87DD-4C55-A4BF-62063AC8C489}">
      <dgm:prSet/>
      <dgm:spPr/>
      <dgm:t>
        <a:bodyPr/>
        <a:lstStyle/>
        <a:p>
          <a:pPr>
            <a:defRPr cap="all"/>
          </a:pPr>
          <a:r>
            <a:rPr lang="en-US"/>
            <a:t>Normal: continuous data, bell curve</a:t>
          </a:r>
        </a:p>
      </dgm:t>
    </dgm:pt>
    <dgm:pt modelId="{E964A71E-33DF-4018-A8E2-98D50EE47276}" type="parTrans" cxnId="{844083B7-6BD6-4A34-8A17-604BBC571A4F}">
      <dgm:prSet/>
      <dgm:spPr/>
      <dgm:t>
        <a:bodyPr/>
        <a:lstStyle/>
        <a:p>
          <a:endParaRPr lang="en-US"/>
        </a:p>
      </dgm:t>
    </dgm:pt>
    <dgm:pt modelId="{F08D4CC0-3AB3-41F3-9E21-75B76789000F}" type="sibTrans" cxnId="{844083B7-6BD6-4A34-8A17-604BBC571A4F}">
      <dgm:prSet/>
      <dgm:spPr/>
      <dgm:t>
        <a:bodyPr/>
        <a:lstStyle/>
        <a:p>
          <a:endParaRPr lang="en-US"/>
        </a:p>
      </dgm:t>
    </dgm:pt>
    <dgm:pt modelId="{F291F4A5-C0B5-4241-8EB5-6AE213FA9328}" type="pres">
      <dgm:prSet presAssocID="{E40B3CF3-4DA9-4DAD-92DE-4AB48AEA458D}" presName="root" presStyleCnt="0">
        <dgm:presLayoutVars>
          <dgm:dir/>
          <dgm:resizeHandles val="exact"/>
        </dgm:presLayoutVars>
      </dgm:prSet>
      <dgm:spPr/>
    </dgm:pt>
    <dgm:pt modelId="{3CF4691D-DB62-4EE9-9571-C68B43304356}" type="pres">
      <dgm:prSet presAssocID="{6202E6DC-E840-4A7C-8DCB-74CB01A0F4D4}" presName="compNode" presStyleCnt="0"/>
      <dgm:spPr/>
    </dgm:pt>
    <dgm:pt modelId="{596EAA39-3A1D-47AB-9D25-BFE7EC566BD5}" type="pres">
      <dgm:prSet presAssocID="{6202E6DC-E840-4A7C-8DCB-74CB01A0F4D4}" presName="iconBgRect" presStyleLbl="bgShp" presStyleIdx="0" presStyleCnt="3"/>
      <dgm:spPr/>
    </dgm:pt>
    <dgm:pt modelId="{3263AABD-E461-4C19-93B5-18EDC6BEE13E}" type="pres">
      <dgm:prSet presAssocID="{6202E6DC-E840-4A7C-8DCB-74CB01A0F4D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rbage"/>
        </a:ext>
      </dgm:extLst>
    </dgm:pt>
    <dgm:pt modelId="{9FA19ABF-1803-46D3-BE03-30AFCEE0158C}" type="pres">
      <dgm:prSet presAssocID="{6202E6DC-E840-4A7C-8DCB-74CB01A0F4D4}" presName="spaceRect" presStyleCnt="0"/>
      <dgm:spPr/>
    </dgm:pt>
    <dgm:pt modelId="{8844FE85-AEF7-4B14-AAE8-1094B87B99D7}" type="pres">
      <dgm:prSet presAssocID="{6202E6DC-E840-4A7C-8DCB-74CB01A0F4D4}" presName="textRect" presStyleLbl="revTx" presStyleIdx="0" presStyleCnt="3">
        <dgm:presLayoutVars>
          <dgm:chMax val="1"/>
          <dgm:chPref val="1"/>
        </dgm:presLayoutVars>
      </dgm:prSet>
      <dgm:spPr/>
    </dgm:pt>
    <dgm:pt modelId="{3760713B-FA72-4833-B9B8-CEA6595F06A2}" type="pres">
      <dgm:prSet presAssocID="{907CC9BD-6C43-4367-94DE-F960C6F179AA}" presName="sibTrans" presStyleCnt="0"/>
      <dgm:spPr/>
    </dgm:pt>
    <dgm:pt modelId="{EB588C2F-02D3-4703-B462-5C4CA4027A81}" type="pres">
      <dgm:prSet presAssocID="{011B9D05-5A5F-4C6E-86AB-6317733475B6}" presName="compNode" presStyleCnt="0"/>
      <dgm:spPr/>
    </dgm:pt>
    <dgm:pt modelId="{FF0B5243-58EA-4798-A54F-06C314B7730B}" type="pres">
      <dgm:prSet presAssocID="{011B9D05-5A5F-4C6E-86AB-6317733475B6}" presName="iconBgRect" presStyleLbl="bgShp" presStyleIdx="1" presStyleCnt="3"/>
      <dgm:spPr/>
    </dgm:pt>
    <dgm:pt modelId="{9B54A11A-4208-48CE-AE07-45A13F98C410}" type="pres">
      <dgm:prSet presAssocID="{011B9D05-5A5F-4C6E-86AB-6317733475B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hole Pizza"/>
        </a:ext>
      </dgm:extLst>
    </dgm:pt>
    <dgm:pt modelId="{510E1F88-603C-4961-ABEC-D6964B983A38}" type="pres">
      <dgm:prSet presAssocID="{011B9D05-5A5F-4C6E-86AB-6317733475B6}" presName="spaceRect" presStyleCnt="0"/>
      <dgm:spPr/>
    </dgm:pt>
    <dgm:pt modelId="{6186644B-F8E6-4F82-A414-7294124F0EF0}" type="pres">
      <dgm:prSet presAssocID="{011B9D05-5A5F-4C6E-86AB-6317733475B6}" presName="textRect" presStyleLbl="revTx" presStyleIdx="1" presStyleCnt="3">
        <dgm:presLayoutVars>
          <dgm:chMax val="1"/>
          <dgm:chPref val="1"/>
        </dgm:presLayoutVars>
      </dgm:prSet>
      <dgm:spPr/>
    </dgm:pt>
    <dgm:pt modelId="{04181551-78A8-4108-8162-27191A02F177}" type="pres">
      <dgm:prSet presAssocID="{9F00C446-F41B-447E-A680-BDBF5BB157D3}" presName="sibTrans" presStyleCnt="0"/>
      <dgm:spPr/>
    </dgm:pt>
    <dgm:pt modelId="{813F511D-DE69-42AD-A18E-B4422A216D25}" type="pres">
      <dgm:prSet presAssocID="{67D3F84B-87DD-4C55-A4BF-62063AC8C489}" presName="compNode" presStyleCnt="0"/>
      <dgm:spPr/>
    </dgm:pt>
    <dgm:pt modelId="{9FC8642B-7641-4FCF-9485-E1E131035764}" type="pres">
      <dgm:prSet presAssocID="{67D3F84B-87DD-4C55-A4BF-62063AC8C489}" presName="iconBgRect" presStyleLbl="bgShp" presStyleIdx="2" presStyleCnt="3"/>
      <dgm:spPr/>
    </dgm:pt>
    <dgm:pt modelId="{FE658148-441B-4068-876A-0AEAC662F3A1}" type="pres">
      <dgm:prSet presAssocID="{67D3F84B-87DD-4C55-A4BF-62063AC8C48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nger"/>
        </a:ext>
      </dgm:extLst>
    </dgm:pt>
    <dgm:pt modelId="{39DAF5B7-6F46-4D79-B3D2-2953D8AC3515}" type="pres">
      <dgm:prSet presAssocID="{67D3F84B-87DD-4C55-A4BF-62063AC8C489}" presName="spaceRect" presStyleCnt="0"/>
      <dgm:spPr/>
    </dgm:pt>
    <dgm:pt modelId="{9BB9124D-B0F3-435E-9CDB-8DF98D492015}" type="pres">
      <dgm:prSet presAssocID="{67D3F84B-87DD-4C55-A4BF-62063AC8C48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CA4E53C-268E-4CD6-A054-4AD597D48FFA}" type="presOf" srcId="{6202E6DC-E840-4A7C-8DCB-74CB01A0F4D4}" destId="{8844FE85-AEF7-4B14-AAE8-1094B87B99D7}" srcOrd="0" destOrd="0" presId="urn:microsoft.com/office/officeart/2018/5/layout/IconCircleLabelList"/>
    <dgm:cxn modelId="{745B8E56-3BA3-4D4C-B076-939A9026652F}" type="presOf" srcId="{67D3F84B-87DD-4C55-A4BF-62063AC8C489}" destId="{9BB9124D-B0F3-435E-9CDB-8DF98D492015}" srcOrd="0" destOrd="0" presId="urn:microsoft.com/office/officeart/2018/5/layout/IconCircleLabelList"/>
    <dgm:cxn modelId="{C1D2F78D-7FC4-466B-9195-CE3235016B84}" srcId="{E40B3CF3-4DA9-4DAD-92DE-4AB48AEA458D}" destId="{011B9D05-5A5F-4C6E-86AB-6317733475B6}" srcOrd="1" destOrd="0" parTransId="{AEDDD25B-9EAC-43C5-9024-B1F261D1BC15}" sibTransId="{9F00C446-F41B-447E-A680-BDBF5BB157D3}"/>
    <dgm:cxn modelId="{E0706BA4-5C5B-43B1-B292-03634026F414}" type="presOf" srcId="{011B9D05-5A5F-4C6E-86AB-6317733475B6}" destId="{6186644B-F8E6-4F82-A414-7294124F0EF0}" srcOrd="0" destOrd="0" presId="urn:microsoft.com/office/officeart/2018/5/layout/IconCircleLabelList"/>
    <dgm:cxn modelId="{844083B7-6BD6-4A34-8A17-604BBC571A4F}" srcId="{E40B3CF3-4DA9-4DAD-92DE-4AB48AEA458D}" destId="{67D3F84B-87DD-4C55-A4BF-62063AC8C489}" srcOrd="2" destOrd="0" parTransId="{E964A71E-33DF-4018-A8E2-98D50EE47276}" sibTransId="{F08D4CC0-3AB3-41F3-9E21-75B76789000F}"/>
    <dgm:cxn modelId="{6CBE7EB8-9D26-4BE1-9A74-FC08EC4679C9}" type="presOf" srcId="{E40B3CF3-4DA9-4DAD-92DE-4AB48AEA458D}" destId="{F291F4A5-C0B5-4241-8EB5-6AE213FA9328}" srcOrd="0" destOrd="0" presId="urn:microsoft.com/office/officeart/2018/5/layout/IconCircleLabelList"/>
    <dgm:cxn modelId="{F883DBE4-4C2A-42B6-8B34-1BB624F90AC9}" srcId="{E40B3CF3-4DA9-4DAD-92DE-4AB48AEA458D}" destId="{6202E6DC-E840-4A7C-8DCB-74CB01A0F4D4}" srcOrd="0" destOrd="0" parTransId="{211FFB38-06A4-4D4C-A16A-46C361D97EFB}" sibTransId="{907CC9BD-6C43-4367-94DE-F960C6F179AA}"/>
    <dgm:cxn modelId="{754483FC-663F-4407-8B28-AF36A5F8808A}" type="presParOf" srcId="{F291F4A5-C0B5-4241-8EB5-6AE213FA9328}" destId="{3CF4691D-DB62-4EE9-9571-C68B43304356}" srcOrd="0" destOrd="0" presId="urn:microsoft.com/office/officeart/2018/5/layout/IconCircleLabelList"/>
    <dgm:cxn modelId="{890A7CAA-66D5-4FF8-BA00-2581F709FEAD}" type="presParOf" srcId="{3CF4691D-DB62-4EE9-9571-C68B43304356}" destId="{596EAA39-3A1D-47AB-9D25-BFE7EC566BD5}" srcOrd="0" destOrd="0" presId="urn:microsoft.com/office/officeart/2018/5/layout/IconCircleLabelList"/>
    <dgm:cxn modelId="{6482F969-D3D2-40A7-8222-380BE0A71A8B}" type="presParOf" srcId="{3CF4691D-DB62-4EE9-9571-C68B43304356}" destId="{3263AABD-E461-4C19-93B5-18EDC6BEE13E}" srcOrd="1" destOrd="0" presId="urn:microsoft.com/office/officeart/2018/5/layout/IconCircleLabelList"/>
    <dgm:cxn modelId="{46D75537-2A23-4749-B576-DD496665F4F0}" type="presParOf" srcId="{3CF4691D-DB62-4EE9-9571-C68B43304356}" destId="{9FA19ABF-1803-46D3-BE03-30AFCEE0158C}" srcOrd="2" destOrd="0" presId="urn:microsoft.com/office/officeart/2018/5/layout/IconCircleLabelList"/>
    <dgm:cxn modelId="{CAF93025-86C2-4238-8BF2-19F0F0A7C93E}" type="presParOf" srcId="{3CF4691D-DB62-4EE9-9571-C68B43304356}" destId="{8844FE85-AEF7-4B14-AAE8-1094B87B99D7}" srcOrd="3" destOrd="0" presId="urn:microsoft.com/office/officeart/2018/5/layout/IconCircleLabelList"/>
    <dgm:cxn modelId="{EADF4207-26C0-451E-A9F6-E4267E63FD70}" type="presParOf" srcId="{F291F4A5-C0B5-4241-8EB5-6AE213FA9328}" destId="{3760713B-FA72-4833-B9B8-CEA6595F06A2}" srcOrd="1" destOrd="0" presId="urn:microsoft.com/office/officeart/2018/5/layout/IconCircleLabelList"/>
    <dgm:cxn modelId="{1F99C447-90FC-4A6F-9D61-7018A52A9692}" type="presParOf" srcId="{F291F4A5-C0B5-4241-8EB5-6AE213FA9328}" destId="{EB588C2F-02D3-4703-B462-5C4CA4027A81}" srcOrd="2" destOrd="0" presId="urn:microsoft.com/office/officeart/2018/5/layout/IconCircleLabelList"/>
    <dgm:cxn modelId="{2CB63008-28A6-4A9B-BF07-7352127DFB12}" type="presParOf" srcId="{EB588C2F-02D3-4703-B462-5C4CA4027A81}" destId="{FF0B5243-58EA-4798-A54F-06C314B7730B}" srcOrd="0" destOrd="0" presId="urn:microsoft.com/office/officeart/2018/5/layout/IconCircleLabelList"/>
    <dgm:cxn modelId="{6BD07C43-42FA-4650-84FD-5A211A4A2818}" type="presParOf" srcId="{EB588C2F-02D3-4703-B462-5C4CA4027A81}" destId="{9B54A11A-4208-48CE-AE07-45A13F98C410}" srcOrd="1" destOrd="0" presId="urn:microsoft.com/office/officeart/2018/5/layout/IconCircleLabelList"/>
    <dgm:cxn modelId="{1D954534-DC9F-415C-9CB6-E3FEECD3883B}" type="presParOf" srcId="{EB588C2F-02D3-4703-B462-5C4CA4027A81}" destId="{510E1F88-603C-4961-ABEC-D6964B983A38}" srcOrd="2" destOrd="0" presId="urn:microsoft.com/office/officeart/2018/5/layout/IconCircleLabelList"/>
    <dgm:cxn modelId="{48CDF855-7727-4C97-9299-D2A1A324EF0E}" type="presParOf" srcId="{EB588C2F-02D3-4703-B462-5C4CA4027A81}" destId="{6186644B-F8E6-4F82-A414-7294124F0EF0}" srcOrd="3" destOrd="0" presId="urn:microsoft.com/office/officeart/2018/5/layout/IconCircleLabelList"/>
    <dgm:cxn modelId="{DE2B497C-A18D-482D-BAC7-E0A76D87F490}" type="presParOf" srcId="{F291F4A5-C0B5-4241-8EB5-6AE213FA9328}" destId="{04181551-78A8-4108-8162-27191A02F177}" srcOrd="3" destOrd="0" presId="urn:microsoft.com/office/officeart/2018/5/layout/IconCircleLabelList"/>
    <dgm:cxn modelId="{CB35B37B-C238-4F7C-BD93-BF198CE16D30}" type="presParOf" srcId="{F291F4A5-C0B5-4241-8EB5-6AE213FA9328}" destId="{813F511D-DE69-42AD-A18E-B4422A216D25}" srcOrd="4" destOrd="0" presId="urn:microsoft.com/office/officeart/2018/5/layout/IconCircleLabelList"/>
    <dgm:cxn modelId="{7DF326AF-14FA-431C-B672-2EDB726F9E89}" type="presParOf" srcId="{813F511D-DE69-42AD-A18E-B4422A216D25}" destId="{9FC8642B-7641-4FCF-9485-E1E131035764}" srcOrd="0" destOrd="0" presId="urn:microsoft.com/office/officeart/2018/5/layout/IconCircleLabelList"/>
    <dgm:cxn modelId="{06D53D8F-158D-43C2-BC42-ED3C28FA0E36}" type="presParOf" srcId="{813F511D-DE69-42AD-A18E-B4422A216D25}" destId="{FE658148-441B-4068-876A-0AEAC662F3A1}" srcOrd="1" destOrd="0" presId="urn:microsoft.com/office/officeart/2018/5/layout/IconCircleLabelList"/>
    <dgm:cxn modelId="{7200972D-5E46-4F32-9145-51E4565C3A07}" type="presParOf" srcId="{813F511D-DE69-42AD-A18E-B4422A216D25}" destId="{39DAF5B7-6F46-4D79-B3D2-2953D8AC3515}" srcOrd="2" destOrd="0" presId="urn:microsoft.com/office/officeart/2018/5/layout/IconCircleLabelList"/>
    <dgm:cxn modelId="{70CFED3D-4156-4B56-8018-02B3FFCD4723}" type="presParOf" srcId="{813F511D-DE69-42AD-A18E-B4422A216D25}" destId="{9BB9124D-B0F3-435E-9CDB-8DF98D49201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F869BE-BEBF-4D8E-83C5-8564CCED4894}">
      <dsp:nvSpPr>
        <dsp:cNvPr id="0" name=""/>
        <dsp:cNvSpPr/>
      </dsp:nvSpPr>
      <dsp:spPr>
        <a:xfrm>
          <a:off x="1107" y="851075"/>
          <a:ext cx="4318241" cy="259094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Discrete Distributions: Binomial, Poisson</a:t>
          </a:r>
        </a:p>
      </dsp:txBody>
      <dsp:txXfrm>
        <a:off x="1107" y="851075"/>
        <a:ext cx="4318241" cy="2590944"/>
      </dsp:txXfrm>
    </dsp:sp>
    <dsp:sp modelId="{1D6D2A50-812B-478F-A79A-F5C1091095DC}">
      <dsp:nvSpPr>
        <dsp:cNvPr id="0" name=""/>
        <dsp:cNvSpPr/>
      </dsp:nvSpPr>
      <dsp:spPr>
        <a:xfrm>
          <a:off x="4751172" y="851075"/>
          <a:ext cx="4318241" cy="2590944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Continuous Distributions: Normal, Exponential</a:t>
          </a:r>
        </a:p>
      </dsp:txBody>
      <dsp:txXfrm>
        <a:off x="4751172" y="851075"/>
        <a:ext cx="4318241" cy="25909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6EAA39-3A1D-47AB-9D25-BFE7EC566BD5}">
      <dsp:nvSpPr>
        <dsp:cNvPr id="0" name=""/>
        <dsp:cNvSpPr/>
      </dsp:nvSpPr>
      <dsp:spPr>
        <a:xfrm>
          <a:off x="719969" y="560399"/>
          <a:ext cx="2024437" cy="2024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63AABD-E461-4C19-93B5-18EDC6BEE13E}">
      <dsp:nvSpPr>
        <dsp:cNvPr id="0" name=""/>
        <dsp:cNvSpPr/>
      </dsp:nvSpPr>
      <dsp:spPr>
        <a:xfrm>
          <a:off x="1151406" y="991837"/>
          <a:ext cx="1161562" cy="1161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44FE85-AEF7-4B14-AAE8-1094B87B99D7}">
      <dsp:nvSpPr>
        <dsp:cNvPr id="0" name=""/>
        <dsp:cNvSpPr/>
      </dsp:nvSpPr>
      <dsp:spPr>
        <a:xfrm>
          <a:off x="72812" y="3215400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Binomial: fixed trials, yes/no</a:t>
          </a:r>
        </a:p>
      </dsp:txBody>
      <dsp:txXfrm>
        <a:off x="72812" y="3215400"/>
        <a:ext cx="3318750" cy="720000"/>
      </dsp:txXfrm>
    </dsp:sp>
    <dsp:sp modelId="{FF0B5243-58EA-4798-A54F-06C314B7730B}">
      <dsp:nvSpPr>
        <dsp:cNvPr id="0" name=""/>
        <dsp:cNvSpPr/>
      </dsp:nvSpPr>
      <dsp:spPr>
        <a:xfrm>
          <a:off x="4619500" y="560399"/>
          <a:ext cx="2024437" cy="2024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54A11A-4208-48CE-AE07-45A13F98C410}">
      <dsp:nvSpPr>
        <dsp:cNvPr id="0" name=""/>
        <dsp:cNvSpPr/>
      </dsp:nvSpPr>
      <dsp:spPr>
        <a:xfrm>
          <a:off x="5050937" y="991837"/>
          <a:ext cx="1161562" cy="1161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86644B-F8E6-4F82-A414-7294124F0EF0}">
      <dsp:nvSpPr>
        <dsp:cNvPr id="0" name=""/>
        <dsp:cNvSpPr/>
      </dsp:nvSpPr>
      <dsp:spPr>
        <a:xfrm>
          <a:off x="3972344" y="3215400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Poisson: rare events over time</a:t>
          </a:r>
        </a:p>
      </dsp:txBody>
      <dsp:txXfrm>
        <a:off x="3972344" y="3215400"/>
        <a:ext cx="3318750" cy="720000"/>
      </dsp:txXfrm>
    </dsp:sp>
    <dsp:sp modelId="{9FC8642B-7641-4FCF-9485-E1E131035764}">
      <dsp:nvSpPr>
        <dsp:cNvPr id="0" name=""/>
        <dsp:cNvSpPr/>
      </dsp:nvSpPr>
      <dsp:spPr>
        <a:xfrm>
          <a:off x="8519031" y="560399"/>
          <a:ext cx="2024437" cy="2024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658148-441B-4068-876A-0AEAC662F3A1}">
      <dsp:nvSpPr>
        <dsp:cNvPr id="0" name=""/>
        <dsp:cNvSpPr/>
      </dsp:nvSpPr>
      <dsp:spPr>
        <a:xfrm>
          <a:off x="8950469" y="991837"/>
          <a:ext cx="1161562" cy="1161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B9124D-B0F3-435E-9CDB-8DF98D492015}">
      <dsp:nvSpPr>
        <dsp:cNvPr id="0" name=""/>
        <dsp:cNvSpPr/>
      </dsp:nvSpPr>
      <dsp:spPr>
        <a:xfrm>
          <a:off x="7871875" y="3215400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Normal: continuous data, bell curve</a:t>
          </a:r>
        </a:p>
      </dsp:txBody>
      <dsp:txXfrm>
        <a:off x="7871875" y="3215400"/>
        <a:ext cx="33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8CAB6-0A18-B12A-06A5-CFD0B0666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1E932-87D4-E4A3-5EC5-FD37D2ADB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61194-F8BE-C949-EFCA-00EE7F86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34BE2-760E-FA63-F53E-6EC6D65C1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19652-B072-95C3-666A-824B223F0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103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uilding with a large square structure&#10;&#10;AI-generated content may be incorrect.">
            <a:extLst>
              <a:ext uri="{FF2B5EF4-FFF2-40B4-BE49-F238E27FC236}">
                <a16:creationId xmlns:a16="http://schemas.microsoft.com/office/drawing/2014/main" id="{20082ACF-3AE9-146E-7E5F-C65F33E8B8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244" y="-3712171"/>
            <a:ext cx="12286488" cy="108400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877687-59E4-FE10-798A-5CDB6083232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429"/>
          <a:stretch>
            <a:fillRect/>
          </a:stretch>
        </p:blipFill>
        <p:spPr>
          <a:xfrm>
            <a:off x="266700" y="86360"/>
            <a:ext cx="2347089" cy="6248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1ECD35-FA11-4851-4A09-09EF2B1ECA3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19" r="51933"/>
          <a:stretch>
            <a:fillRect/>
          </a:stretch>
        </p:blipFill>
        <p:spPr>
          <a:xfrm>
            <a:off x="10202069" y="124460"/>
            <a:ext cx="2163416" cy="6248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5BE6A8-737D-A62C-6551-363023866B3F}"/>
              </a:ext>
            </a:extLst>
          </p:cNvPr>
          <p:cNvSpPr txBox="1">
            <a:spLocks/>
          </p:cNvSpPr>
          <p:nvPr userDrawn="1"/>
        </p:nvSpPr>
        <p:spPr>
          <a:xfrm>
            <a:off x="-139701" y="6346735"/>
            <a:ext cx="35650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Montserrat SemiBold" pitchFamily="2" charset="0"/>
              </a:rPr>
              <a:t>Website-</a:t>
            </a:r>
            <a:r>
              <a:rPr lang="en-US" sz="1600" dirty="0">
                <a:latin typeface="Montserrat SemiBold" pitchFamily="2" charset="0"/>
              </a:rPr>
              <a:t> www.onlinecu.in</a:t>
            </a:r>
            <a:endParaRPr lang="en-IN" sz="1600" dirty="0">
              <a:latin typeface="Montserrat SemiBold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DCA99B-85F9-8685-ECB4-83814B31D6D6}"/>
              </a:ext>
            </a:extLst>
          </p:cNvPr>
          <p:cNvSpPr txBox="1">
            <a:spLocks/>
          </p:cNvSpPr>
          <p:nvPr userDrawn="1"/>
        </p:nvSpPr>
        <p:spPr>
          <a:xfrm>
            <a:off x="8505373" y="6346736"/>
            <a:ext cx="382632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Montserrat SemiBold" pitchFamily="2" charset="0"/>
              </a:rPr>
              <a:t>Helpline no.: </a:t>
            </a:r>
            <a:r>
              <a:rPr lang="en-US" sz="1600" dirty="0">
                <a:latin typeface="Montserrat SemiBold" pitchFamily="2" charset="0"/>
              </a:rPr>
              <a:t>1800 121 388 800 </a:t>
            </a:r>
            <a:endParaRPr lang="en-IN" sz="1600" dirty="0"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62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55807-6537-7A6D-A641-B2A17376E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B0403-42FF-1C59-1D5B-32C3D7622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86C83-3353-0411-EE9B-3502DB3E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F388B-76FB-C020-4F27-4E8F47369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13B55-0C9D-95FE-DE57-76D9CAC5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862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0200A-4353-C353-E184-88D52DAD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E2DB6-9BB8-38D4-16CA-0544ED95B0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55387-24D0-58FA-83A3-7DE9457A8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92733-6AE7-EB0F-FA3B-AF5CDFCC8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F2C6F-7464-367E-E3F8-97DC8C8F3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16EA2-7E56-7BA3-2439-E543C4160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239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5A9EF-5440-6E76-FF73-0CF065E3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46708-25E5-77F6-A964-227D0EE4C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0C22E3-5FB3-FA79-ED62-21819A6A0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96025A-E802-D170-D6B8-690A286BC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0B7203-20FE-415A-F923-11A30CAAC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7DA1C9-7D6A-71D0-70D9-9B0828718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FE8C4F-142A-8803-C2AD-C6393A49A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83C7CE-86E2-2A63-0ECE-6F7089A6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712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AE12F-6D65-52A0-48AA-B03A63F84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C2E755-9EA8-6439-9AA9-91FF3D91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EB468B-111F-CF06-6C38-3BC8CFF4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94801-333D-738E-07D1-D8DAF45C0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337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345271-495D-152E-CF4A-DF4710D8B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F704DD-032D-53A7-BFF6-45E5965DD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77178-4230-89A4-5872-75B349208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00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A69D6-24F8-42C9-1D77-EC8866907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D61D7-9867-D57B-393C-47C770AA6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ED94E2-1CFC-4DFF-4491-2085D8036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CD279-5116-5E15-60C5-9EF79DDB4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31C19-F77D-04E3-B033-CF6338C13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963EA-8864-E6BE-24F5-23AFDA15D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667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56FE6-775B-5F83-EEAB-E36547DB1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964366-F9DB-7570-8134-3DDD5A101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FF4E6-78FE-6A93-F107-25294F26C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A6E5D-D1B7-97B4-E5F0-293D2283C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0F263-4F04-05C5-5AB8-17B4BF43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888F2-58F4-670D-C34D-AD8FC7455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837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8A30-B913-89F3-B532-786CB42C2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D29D4D-DEE7-6A1D-B42E-38574A727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6FAF5-A696-3446-BF82-38164F6A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E94DE-54DD-A6A8-474C-AB93008EA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8F6DA-A2A6-C945-BF21-6706B5FA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727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308265-AD14-4580-CC74-9C4CF00E99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F309DA-5772-6FBD-97A3-F137B93F9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1C790-714C-45F7-D996-F901BECA5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76402-000D-C35B-9564-25F55D31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67743-5BF8-DFC2-CBDC-EB27E011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585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B05E56-8D2F-5F2F-8551-44A2B095F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445D5-7E47-8624-9AC3-BB3BCD277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B5D27-2F61-7E25-7C4F-55CEB62622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10130E-D3C0-4B5D-8C12-EBDFC4E82B3D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E40CC-F5EF-5459-5DE6-51B24194D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77AFA-267B-483B-8828-7D5EC7CBF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19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vikashsinghy2k/10-must-know-probability-concepts-for-every-aspiring-statistician-and-data-scientist-66a5b48cacec" TargetMode="External"/><Relationship Id="rId7" Type="http://schemas.openxmlformats.org/officeDocument/2006/relationships/hyperlink" Target="https://medium.com/@vikashsinghy2k/10-must-know-statistics-interview-questions-with-real-examples-formulas-0b1118f5eb10" TargetMode="External"/><Relationship Id="rId2" Type="http://schemas.openxmlformats.org/officeDocument/2006/relationships/hyperlink" Target="https://medium.com/@vikashsinghy2k/top-15-probability-distribution-questions-for-data-science-interviews-77d973fc2164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com/@vikashsinghy2k/top-20-interview-questions-on-descriptive-and-inferential-statistics-b9ce9da9b1f9" TargetMode="External"/><Relationship Id="rId5" Type="http://schemas.openxmlformats.org/officeDocument/2006/relationships/hyperlink" Target="https://github.com/vikashkmd/DSMLNotebooks/blob/main/Common_Distributions_Overview.ipynb" TargetMode="External"/><Relationship Id="rId4" Type="http://schemas.openxmlformats.org/officeDocument/2006/relationships/hyperlink" Target="https://medium.com/@vikashsinghy2k/analyzing-loan-data-with-binomial-and-poisson-distributions-in-python-404bbede0af7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uilding with a large square structure&#10;&#10;AI-generated content may be incorrect.">
            <a:extLst>
              <a:ext uri="{FF2B5EF4-FFF2-40B4-BE49-F238E27FC236}">
                <a16:creationId xmlns:a16="http://schemas.microsoft.com/office/drawing/2014/main" id="{45D7B758-93B8-6702-E78A-5420C09B693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488" y="-3481759"/>
            <a:ext cx="12286489" cy="108400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A9F29A-6499-7007-BE30-D0006E28FD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429"/>
          <a:stretch>
            <a:fillRect/>
          </a:stretch>
        </p:blipFill>
        <p:spPr>
          <a:xfrm>
            <a:off x="266700" y="86360"/>
            <a:ext cx="2347089" cy="6248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3E01D9-0256-D1BA-213E-B0241C636F5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19" r="51933"/>
          <a:stretch>
            <a:fillRect/>
          </a:stretch>
        </p:blipFill>
        <p:spPr>
          <a:xfrm>
            <a:off x="10202069" y="124460"/>
            <a:ext cx="2163416" cy="62484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8A999DC-A153-1905-C7EE-7C969DA83FFE}"/>
              </a:ext>
            </a:extLst>
          </p:cNvPr>
          <p:cNvSpPr/>
          <p:nvPr/>
        </p:nvSpPr>
        <p:spPr>
          <a:xfrm>
            <a:off x="-419100" y="4152147"/>
            <a:ext cx="12705589" cy="4105276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C59026-22DA-C7EE-E8D5-0A960E14490B}"/>
              </a:ext>
            </a:extLst>
          </p:cNvPr>
          <p:cNvSpPr/>
          <p:nvPr/>
        </p:nvSpPr>
        <p:spPr>
          <a:xfrm>
            <a:off x="0" y="5429251"/>
            <a:ext cx="12192001" cy="865268"/>
          </a:xfrm>
          <a:prstGeom prst="rect">
            <a:avLst/>
          </a:prstGeom>
          <a:solidFill>
            <a:srgbClr val="C00000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FAFFA5-8138-FB30-6CEE-C907D53506F8}"/>
              </a:ext>
            </a:extLst>
          </p:cNvPr>
          <p:cNvSpPr txBox="1"/>
          <p:nvPr/>
        </p:nvSpPr>
        <p:spPr>
          <a:xfrm>
            <a:off x="1195137" y="5113697"/>
            <a:ext cx="9801726" cy="147732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endParaRPr lang="en-US" sz="3000" dirty="0">
              <a:solidFill>
                <a:schemeClr val="bg1"/>
              </a:solidFill>
              <a:latin typeface="Montserrat SemiBold" pitchFamily="2" charset="0"/>
            </a:endParaRPr>
          </a:p>
          <a:p>
            <a:pPr algn="ctr"/>
            <a:r>
              <a:rPr lang="en-US" sz="3000" dirty="0">
                <a:solidFill>
                  <a:schemeClr val="bg1"/>
                </a:solidFill>
                <a:latin typeface="Montserrat SemiBold" pitchFamily="2" charset="0"/>
              </a:rPr>
              <a:t>Common Probability Distributions</a:t>
            </a:r>
          </a:p>
          <a:p>
            <a:pPr algn="ctr"/>
            <a:endParaRPr lang="en-US" sz="3000" dirty="0">
              <a:solidFill>
                <a:schemeClr val="bg1"/>
              </a:solidFill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95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E650A68-EA3A-2D91-1B47-FD55243C0DD5}"/>
              </a:ext>
            </a:extLst>
          </p:cNvPr>
          <p:cNvSpPr txBox="1">
            <a:spLocks/>
          </p:cNvSpPr>
          <p:nvPr/>
        </p:nvSpPr>
        <p:spPr>
          <a:xfrm>
            <a:off x="3606449" y="239070"/>
            <a:ext cx="69091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Learning Objectives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DD431F-D61B-40D1-6A24-AC95A22F2994}"/>
              </a:ext>
            </a:extLst>
          </p:cNvPr>
          <p:cNvSpPr txBox="1">
            <a:spLocks/>
          </p:cNvSpPr>
          <p:nvPr/>
        </p:nvSpPr>
        <p:spPr>
          <a:xfrm>
            <a:off x="864833" y="2134159"/>
            <a:ext cx="10249481" cy="571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latin typeface="Avenir Next LT Pro" panose="020B0504020202020204" pitchFamily="34" charset="0"/>
                <a:cs typeface="Arial" pitchFamily="34" charset="0"/>
              </a:rPr>
              <a:t>By the end of this session, you will be able to: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F1AC96C-937F-7EF1-B25C-53F6BC35D4FA}"/>
              </a:ext>
            </a:extLst>
          </p:cNvPr>
          <p:cNvSpPr txBox="1">
            <a:spLocks/>
          </p:cNvSpPr>
          <p:nvPr/>
        </p:nvSpPr>
        <p:spPr>
          <a:xfrm>
            <a:off x="859972" y="2828771"/>
            <a:ext cx="10515600" cy="29188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Understand the concept of random variable and probability distributions. </a:t>
            </a:r>
          </a:p>
          <a:p>
            <a:r>
              <a:rPr lang="en-US" dirty="0"/>
              <a:t>Understand Normal, Binomial, and Poisson Distributions.</a:t>
            </a:r>
          </a:p>
          <a:p>
            <a:r>
              <a:rPr lang="en-US" dirty="0"/>
              <a:t>Learn the formulas, attempt quizzes and solve numerical problems.</a:t>
            </a:r>
          </a:p>
          <a:p>
            <a:r>
              <a:rPr lang="en-US" dirty="0"/>
              <a:t>How to work with probability distributions using Python!</a:t>
            </a:r>
          </a:p>
        </p:txBody>
      </p:sp>
    </p:spTree>
    <p:extLst>
      <p:ext uri="{BB962C8B-B14F-4D97-AF65-F5344CB8AC3E}">
        <p14:creationId xmlns:p14="http://schemas.microsoft.com/office/powerpoint/2010/main" val="1635202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1F271-41DA-A538-EB88-50AE4905C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EAE32DE-AD3D-9B3C-1A90-6B08F4EC0A11}"/>
              </a:ext>
            </a:extLst>
          </p:cNvPr>
          <p:cNvSpPr txBox="1">
            <a:spLocks/>
          </p:cNvSpPr>
          <p:nvPr/>
        </p:nvSpPr>
        <p:spPr>
          <a:xfrm>
            <a:off x="3516085" y="217297"/>
            <a:ext cx="7438219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Random Variable Example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5BDDFCA8-7B28-393A-5D9A-7BEC50BD3802}"/>
              </a:ext>
            </a:extLst>
          </p:cNvPr>
          <p:cNvSpPr txBox="1">
            <a:spLocks/>
          </p:cNvSpPr>
          <p:nvPr/>
        </p:nvSpPr>
        <p:spPr>
          <a:xfrm>
            <a:off x="622300" y="1160003"/>
            <a:ext cx="10947400" cy="115647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/>
              <a:t>Number of sixes that will be hit in the last over of a T20 match?</a:t>
            </a:r>
          </a:p>
          <a:p>
            <a:endParaRPr lang="en-US" sz="4000" dirty="0"/>
          </a:p>
          <a:p>
            <a:endParaRPr lang="en-US" sz="4000" dirty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554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8C753-9842-2EC4-0BC8-2DAA95A19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33DCF42-9D88-245B-9660-B24F0CC56A5C}"/>
              </a:ext>
            </a:extLst>
          </p:cNvPr>
          <p:cNvSpPr txBox="1">
            <a:spLocks/>
          </p:cNvSpPr>
          <p:nvPr/>
        </p:nvSpPr>
        <p:spPr>
          <a:xfrm>
            <a:off x="3516085" y="217297"/>
            <a:ext cx="7438219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Random Variable Example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901317-1828-8EFB-8794-4524B9C7C59B}"/>
              </a:ext>
            </a:extLst>
          </p:cNvPr>
          <p:cNvSpPr txBox="1">
            <a:spLocks/>
          </p:cNvSpPr>
          <p:nvPr/>
        </p:nvSpPr>
        <p:spPr>
          <a:xfrm>
            <a:off x="622300" y="1160003"/>
            <a:ext cx="10947400" cy="1156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Number of sixes that will be hit in the last over of a T20 match?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9EAE7D2-CD04-3F28-7B45-813908130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3256829"/>
              </p:ext>
            </p:extLst>
          </p:nvPr>
        </p:nvGraphicFramePr>
        <p:xfrm>
          <a:off x="796472" y="2108189"/>
          <a:ext cx="10947400" cy="1391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425">
                  <a:extLst>
                    <a:ext uri="{9D8B030D-6E8A-4147-A177-3AD203B41FA5}">
                      <a16:colId xmlns:a16="http://schemas.microsoft.com/office/drawing/2014/main" val="4287881851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1014742288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407805943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322231388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787293595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1541096171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3267532823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1927147516"/>
                    </a:ext>
                  </a:extLst>
                </a:gridCol>
              </a:tblGrid>
              <a:tr h="13919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dirty="0"/>
                        <a:t>No of sixes</a:t>
                      </a:r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71765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F531975-C7ED-E76D-7F2A-FA20AF744550}"/>
              </a:ext>
            </a:extLst>
          </p:cNvPr>
          <p:cNvSpPr txBox="1"/>
          <p:nvPr/>
        </p:nvSpPr>
        <p:spPr>
          <a:xfrm>
            <a:off x="709385" y="3713892"/>
            <a:ext cx="10947400" cy="2419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indent="-431800" eaLnBrk="1" hangingPunct="1">
              <a:spcBef>
                <a:spcPts val="640"/>
              </a:spcBef>
              <a:buClr>
                <a:schemeClr val="dk1"/>
              </a:buClr>
              <a:buSzPts val="3200"/>
              <a:buChar char="•"/>
              <a:defRPr sz="32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indent="-406400" eaLnBrk="1" hangingPunct="1">
              <a:spcBef>
                <a:spcPts val="560"/>
              </a:spcBef>
              <a:buClr>
                <a:schemeClr val="dk1"/>
              </a:buClr>
              <a:buSzPts val="2800"/>
              <a:buChar char="–"/>
              <a:defRPr sz="2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indent="-381000" eaLnBrk="1" hangingPunct="1">
              <a:spcBef>
                <a:spcPts val="480"/>
              </a:spcBef>
              <a:buClr>
                <a:srgbClr val="A5A5A5"/>
              </a:buClr>
              <a:buSzPts val="2400"/>
              <a:buChar char="•"/>
              <a:defRPr sz="24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indent="-355600" eaLnBrk="1" hangingPunct="1">
              <a:spcBef>
                <a:spcPts val="400"/>
              </a:spcBef>
              <a:buClr>
                <a:srgbClr val="A5A5A5"/>
              </a:buClr>
              <a:buSzPts val="2000"/>
              <a:buChar char="–"/>
              <a:defRPr sz="20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indent="-355600" eaLnBrk="1" hangingPunct="1">
              <a:spcBef>
                <a:spcPts val="400"/>
              </a:spcBef>
              <a:buClr>
                <a:srgbClr val="A5A5A5"/>
              </a:buClr>
              <a:buSzPts val="2000"/>
              <a:buChar char="»"/>
              <a:defRPr sz="20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indent="-355600" eaLnBrk="1" hangingPunct="1">
              <a:spcBef>
                <a:spcPts val="400"/>
              </a:spcBef>
              <a:buClr>
                <a:schemeClr val="dk1"/>
              </a:buClr>
              <a:buSzPts val="20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indent="-355600" eaLnBrk="1" hangingPunct="1">
              <a:spcBef>
                <a:spcPts val="400"/>
              </a:spcBef>
              <a:buClr>
                <a:schemeClr val="dk1"/>
              </a:buClr>
              <a:buSzPts val="20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indent="-355600" eaLnBrk="1" hangingPunct="1">
              <a:spcBef>
                <a:spcPts val="400"/>
              </a:spcBef>
              <a:buClr>
                <a:schemeClr val="dk1"/>
              </a:buClr>
              <a:buSzPts val="20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indent="-355600" eaLnBrk="1" hangingPunct="1">
              <a:spcBef>
                <a:spcPts val="400"/>
              </a:spcBef>
              <a:buClr>
                <a:schemeClr val="dk1"/>
              </a:buClr>
              <a:buSzPts val="20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2800" dirty="0"/>
              <a:t>A random variable is a variable that takes on different values based on the outcome of a random event. </a:t>
            </a:r>
          </a:p>
          <a:p>
            <a:endParaRPr lang="en-US" sz="2800" dirty="0"/>
          </a:p>
          <a:p>
            <a:r>
              <a:rPr lang="en-US" sz="2800" dirty="0"/>
              <a:t>It can be thought of as a function that assigns numerical values to each possible outcome of a random process.</a:t>
            </a:r>
          </a:p>
        </p:txBody>
      </p:sp>
    </p:spTree>
    <p:extLst>
      <p:ext uri="{BB962C8B-B14F-4D97-AF65-F5344CB8AC3E}">
        <p14:creationId xmlns:p14="http://schemas.microsoft.com/office/powerpoint/2010/main" val="2616191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CA3F0-5D74-4967-F591-DED6512EB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BE53A42-E687-9A3E-498E-107739DAEA52}"/>
              </a:ext>
            </a:extLst>
          </p:cNvPr>
          <p:cNvSpPr txBox="1">
            <a:spLocks/>
          </p:cNvSpPr>
          <p:nvPr/>
        </p:nvSpPr>
        <p:spPr>
          <a:xfrm>
            <a:off x="3004457" y="217297"/>
            <a:ext cx="7949848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Types of Random Variable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18C6AEA0-7ADC-FEE8-7BE5-DBFC77F76CF8}"/>
              </a:ext>
            </a:extLst>
          </p:cNvPr>
          <p:cNvSpPr txBox="1">
            <a:spLocks/>
          </p:cNvSpPr>
          <p:nvPr/>
        </p:nvSpPr>
        <p:spPr>
          <a:xfrm>
            <a:off x="622300" y="1160003"/>
            <a:ext cx="10947400" cy="48508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b="1" dirty="0"/>
              <a:t>Discrete Random Variable:</a:t>
            </a:r>
            <a:r>
              <a:rPr lang="en-US" dirty="0"/>
              <a:t> Takes on a countable number of distinct values (e.g., number of heads in a series of coin flips).</a:t>
            </a:r>
          </a:p>
          <a:p>
            <a:endParaRPr lang="en-US" dirty="0"/>
          </a:p>
          <a:p>
            <a:r>
              <a:rPr lang="en-US" b="1" dirty="0"/>
              <a:t>Continuous Random Variable:</a:t>
            </a:r>
            <a:r>
              <a:rPr lang="en-US" dirty="0"/>
              <a:t> Takes on an infinite number of possible values within a given range (e.g., the exact height of students in a class).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482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36EBB73-70D2-4C49-0719-CBE6C728AEB3}"/>
              </a:ext>
            </a:extLst>
          </p:cNvPr>
          <p:cNvSpPr txBox="1">
            <a:spLocks/>
          </p:cNvSpPr>
          <p:nvPr/>
        </p:nvSpPr>
        <p:spPr>
          <a:xfrm>
            <a:off x="3581399" y="217297"/>
            <a:ext cx="7372905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Types of Distributions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9D2038E-0307-822F-48B8-CB759551F7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9022421"/>
              </p:ext>
            </p:extLst>
          </p:nvPr>
        </p:nvGraphicFramePr>
        <p:xfrm>
          <a:off x="1560739" y="1282452"/>
          <a:ext cx="9070521" cy="42930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0909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56DB2B0-5F90-E190-3B10-25E819826955}"/>
              </a:ext>
            </a:extLst>
          </p:cNvPr>
          <p:cNvSpPr txBox="1">
            <a:spLocks/>
          </p:cNvSpPr>
          <p:nvPr/>
        </p:nvSpPr>
        <p:spPr>
          <a:xfrm>
            <a:off x="2786743" y="217297"/>
            <a:ext cx="816756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What is a Probability Distribution?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312AB5-79E9-C0C9-2D4B-D1B02290EF3F}"/>
              </a:ext>
            </a:extLst>
          </p:cNvPr>
          <p:cNvSpPr txBox="1">
            <a:spLocks/>
          </p:cNvSpPr>
          <p:nvPr/>
        </p:nvSpPr>
        <p:spPr>
          <a:xfrm>
            <a:off x="609600" y="15970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 probability distribution is a function that describes the likelihood of outcomes in a sample space.</a:t>
            </a:r>
          </a:p>
          <a:p>
            <a:endParaRPr lang="en-US"/>
          </a:p>
          <a:p>
            <a:r>
              <a:rPr lang="en-US"/>
              <a:t>Examples include: Normal, Binomial, Poisson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790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60808-5349-5F51-787F-96F0B403F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DEC154A-3141-1A55-8E5D-E2719C960C79}"/>
              </a:ext>
            </a:extLst>
          </p:cNvPr>
          <p:cNvSpPr txBox="1">
            <a:spLocks/>
          </p:cNvSpPr>
          <p:nvPr/>
        </p:nvSpPr>
        <p:spPr>
          <a:xfrm>
            <a:off x="2786743" y="217297"/>
            <a:ext cx="816756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What is a Probability Distribution?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2" name="Google Shape;66;p42">
            <a:extLst>
              <a:ext uri="{FF2B5EF4-FFF2-40B4-BE49-F238E27FC236}">
                <a16:creationId xmlns:a16="http://schemas.microsoft.com/office/drawing/2014/main" id="{5884FCCD-4EA5-B2AD-60B0-A59A904B67FF}"/>
              </a:ext>
            </a:extLst>
          </p:cNvPr>
          <p:cNvSpPr txBox="1"/>
          <p:nvPr/>
        </p:nvSpPr>
        <p:spPr>
          <a:xfrm>
            <a:off x="622300" y="1193792"/>
            <a:ext cx="10947400" cy="1116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algn="just">
              <a:lnSpc>
                <a:spcPct val="115000"/>
              </a:lnSpc>
            </a:pPr>
            <a:r>
              <a:rPr lang="en-US" sz="28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Ex:  Consider the random experiment of tossing two coins.  </a:t>
            </a:r>
          </a:p>
          <a:p>
            <a:pPr algn="just">
              <a:lnSpc>
                <a:spcPct val="115000"/>
              </a:lnSpc>
            </a:pPr>
            <a:r>
              <a:rPr lang="en-US" sz="28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Let the occurrence of heads to be counted. There may be 0, 1 or 2 heads.  </a:t>
            </a:r>
          </a:p>
          <a:p>
            <a:pPr algn="just">
              <a:lnSpc>
                <a:spcPct val="115000"/>
              </a:lnSpc>
            </a:pPr>
            <a:endParaRPr lang="en-US" sz="2800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94BFF4-BC9F-DE5D-E323-A42A1AB97D09}"/>
              </a:ext>
            </a:extLst>
          </p:cNvPr>
          <p:cNvSpPr txBox="1"/>
          <p:nvPr/>
        </p:nvSpPr>
        <p:spPr>
          <a:xfrm>
            <a:off x="535744" y="4833211"/>
            <a:ext cx="11133742" cy="1230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 probability distribution describes how the values of a random variable are distributed. It provides a complete description of the likelihood of different outcomes.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5FC031-D051-BD4E-99D3-A0FF6BADA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80212"/>
              </p:ext>
            </p:extLst>
          </p:nvPr>
        </p:nvGraphicFramePr>
        <p:xfrm>
          <a:off x="1560787" y="2309800"/>
          <a:ext cx="7851226" cy="19645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70081">
                  <a:extLst>
                    <a:ext uri="{9D8B030D-6E8A-4147-A177-3AD203B41FA5}">
                      <a16:colId xmlns:a16="http://schemas.microsoft.com/office/drawing/2014/main" val="1702560319"/>
                    </a:ext>
                  </a:extLst>
                </a:gridCol>
                <a:gridCol w="1570081">
                  <a:extLst>
                    <a:ext uri="{9D8B030D-6E8A-4147-A177-3AD203B41FA5}">
                      <a16:colId xmlns:a16="http://schemas.microsoft.com/office/drawing/2014/main" val="1038889644"/>
                    </a:ext>
                  </a:extLst>
                </a:gridCol>
                <a:gridCol w="1570081">
                  <a:extLst>
                    <a:ext uri="{9D8B030D-6E8A-4147-A177-3AD203B41FA5}">
                      <a16:colId xmlns:a16="http://schemas.microsoft.com/office/drawing/2014/main" val="322655758"/>
                    </a:ext>
                  </a:extLst>
                </a:gridCol>
                <a:gridCol w="1570081">
                  <a:extLst>
                    <a:ext uri="{9D8B030D-6E8A-4147-A177-3AD203B41FA5}">
                      <a16:colId xmlns:a16="http://schemas.microsoft.com/office/drawing/2014/main" val="68255498"/>
                    </a:ext>
                  </a:extLst>
                </a:gridCol>
                <a:gridCol w="1570902">
                  <a:extLst>
                    <a:ext uri="{9D8B030D-6E8A-4147-A177-3AD203B41FA5}">
                      <a16:colId xmlns:a16="http://schemas.microsoft.com/office/drawing/2014/main" val="2456589795"/>
                    </a:ext>
                  </a:extLst>
                </a:gridCol>
              </a:tblGrid>
              <a:tr h="60850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US" sz="2000" dirty="0">
                          <a:effectLst/>
                        </a:rPr>
                        <a:t>Possible outcomes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2000">
                          <a:effectLst/>
                        </a:rPr>
                        <a:t>TT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2000" dirty="0">
                          <a:effectLst/>
                        </a:rPr>
                        <a:t>HT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2000" dirty="0">
                          <a:effectLst/>
                        </a:rPr>
                        <a:t>TH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2000" dirty="0">
                          <a:effectLst/>
                        </a:rPr>
                        <a:t>HH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63881273"/>
                  </a:ext>
                </a:extLst>
              </a:tr>
              <a:tr h="608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US" sz="2000">
                          <a:effectLst/>
                        </a:rPr>
                        <a:t>Number of heads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3600" dirty="0">
                          <a:effectLst/>
                        </a:rPr>
                        <a:t>0</a:t>
                      </a:r>
                      <a:endParaRPr lang="en-IN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3600" dirty="0">
                          <a:effectLst/>
                        </a:rPr>
                        <a:t>1</a:t>
                      </a:r>
                      <a:endParaRPr lang="en-IN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3600">
                          <a:effectLst/>
                        </a:rPr>
                        <a:t>1</a:t>
                      </a:r>
                      <a:endParaRPr lang="en-IN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3600">
                          <a:effectLst/>
                        </a:rPr>
                        <a:t>2</a:t>
                      </a:r>
                      <a:endParaRPr lang="en-IN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34495169"/>
                  </a:ext>
                </a:extLst>
              </a:tr>
              <a:tr h="29414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US" sz="2000">
                          <a:effectLst/>
                        </a:rPr>
                        <a:t>Probability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3600">
                          <a:effectLst/>
                        </a:rPr>
                        <a:t>¼</a:t>
                      </a:r>
                      <a:endParaRPr lang="en-IN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3600" dirty="0">
                          <a:effectLst/>
                        </a:rPr>
                        <a:t>¼</a:t>
                      </a:r>
                      <a:endParaRPr lang="en-IN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3600" dirty="0">
                          <a:effectLst/>
                        </a:rPr>
                        <a:t>¼</a:t>
                      </a:r>
                      <a:endParaRPr lang="en-IN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3600" dirty="0">
                          <a:effectLst/>
                        </a:rPr>
                        <a:t>¼</a:t>
                      </a:r>
                      <a:endParaRPr lang="en-IN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0562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8768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9F5CC-7C78-2830-995A-742570655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0EE76BE-076E-7E6B-B609-64BB0A4E6552}"/>
              </a:ext>
            </a:extLst>
          </p:cNvPr>
          <p:cNvSpPr txBox="1">
            <a:spLocks/>
          </p:cNvSpPr>
          <p:nvPr/>
        </p:nvSpPr>
        <p:spPr>
          <a:xfrm>
            <a:off x="3265713" y="217297"/>
            <a:ext cx="76885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Normal Distribution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FF640-2804-F106-4FA3-76381D9A93DC}"/>
              </a:ext>
            </a:extLst>
          </p:cNvPr>
          <p:cNvSpPr txBox="1">
            <a:spLocks/>
          </p:cNvSpPr>
          <p:nvPr/>
        </p:nvSpPr>
        <p:spPr>
          <a:xfrm>
            <a:off x="522516" y="1937658"/>
            <a:ext cx="3450770" cy="3309256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A continuous distribution with a symmetric, bell-shaped curve.</a:t>
            </a:r>
          </a:p>
          <a:p>
            <a:endParaRPr lang="en-US" sz="3200" dirty="0"/>
          </a:p>
          <a:p>
            <a:r>
              <a:rPr lang="en-US" sz="3200" dirty="0"/>
              <a:t>Defined by mean (μ) and standard deviation (σ).</a:t>
            </a:r>
          </a:p>
        </p:txBody>
      </p:sp>
      <p:pic>
        <p:nvPicPr>
          <p:cNvPr id="5" name="Picture 2" descr="Visualization of Normal Distribution">
            <a:extLst>
              <a:ext uri="{FF2B5EF4-FFF2-40B4-BE49-F238E27FC236}">
                <a16:creationId xmlns:a16="http://schemas.microsoft.com/office/drawing/2014/main" id="{5974DA21-784C-D5DF-8E52-24E118DA8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9287" y="1549077"/>
            <a:ext cx="7833386" cy="4764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507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A12CD-D3EA-60EF-3242-FFB812F4F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9C2DA4-749B-B548-588C-C88A87330DFF}"/>
              </a:ext>
            </a:extLst>
          </p:cNvPr>
          <p:cNvSpPr txBox="1">
            <a:spLocks/>
          </p:cNvSpPr>
          <p:nvPr/>
        </p:nvSpPr>
        <p:spPr>
          <a:xfrm>
            <a:off x="3265713" y="217297"/>
            <a:ext cx="76885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Normal Distribution - formula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2" name="Picture 2" descr="Normal Distribution Function">
            <a:extLst>
              <a:ext uri="{FF2B5EF4-FFF2-40B4-BE49-F238E27FC236}">
                <a16:creationId xmlns:a16="http://schemas.microsoft.com/office/drawing/2014/main" id="{F323B569-BAFF-D5C1-5923-363A5AEF5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0008" y="1395852"/>
            <a:ext cx="4720682" cy="1129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CED1AC3-0E1C-B419-7765-AD66C9470F49}"/>
              </a:ext>
            </a:extLst>
          </p:cNvPr>
          <p:cNvSpPr txBox="1">
            <a:spLocks/>
          </p:cNvSpPr>
          <p:nvPr/>
        </p:nvSpPr>
        <p:spPr>
          <a:xfrm>
            <a:off x="7167712" y="3197208"/>
            <a:ext cx="4662978" cy="166870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Mean = Median = Mode</a:t>
            </a:r>
          </a:p>
          <a:p>
            <a:r>
              <a:rPr lang="en-US" dirty="0"/>
              <a:t>68-95-99.7 Rule</a:t>
            </a:r>
          </a:p>
          <a:p>
            <a:r>
              <a:rPr lang="en-US" dirty="0"/>
              <a:t>Symmetrical shape</a:t>
            </a:r>
          </a:p>
        </p:txBody>
      </p:sp>
      <p:pic>
        <p:nvPicPr>
          <p:cNvPr id="7" name="Picture 6" descr="Visualization of Normal Distribution">
            <a:extLst>
              <a:ext uri="{FF2B5EF4-FFF2-40B4-BE49-F238E27FC236}">
                <a16:creationId xmlns:a16="http://schemas.microsoft.com/office/drawing/2014/main" id="{B8103E24-456E-4EB4-3A1B-184B05190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1303"/>
            <a:ext cx="6990264" cy="4251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7287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F74FA-259D-AE93-651F-B8A502C1E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3F5D62D-124B-84BE-232A-ADE1269EC664}"/>
              </a:ext>
            </a:extLst>
          </p:cNvPr>
          <p:cNvSpPr txBox="1">
            <a:spLocks/>
          </p:cNvSpPr>
          <p:nvPr/>
        </p:nvSpPr>
        <p:spPr>
          <a:xfrm>
            <a:off x="3145971" y="217297"/>
            <a:ext cx="7808334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Normal Distribution - Example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EBEE5D-0DE9-252B-6458-733409F76310}"/>
              </a:ext>
            </a:extLst>
          </p:cNvPr>
          <p:cNvSpPr txBox="1">
            <a:spLocks/>
          </p:cNvSpPr>
          <p:nvPr/>
        </p:nvSpPr>
        <p:spPr>
          <a:xfrm>
            <a:off x="533400" y="1586139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/>
              <a:t>If height ~ N(170, 10), what is the probability a person is between 160 and 180 cm?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846678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D1B8F-0D89-70B8-72C9-DBE5FB4C4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BB6C05A-3CA1-D9C0-4821-240963569294}"/>
              </a:ext>
            </a:extLst>
          </p:cNvPr>
          <p:cNvSpPr txBox="1">
            <a:spLocks/>
          </p:cNvSpPr>
          <p:nvPr/>
        </p:nvSpPr>
        <p:spPr>
          <a:xfrm>
            <a:off x="3145971" y="217297"/>
            <a:ext cx="7808334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Normal Distribution – Example Solution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EFCCDA8-7580-0116-D541-522536995042}"/>
              </a:ext>
            </a:extLst>
          </p:cNvPr>
          <p:cNvSpPr txBox="1">
            <a:spLocks/>
          </p:cNvSpPr>
          <p:nvPr/>
        </p:nvSpPr>
        <p:spPr>
          <a:xfrm>
            <a:off x="685798" y="1586139"/>
            <a:ext cx="10668001" cy="1069975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/>
              <a:t>If height ~ N(170, 10), what is the probability a person is between 160 and 180 cm?</a:t>
            </a:r>
            <a:endParaRPr lang="en-US" sz="3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C73A394-BB3F-7997-6688-9F0AC80901DF}"/>
              </a:ext>
            </a:extLst>
          </p:cNvPr>
          <p:cNvSpPr txBox="1">
            <a:spLocks/>
          </p:cNvSpPr>
          <p:nvPr/>
        </p:nvSpPr>
        <p:spPr>
          <a:xfrm>
            <a:off x="685800" y="3058887"/>
            <a:ext cx="10668000" cy="2286000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/>
              <a:t>Z = (x - μ)/σ → Z = (180 - 170)/10 = 1</a:t>
            </a:r>
          </a:p>
          <a:p>
            <a:r>
              <a:rPr lang="en-US" sz="3600"/>
              <a:t>P(-1 &lt; Z &lt; 1) = 68%</a:t>
            </a:r>
          </a:p>
          <a:p>
            <a:r>
              <a:rPr lang="en-US" sz="3600"/>
              <a:t>Hence, 68% of people are between 160 and 180 cm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329748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11270-9560-CD8A-D8C9-E57D7437EB9E}"/>
              </a:ext>
            </a:extLst>
          </p:cNvPr>
          <p:cNvSpPr txBox="1">
            <a:spLocks/>
          </p:cNvSpPr>
          <p:nvPr/>
        </p:nvSpPr>
        <p:spPr>
          <a:xfrm>
            <a:off x="3690257" y="217297"/>
            <a:ext cx="7264048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Binomial Distribution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52564-F577-238F-B4D3-5A2471D28B98}"/>
              </a:ext>
            </a:extLst>
          </p:cNvPr>
          <p:cNvSpPr txBox="1">
            <a:spLocks/>
          </p:cNvSpPr>
          <p:nvPr/>
        </p:nvSpPr>
        <p:spPr>
          <a:xfrm>
            <a:off x="359228" y="952180"/>
            <a:ext cx="11473544" cy="11429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Models the number of successes in n independent trials with probability p.</a:t>
            </a:r>
          </a:p>
          <a:p>
            <a:r>
              <a:rPr lang="en-US" sz="2400" dirty="0"/>
              <a:t>Used for yes/no outcomes.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C51AA5-2E7B-6CEA-4947-EF1C674B1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520" y="1790379"/>
            <a:ext cx="10501330" cy="4229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897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C2609-57E9-C164-FA56-8A4F313418E8}"/>
              </a:ext>
            </a:extLst>
          </p:cNvPr>
          <p:cNvSpPr txBox="1">
            <a:spLocks/>
          </p:cNvSpPr>
          <p:nvPr/>
        </p:nvSpPr>
        <p:spPr>
          <a:xfrm>
            <a:off x="3026229" y="217297"/>
            <a:ext cx="792807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Binomial Distribution Properties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9C3E6E-AC09-4E53-2690-D80BAC1E614A}"/>
              </a:ext>
            </a:extLst>
          </p:cNvPr>
          <p:cNvSpPr txBox="1">
            <a:spLocks/>
          </p:cNvSpPr>
          <p:nvPr/>
        </p:nvSpPr>
        <p:spPr>
          <a:xfrm>
            <a:off x="457199" y="1600200"/>
            <a:ext cx="8860972" cy="413657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Discrete distribution</a:t>
            </a:r>
          </a:p>
          <a:p>
            <a:endParaRPr lang="en-US" sz="3600" dirty="0"/>
          </a:p>
          <a:p>
            <a:r>
              <a:rPr lang="en-US" sz="3600" dirty="0"/>
              <a:t>Fixed number of trials (n)</a:t>
            </a:r>
          </a:p>
          <a:p>
            <a:endParaRPr lang="en-US" sz="3600" dirty="0"/>
          </a:p>
          <a:p>
            <a:r>
              <a:rPr lang="en-US" sz="3600" dirty="0"/>
              <a:t>Constant probability (p)</a:t>
            </a:r>
          </a:p>
          <a:p>
            <a:endParaRPr lang="en-US" sz="3600" dirty="0"/>
          </a:p>
          <a:p>
            <a:r>
              <a:rPr lang="en-US" sz="3600" dirty="0"/>
              <a:t>Independent trials</a:t>
            </a:r>
          </a:p>
        </p:txBody>
      </p:sp>
    </p:spTree>
    <p:extLst>
      <p:ext uri="{BB962C8B-B14F-4D97-AF65-F5344CB8AC3E}">
        <p14:creationId xmlns:p14="http://schemas.microsoft.com/office/powerpoint/2010/main" val="522191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33E68-4FD9-CF1D-CC04-751C5AAB3F54}"/>
              </a:ext>
            </a:extLst>
          </p:cNvPr>
          <p:cNvSpPr txBox="1">
            <a:spLocks/>
          </p:cNvSpPr>
          <p:nvPr/>
        </p:nvSpPr>
        <p:spPr>
          <a:xfrm>
            <a:off x="2827665" y="217297"/>
            <a:ext cx="8126639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Binomial Distribution example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Google Shape;74;p43">
            <a:extLst>
              <a:ext uri="{FF2B5EF4-FFF2-40B4-BE49-F238E27FC236}">
                <a16:creationId xmlns:a16="http://schemas.microsoft.com/office/drawing/2014/main" id="{90DA9888-597E-8239-BE76-A0EC8F9A1795}"/>
              </a:ext>
            </a:extLst>
          </p:cNvPr>
          <p:cNvSpPr txBox="1"/>
          <p:nvPr/>
        </p:nvSpPr>
        <p:spPr>
          <a:xfrm>
            <a:off x="447597" y="1252615"/>
            <a:ext cx="5974973" cy="5388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an inspection of </a:t>
            </a:r>
            <a:r>
              <a:rPr lang="en-IN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cement companies</a:t>
            </a:r>
            <a:r>
              <a:rPr lang="en-IN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60% of all industries had emissions that do not meet the pollution requirement. For a random sample of 15 companies, compute the following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IN"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73150" lvl="2" indent="-328613">
              <a:buSzPts val="1400"/>
              <a:buFont typeface="+mj-lt"/>
              <a:buAutoNum type="arabicPeriod"/>
            </a:pPr>
            <a:r>
              <a:rPr lang="en-IN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Probability that all 15 fails the inspection</a:t>
            </a:r>
          </a:p>
          <a:p>
            <a:pPr marL="1073150" lvl="2" indent="-328613">
              <a:buSzPts val="1400"/>
              <a:buFont typeface="+mj-lt"/>
              <a:buAutoNum type="arabicPeriod"/>
            </a:pPr>
            <a:r>
              <a:rPr lang="en-IN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Exactly 8 fails the inspection</a:t>
            </a:r>
          </a:p>
        </p:txBody>
      </p:sp>
    </p:spTree>
    <p:extLst>
      <p:ext uri="{BB962C8B-B14F-4D97-AF65-F5344CB8AC3E}">
        <p14:creationId xmlns:p14="http://schemas.microsoft.com/office/powerpoint/2010/main" val="29793620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A231B-5798-1C05-825F-354EF8859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9CEB9-DDF2-EB34-C0BE-AF2B648BDBA2}"/>
              </a:ext>
            </a:extLst>
          </p:cNvPr>
          <p:cNvSpPr txBox="1">
            <a:spLocks/>
          </p:cNvSpPr>
          <p:nvPr/>
        </p:nvSpPr>
        <p:spPr>
          <a:xfrm>
            <a:off x="2827665" y="217297"/>
            <a:ext cx="8126639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Binomial Distribution example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Google Shape;74;p43">
            <a:extLst>
              <a:ext uri="{FF2B5EF4-FFF2-40B4-BE49-F238E27FC236}">
                <a16:creationId xmlns:a16="http://schemas.microsoft.com/office/drawing/2014/main" id="{B2ED43B2-3E94-67AE-A3EC-E227D31E03DC}"/>
              </a:ext>
            </a:extLst>
          </p:cNvPr>
          <p:cNvSpPr txBox="1"/>
          <p:nvPr/>
        </p:nvSpPr>
        <p:spPr>
          <a:xfrm>
            <a:off x="447597" y="1252615"/>
            <a:ext cx="5974973" cy="5388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an inspection of </a:t>
            </a:r>
            <a:r>
              <a:rPr lang="en-IN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cement companies</a:t>
            </a:r>
            <a:r>
              <a:rPr lang="en-IN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60% of all industries had emissions that do not meet the pollution requirement. For a random sample of 15 companies, compute the following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IN"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73150" lvl="2" indent="-328613">
              <a:buSzPts val="1400"/>
              <a:buFont typeface="+mj-lt"/>
              <a:buAutoNum type="arabicPeriod"/>
            </a:pPr>
            <a:r>
              <a:rPr lang="en-IN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Probability that all 15 fails the inspection</a:t>
            </a:r>
          </a:p>
          <a:p>
            <a:pPr marL="1073150" lvl="2" indent="-328613">
              <a:buSzPts val="1400"/>
              <a:buFont typeface="+mj-lt"/>
              <a:buAutoNum type="arabicPeriod"/>
            </a:pPr>
            <a:r>
              <a:rPr lang="en-IN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Exactly 8 fails the inspection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6C173F-5DC0-B041-00CB-1FF3D9B2AB82}"/>
              </a:ext>
            </a:extLst>
          </p:cNvPr>
          <p:cNvSpPr txBox="1"/>
          <p:nvPr/>
        </p:nvSpPr>
        <p:spPr>
          <a:xfrm>
            <a:off x="6422570" y="1360714"/>
            <a:ext cx="5018314" cy="473943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4572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Given:</a:t>
            </a:r>
          </a:p>
          <a:p>
            <a:pPr marL="0" marR="0" lvl="0" indent="4572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n = 15</a:t>
            </a:r>
          </a:p>
          <a:p>
            <a:pPr marL="0" marR="0" lvl="0" indent="4572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 = 0.60</a:t>
            </a:r>
          </a:p>
          <a:p>
            <a:pPr marL="0" marR="0" lvl="0" indent="4572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q = 1-p = 1-0.6 = 0.4</a:t>
            </a:r>
          </a:p>
          <a:p>
            <a:pPr marL="0" marR="0" lvl="0" indent="4572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Probability that all 15 fails the inspection</a:t>
            </a:r>
          </a:p>
          <a:p>
            <a:pPr marL="0" marR="0" lvl="0" indent="4572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Here x = 15</a:t>
            </a:r>
          </a:p>
          <a:p>
            <a:pPr marL="0" marR="0" lvl="0" indent="4572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P(x) = </a:t>
            </a:r>
            <a:r>
              <a:rPr kumimoji="0" lang="en-US" sz="2400" b="0" i="0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kumimoji="0" lang="en-US" sz="2400" b="0" i="0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</a:t>
            </a:r>
            <a:r>
              <a:rPr kumimoji="0" lang="en-US" sz="2400" b="0" i="0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-x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x: 0,1,2….,n</a:t>
            </a:r>
          </a:p>
          <a:p>
            <a:pPr marL="0" marR="0" lvl="0" indent="4572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P(x=15) = 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(0.6)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(0.4)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 </a:t>
            </a:r>
          </a:p>
          <a:p>
            <a:pPr marL="0" marR="0" lvl="0" indent="4572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P(X=15) = 0.00047</a:t>
            </a:r>
          </a:p>
          <a:p>
            <a:pPr marL="0" marR="0" lvl="0" indent="4572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919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5E912-419F-7742-BCB2-036ECE49B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8C3FF-3265-701A-87CD-2F72B5D63C64}"/>
              </a:ext>
            </a:extLst>
          </p:cNvPr>
          <p:cNvSpPr txBox="1">
            <a:spLocks/>
          </p:cNvSpPr>
          <p:nvPr/>
        </p:nvSpPr>
        <p:spPr>
          <a:xfrm>
            <a:off x="2827665" y="217297"/>
            <a:ext cx="8126639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Binomial Distribution example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Google Shape;74;p43">
            <a:extLst>
              <a:ext uri="{FF2B5EF4-FFF2-40B4-BE49-F238E27FC236}">
                <a16:creationId xmlns:a16="http://schemas.microsoft.com/office/drawing/2014/main" id="{0FA931FC-BF0B-2F19-2320-52B7BA0C6656}"/>
              </a:ext>
            </a:extLst>
          </p:cNvPr>
          <p:cNvSpPr txBox="1"/>
          <p:nvPr/>
        </p:nvSpPr>
        <p:spPr>
          <a:xfrm>
            <a:off x="447597" y="1252615"/>
            <a:ext cx="5974973" cy="5388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an inspection of </a:t>
            </a:r>
            <a:r>
              <a:rPr lang="en-IN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cement companies</a:t>
            </a:r>
            <a:r>
              <a:rPr lang="en-IN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60% of all industries had emissions that do not meet the pollution requirement. For a random sample of 15 companies, compute the following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IN"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73150" lvl="2" indent="-328613">
              <a:buSzPts val="1400"/>
              <a:buFont typeface="+mj-lt"/>
              <a:buAutoNum type="arabicPeriod"/>
            </a:pPr>
            <a:r>
              <a:rPr lang="en-IN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Probability that all 15 fails the inspection</a:t>
            </a:r>
          </a:p>
          <a:p>
            <a:pPr marL="1073150" lvl="2" indent="-328613">
              <a:buSzPts val="1400"/>
              <a:buFont typeface="+mj-lt"/>
              <a:buAutoNum type="arabicPeriod"/>
            </a:pPr>
            <a:r>
              <a:rPr lang="en-IN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Exactly 8 fails the inspection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91C177-8057-1336-0084-B83591FC721B}"/>
              </a:ext>
            </a:extLst>
          </p:cNvPr>
          <p:cNvSpPr txBox="1"/>
          <p:nvPr/>
        </p:nvSpPr>
        <p:spPr>
          <a:xfrm>
            <a:off x="6422570" y="1552303"/>
            <a:ext cx="5356859" cy="3964932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indent="457200" algn="just">
              <a:lnSpc>
                <a:spcPct val="115000"/>
              </a:lnSpc>
            </a:pPr>
            <a:r>
              <a:rPr lang="en-IN" sz="20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Given:</a:t>
            </a:r>
          </a:p>
          <a:p>
            <a:pPr indent="457200" algn="just">
              <a:lnSpc>
                <a:spcPct val="115000"/>
              </a:lnSpc>
            </a:pPr>
            <a:r>
              <a:rPr lang="en-IN" sz="20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n = 15</a:t>
            </a:r>
          </a:p>
          <a:p>
            <a:pPr indent="457200" algn="just">
              <a:lnSpc>
                <a:spcPct val="115000"/>
              </a:lnSpc>
            </a:pPr>
            <a:r>
              <a:rPr lang="en-IN" sz="20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 = 0.60</a:t>
            </a:r>
          </a:p>
          <a:p>
            <a:pPr indent="457200" algn="just">
              <a:lnSpc>
                <a:spcPct val="115000"/>
              </a:lnSpc>
            </a:pPr>
            <a:r>
              <a:rPr lang="en-IN" sz="20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q = 1-p = 1-0.6 = 0.4</a:t>
            </a:r>
            <a:endParaRPr lang="en-IN" sz="20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indent="457200" algn="just">
              <a:lnSpc>
                <a:spcPct val="115000"/>
              </a:lnSpc>
            </a:pPr>
            <a:r>
              <a:rPr lang="en-IN" sz="20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Probability that exactly 8 fails the inspection</a:t>
            </a:r>
          </a:p>
          <a:p>
            <a:pPr indent="457200" algn="just">
              <a:lnSpc>
                <a:spcPct val="115000"/>
              </a:lnSpc>
            </a:pPr>
            <a:r>
              <a:rPr lang="en-IN" sz="20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Here x = 8</a:t>
            </a:r>
            <a:endParaRPr lang="en-IN" sz="20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indent="457200" algn="just">
              <a:lnSpc>
                <a:spcPct val="115000"/>
              </a:lnSpc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P(x) = </a:t>
            </a:r>
            <a:r>
              <a:rPr lang="en-US" sz="2000" baseline="30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2000" baseline="-25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0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2000" baseline="30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</a:t>
            </a:r>
            <a:r>
              <a:rPr lang="en-US" sz="2000" baseline="30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z="20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-x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x: 0,1,2….,n</a:t>
            </a:r>
          </a:p>
          <a:p>
            <a:pPr indent="457200" algn="just">
              <a:lnSpc>
                <a:spcPct val="115000"/>
              </a:lnSpc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P(x=8) = </a:t>
            </a:r>
            <a:r>
              <a:rPr lang="en-US" sz="20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20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(0.6)</a:t>
            </a:r>
            <a:r>
              <a:rPr lang="en-US" sz="20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(0.4)</a:t>
            </a:r>
            <a:r>
              <a:rPr lang="en-US" sz="20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15-8</a:t>
            </a:r>
          </a:p>
          <a:p>
            <a:pPr indent="457200" algn="just">
              <a:lnSpc>
                <a:spcPct val="115000"/>
              </a:lnSpc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P(x=8) = </a:t>
            </a:r>
            <a:r>
              <a:rPr lang="en-US" sz="20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20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(0.6)</a:t>
            </a:r>
            <a:r>
              <a:rPr lang="en-US" sz="20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(0.4)</a:t>
            </a:r>
            <a:r>
              <a:rPr lang="en-US" sz="20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457200" algn="just">
              <a:lnSpc>
                <a:spcPct val="115000"/>
              </a:lnSpc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P(X=8) = 0.17708</a:t>
            </a:r>
          </a:p>
          <a:p>
            <a:pPr indent="457200" algn="just">
              <a:lnSpc>
                <a:spcPct val="115000"/>
              </a:lnSpc>
            </a:pP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52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3809C-9761-6A1E-B6AA-24619AB85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B6C11AF-9D29-3F21-B36C-3ED3064B8753}"/>
              </a:ext>
            </a:extLst>
          </p:cNvPr>
          <p:cNvSpPr txBox="1">
            <a:spLocks/>
          </p:cNvSpPr>
          <p:nvPr/>
        </p:nvSpPr>
        <p:spPr>
          <a:xfrm>
            <a:off x="3200398" y="222953"/>
            <a:ext cx="70789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Poisson Distribution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6" name="Google Shape;74;p43">
            <a:extLst>
              <a:ext uri="{FF2B5EF4-FFF2-40B4-BE49-F238E27FC236}">
                <a16:creationId xmlns:a16="http://schemas.microsoft.com/office/drawing/2014/main" id="{3222E333-1535-6CB9-9473-2CFE93D82C49}"/>
              </a:ext>
            </a:extLst>
          </p:cNvPr>
          <p:cNvSpPr txBox="1"/>
          <p:nvPr/>
        </p:nvSpPr>
        <p:spPr>
          <a:xfrm>
            <a:off x="555172" y="1404261"/>
            <a:ext cx="5192486" cy="4641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algn="just">
              <a:lnSpc>
                <a:spcPct val="115000"/>
              </a:lnSpc>
            </a:pPr>
            <a:r>
              <a:rPr lang="en-US" sz="24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Sometimes there may be a situation that out of a large number of trials, probability of getting a success may be very small i.e., the event may be a rare event.  </a:t>
            </a:r>
          </a:p>
          <a:p>
            <a:pPr algn="just">
              <a:lnSpc>
                <a:spcPct val="115000"/>
              </a:lnSpc>
            </a:pPr>
            <a:endParaRPr lang="en-US" sz="2400" dirty="0">
              <a:latin typeface="Cambria Math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Ex: Cyber attack, Fraud, Probability of a tree falling on someone’s head.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this kind of situation where the occurrence of event is very rare Poisson distribution may be used.  </a:t>
            </a:r>
          </a:p>
          <a:p>
            <a:pPr algn="just">
              <a:lnSpc>
                <a:spcPct val="115000"/>
              </a:lnSpc>
            </a:pPr>
            <a:endParaRPr lang="en-US" sz="2400" dirty="0">
              <a:latin typeface="Cambria Math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532E3F-A344-F685-593B-DCCB0A513F07}"/>
              </a:ext>
            </a:extLst>
          </p:cNvPr>
          <p:cNvSpPr txBox="1"/>
          <p:nvPr/>
        </p:nvSpPr>
        <p:spPr>
          <a:xfrm>
            <a:off x="6096000" y="1335419"/>
            <a:ext cx="5889171" cy="4568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US" sz="24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Poisson distribution is the limiting case of binomial distribution.  Under the following conditions binomial distribution tend to Poisson distribution.</a:t>
            </a:r>
          </a:p>
          <a:p>
            <a:pPr algn="just">
              <a:lnSpc>
                <a:spcPct val="115000"/>
              </a:lnSpc>
            </a:pP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24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There are infinite number of trials; n </a:t>
            </a:r>
            <a:r>
              <a:rPr lang="en-US" sz="24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US" sz="24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α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24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Probability of getting an event is very small p</a:t>
            </a:r>
            <a:r>
              <a:rPr lang="en-US" sz="24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US" sz="24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24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product ‘np’ is constant np = λ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333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199DE-72C0-6C3F-C639-925F1DD8F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16750C9-8E38-53CB-0E97-BF0934E727DE}"/>
              </a:ext>
            </a:extLst>
          </p:cNvPr>
          <p:cNvSpPr txBox="1">
            <a:spLocks/>
          </p:cNvSpPr>
          <p:nvPr/>
        </p:nvSpPr>
        <p:spPr>
          <a:xfrm>
            <a:off x="3407229" y="217297"/>
            <a:ext cx="6357257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Poisson Distribution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37C26F-6B56-A4B4-FA3F-9722D41C6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32" y="1161208"/>
            <a:ext cx="11405713" cy="510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053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D346C-F2B3-501D-D77C-AB5495317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4;p43">
            <a:extLst>
              <a:ext uri="{FF2B5EF4-FFF2-40B4-BE49-F238E27FC236}">
                <a16:creationId xmlns:a16="http://schemas.microsoft.com/office/drawing/2014/main" id="{E1E0ED56-985B-80E7-28E1-1419D6F5D3D3}"/>
              </a:ext>
            </a:extLst>
          </p:cNvPr>
          <p:cNvSpPr txBox="1"/>
          <p:nvPr/>
        </p:nvSpPr>
        <p:spPr>
          <a:xfrm>
            <a:off x="797002" y="2636173"/>
            <a:ext cx="9065455" cy="2926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Mean  = </a:t>
            </a:r>
            <a:r>
              <a:rPr lang="en-US" sz="2800" dirty="0" err="1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Variance  = </a:t>
            </a:r>
            <a:r>
              <a:rPr lang="en-US" sz="2800" dirty="0" err="1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Poisson distribution Mean  = Variance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Standard deviation  = Sqrt(Variance)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75;p43">
            <a:extLst>
              <a:ext uri="{FF2B5EF4-FFF2-40B4-BE49-F238E27FC236}">
                <a16:creationId xmlns:a16="http://schemas.microsoft.com/office/drawing/2014/main" id="{9BDBAB8E-D3B6-0512-45A4-0ED182CCCF34}"/>
              </a:ext>
            </a:extLst>
          </p:cNvPr>
          <p:cNvSpPr txBox="1"/>
          <p:nvPr/>
        </p:nvSpPr>
        <p:spPr>
          <a:xfrm>
            <a:off x="797002" y="1546688"/>
            <a:ext cx="10947400" cy="756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3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Properties of Poisson Distribution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3619739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0D29DB-31E3-1B5D-1889-696106453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43" y="1513114"/>
            <a:ext cx="11441288" cy="402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362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37340-B94E-8D83-A375-589741220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B2C76-FCE9-F243-6132-E5D418DBD2E7}"/>
              </a:ext>
            </a:extLst>
          </p:cNvPr>
          <p:cNvSpPr txBox="1">
            <a:spLocks/>
          </p:cNvSpPr>
          <p:nvPr/>
        </p:nvSpPr>
        <p:spPr>
          <a:xfrm>
            <a:off x="1197429" y="2666582"/>
            <a:ext cx="10493828" cy="129581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How to perform Probability distributions using Python?</a:t>
            </a:r>
            <a:endParaRPr lang="en-US" sz="2800" b="1" dirty="0">
              <a:solidFill>
                <a:srgbClr val="D921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19201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9F4B2DB-5CFC-447E-7DDD-CC9D193E7FA5}"/>
              </a:ext>
            </a:extLst>
          </p:cNvPr>
          <p:cNvSpPr txBox="1">
            <a:spLocks/>
          </p:cNvSpPr>
          <p:nvPr/>
        </p:nvSpPr>
        <p:spPr>
          <a:xfrm>
            <a:off x="3929743" y="217297"/>
            <a:ext cx="702456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Comparison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29828F-8AE5-EA95-FE28-077E3341BC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8595266"/>
              </p:ext>
            </p:extLst>
          </p:nvPr>
        </p:nvGraphicFramePr>
        <p:xfrm>
          <a:off x="438705" y="1436915"/>
          <a:ext cx="11263438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73286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F1030-9CD0-1240-3950-D8F56A05B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951A195-4346-45AB-3A24-8512E8CA2F6C}"/>
              </a:ext>
            </a:extLst>
          </p:cNvPr>
          <p:cNvSpPr txBox="1">
            <a:spLocks/>
          </p:cNvSpPr>
          <p:nvPr/>
        </p:nvSpPr>
        <p:spPr>
          <a:xfrm>
            <a:off x="2623457" y="217297"/>
            <a:ext cx="8330848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Multiple Choice Questions (MCQs)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E76854D1-4E05-A700-F0E1-C4FF12AF3DE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What is a Random Variable?</a:t>
            </a:r>
            <a:br>
              <a:rPr lang="en-US"/>
            </a:br>
            <a:endParaRPr lang="en-US"/>
          </a:p>
          <a:p>
            <a:pPr marL="2540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a) A variable that takes deterministic values.</a:t>
            </a:r>
            <a:br>
              <a:rPr lang="en-US"/>
            </a:b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b) A variable that always takes integer values.</a:t>
            </a:r>
            <a:br>
              <a:rPr lang="en-US"/>
            </a:b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c) A constant that never changes.</a:t>
            </a:r>
            <a:br>
              <a:rPr lang="en-US"/>
            </a:br>
            <a:r>
              <a:rPr lang="en-US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d) A variable that assigns numerical values to the outcomes of a random process.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6102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0BB34-31D2-DCA8-7016-F4F8FDA24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8707CC4-8D09-85FC-C793-CE98B292CA7F}"/>
              </a:ext>
            </a:extLst>
          </p:cNvPr>
          <p:cNvSpPr txBox="1">
            <a:spLocks/>
          </p:cNvSpPr>
          <p:nvPr/>
        </p:nvSpPr>
        <p:spPr>
          <a:xfrm>
            <a:off x="2623457" y="217297"/>
            <a:ext cx="8330848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Multiple Choice Questions (MCQs)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93B04AF5-59C4-A89F-858A-4639A2309A63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What is a Random Variable?</a:t>
            </a:r>
            <a:br>
              <a:rPr lang="en-US" dirty="0"/>
            </a:br>
            <a:endParaRPr lang="en-US" dirty="0"/>
          </a:p>
          <a:p>
            <a:pPr marL="2540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a) A variable that takes deterministic values.</a:t>
            </a:r>
            <a:br>
              <a:rPr lang="en-US" dirty="0"/>
            </a:b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b) A variable that always takes integer values.</a:t>
            </a:r>
            <a:br>
              <a:rPr lang="en-US" dirty="0"/>
            </a:br>
            <a:r>
              <a:rPr lang="en-US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c) A constant that never changes.</a:t>
            </a:r>
            <a:br>
              <a:rPr lang="en-US" dirty="0"/>
            </a:br>
            <a:r>
              <a:rPr lang="en-US" dirty="0">
                <a:solidFill>
                  <a:srgbClr val="242424"/>
                </a:solidFill>
                <a:highlight>
                  <a:srgbClr val="FFFF00"/>
                </a:highlight>
                <a:latin typeface="source-serif-pro"/>
              </a:rPr>
              <a:t>d) A variable that assigns numerical values to the outcomes of a random process.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367512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BD7B1-DE66-2A70-9441-A4D9EA811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CD102-CBE3-629B-0142-74A52F6CFAF2}"/>
              </a:ext>
            </a:extLst>
          </p:cNvPr>
          <p:cNvSpPr txBox="1">
            <a:spLocks/>
          </p:cNvSpPr>
          <p:nvPr/>
        </p:nvSpPr>
        <p:spPr>
          <a:xfrm>
            <a:off x="2623457" y="217297"/>
            <a:ext cx="8330848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Multiple Choice Questions (MCQs)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280A245-8D82-512A-1F36-89BABED9CBA0}"/>
              </a:ext>
            </a:extLst>
          </p:cNvPr>
          <p:cNvSpPr txBox="1">
            <a:spLocks/>
          </p:cNvSpPr>
          <p:nvPr/>
        </p:nvSpPr>
        <p:spPr>
          <a:xfrm>
            <a:off x="438705" y="1253331"/>
            <a:ext cx="10515600" cy="43513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/>
              <a:t>Q1: Which distribution has mean = variance?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/>
              <a:t>A) Normal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/>
              <a:t>B) Binomial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/>
              <a:t>C) Poisson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32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/>
              <a:t>Q2: Which is used for yes/no trials?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/>
              <a:t>A) Poisson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/>
              <a:t>B) Binomial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9885009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84169-E1E8-0C1F-9F8C-E5C9D919D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7B2A4-D040-316A-2078-072EFF68142B}"/>
              </a:ext>
            </a:extLst>
          </p:cNvPr>
          <p:cNvSpPr txBox="1">
            <a:spLocks/>
          </p:cNvSpPr>
          <p:nvPr/>
        </p:nvSpPr>
        <p:spPr>
          <a:xfrm>
            <a:off x="2623457" y="217297"/>
            <a:ext cx="8330848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Multiple Choice Questions (MCQs)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06E6C-85E2-C2E3-7559-AD55AD74B0A3}"/>
              </a:ext>
            </a:extLst>
          </p:cNvPr>
          <p:cNvSpPr txBox="1">
            <a:spLocks/>
          </p:cNvSpPr>
          <p:nvPr/>
        </p:nvSpPr>
        <p:spPr>
          <a:xfrm>
            <a:off x="438705" y="1264216"/>
            <a:ext cx="11013066" cy="45269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/>
              <a:t>Q1: Which distribution has mean = variance?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/>
              <a:t>A) Normal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/>
              <a:t>B) Binomial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/>
              <a:t>C) Poisson ✅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32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/>
              <a:t>Q2: Which is used for yes/no trials?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/>
              <a:t>A) Poisson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/>
              <a:t>B) Binomial ✅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129158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58974-99FB-3720-754B-A84E57884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41BF9BA-6723-0FB9-52FA-08701D972DCC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D9212B"/>
                </a:solidFill>
                <a:effectLst/>
                <a:uLnTx/>
                <a:uFillTx/>
                <a:latin typeface="Avenir Next LT Pro" panose="020B0504020202020204" pitchFamily="34" charset="0"/>
                <a:ea typeface="+mj-ea"/>
                <a:cs typeface="Arial" pitchFamily="34" charset="0"/>
              </a:rPr>
              <a:t>Session Summary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D9212B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BE93AF-E7B5-D045-8429-AD60E786E755}"/>
              </a:ext>
            </a:extLst>
          </p:cNvPr>
          <p:cNvSpPr txBox="1"/>
          <p:nvPr/>
        </p:nvSpPr>
        <p:spPr>
          <a:xfrm>
            <a:off x="1218460" y="2305520"/>
            <a:ext cx="89161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itchFamily="34" charset="0"/>
              </a:rPr>
              <a:t>In this session, we have discussed about: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19877B6-B575-5552-669B-AE83DCCBAF2B}"/>
              </a:ext>
            </a:extLst>
          </p:cNvPr>
          <p:cNvSpPr txBox="1">
            <a:spLocks/>
          </p:cNvSpPr>
          <p:nvPr/>
        </p:nvSpPr>
        <p:spPr>
          <a:xfrm>
            <a:off x="859972" y="2828771"/>
            <a:ext cx="10515600" cy="29188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Understand the concept of random variable and probability distributions. </a:t>
            </a:r>
          </a:p>
          <a:p>
            <a:r>
              <a:rPr lang="en-US" dirty="0"/>
              <a:t>Understand Normal, Binomial, and Poisson Distributions.</a:t>
            </a:r>
          </a:p>
          <a:p>
            <a:r>
              <a:rPr lang="en-US" dirty="0"/>
              <a:t>Learn the formulas, attempt quizzes and solve numerical problems.</a:t>
            </a:r>
          </a:p>
          <a:p>
            <a:r>
              <a:rPr lang="en-US" dirty="0"/>
              <a:t>How to work with probability distributions using Python!</a:t>
            </a:r>
          </a:p>
        </p:txBody>
      </p:sp>
    </p:spTree>
    <p:extLst>
      <p:ext uri="{BB962C8B-B14F-4D97-AF65-F5344CB8AC3E}">
        <p14:creationId xmlns:p14="http://schemas.microsoft.com/office/powerpoint/2010/main" val="27963594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59546-DE86-A91D-D6C0-4DC694BE7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FE865F2-B3CB-A157-5545-C09B44282D58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Reference Links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6448FF5-C12F-7CD4-DA8D-FBF82FEE1569}"/>
              </a:ext>
            </a:extLst>
          </p:cNvPr>
          <p:cNvSpPr txBox="1">
            <a:spLocks/>
          </p:cNvSpPr>
          <p:nvPr/>
        </p:nvSpPr>
        <p:spPr>
          <a:xfrm>
            <a:off x="622300" y="1160003"/>
            <a:ext cx="10947400" cy="496865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hlinkClick r:id="rId2"/>
              </a:rPr>
              <a:t>Top 15 Probability Distribution Questions for Data Science Interviews</a:t>
            </a:r>
            <a:endParaRPr lang="en-US" dirty="0"/>
          </a:p>
          <a:p>
            <a:endParaRPr lang="en-US" dirty="0">
              <a:hlinkClick r:id="rId3"/>
            </a:endParaRPr>
          </a:p>
          <a:p>
            <a:r>
              <a:rPr lang="en-US" dirty="0">
                <a:hlinkClick r:id="rId4"/>
              </a:rPr>
              <a:t>Analyzing loan data with binomial and </a:t>
            </a:r>
            <a:r>
              <a:rPr lang="en-US" dirty="0" err="1">
                <a:hlinkClick r:id="rId4"/>
              </a:rPr>
              <a:t>poisson</a:t>
            </a:r>
            <a:r>
              <a:rPr lang="en-US" dirty="0">
                <a:hlinkClick r:id="rId4"/>
              </a:rPr>
              <a:t> distribution</a:t>
            </a:r>
            <a:endParaRPr lang="en-US" dirty="0"/>
          </a:p>
          <a:p>
            <a:endParaRPr lang="en-US" dirty="0">
              <a:hlinkClick r:id="rId3"/>
            </a:endParaRPr>
          </a:p>
          <a:p>
            <a:r>
              <a:rPr lang="en-US" dirty="0">
                <a:hlinkClick r:id="rId5"/>
              </a:rPr>
              <a:t>Notebook</a:t>
            </a:r>
            <a:endParaRPr lang="en-US" dirty="0">
              <a:hlinkClick r:id="rId3"/>
            </a:endParaRPr>
          </a:p>
          <a:p>
            <a:endParaRPr lang="en-US" dirty="0">
              <a:hlinkClick r:id="rId3"/>
            </a:endParaRPr>
          </a:p>
          <a:p>
            <a:r>
              <a:rPr lang="en-US" dirty="0">
                <a:hlinkClick r:id="rId3"/>
              </a:rPr>
              <a:t>10 Must-Know Probability Concepts for Every Aspiring Statistician and Data Scientist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6"/>
              </a:rPr>
              <a:t>Top 20 Interview Questions on Descriptive and Inferential Statistics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hlinkClick r:id="rId7"/>
              </a:rPr>
              <a:t>10 Must-Know Statistics Interview Questions (With Real Examples &amp; Formulas!)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7087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8C9DB-1243-8917-3E48-68F815A48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uilding with a large square structure&#10;&#10;AI-generated content may be incorrect.">
            <a:extLst>
              <a:ext uri="{FF2B5EF4-FFF2-40B4-BE49-F238E27FC236}">
                <a16:creationId xmlns:a16="http://schemas.microsoft.com/office/drawing/2014/main" id="{B6BE01BD-3DAC-F870-8EC1-54E7EA800B9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1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244" y="-3712171"/>
            <a:ext cx="12286488" cy="108400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E61552-9547-D4A5-64B9-3FC2792844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429"/>
          <a:stretch>
            <a:fillRect/>
          </a:stretch>
        </p:blipFill>
        <p:spPr>
          <a:xfrm>
            <a:off x="266700" y="86360"/>
            <a:ext cx="2347089" cy="6248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02A5AA-EA6D-A358-BDB0-EBEA5D7898D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19" r="51933"/>
          <a:stretch>
            <a:fillRect/>
          </a:stretch>
        </p:blipFill>
        <p:spPr>
          <a:xfrm>
            <a:off x="10202069" y="124460"/>
            <a:ext cx="2163416" cy="6248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260C9D-F6A2-8648-CD70-A21AC50214E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311316" y="4833449"/>
            <a:ext cx="3569368" cy="44627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dirty="0">
                <a:solidFill>
                  <a:srgbClr val="C00000"/>
                </a:solidFill>
                <a:latin typeface="Montserrat Bold" pitchFamily="2" charset="0"/>
              </a:rPr>
              <a:t>For any Query:</a:t>
            </a:r>
            <a:endParaRPr lang="en-IN" sz="2300" dirty="0">
              <a:solidFill>
                <a:srgbClr val="C00000"/>
              </a:solidFill>
              <a:latin typeface="Montserrat Bold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E26E7-6195-40B3-121B-6814444C791D}"/>
              </a:ext>
            </a:extLst>
          </p:cNvPr>
          <p:cNvSpPr txBox="1">
            <a:spLocks/>
          </p:cNvSpPr>
          <p:nvPr/>
        </p:nvSpPr>
        <p:spPr>
          <a:xfrm>
            <a:off x="2876550" y="5363953"/>
            <a:ext cx="6438900" cy="3847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900" dirty="0">
                <a:latin typeface="Montserrat SemiBold" pitchFamily="2" charset="0"/>
              </a:rPr>
              <a:t>Website- www.onlinecu.in</a:t>
            </a:r>
            <a:endParaRPr lang="en-IN" sz="1900" dirty="0">
              <a:latin typeface="Montserrat SemiBold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2955B1-0493-1C1D-DF37-CC783517B463}"/>
              </a:ext>
            </a:extLst>
          </p:cNvPr>
          <p:cNvSpPr txBox="1">
            <a:spLocks/>
          </p:cNvSpPr>
          <p:nvPr/>
        </p:nvSpPr>
        <p:spPr>
          <a:xfrm>
            <a:off x="2876550" y="5722217"/>
            <a:ext cx="6438900" cy="3847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900" dirty="0">
                <a:latin typeface="Montserrat SemiBold" pitchFamily="2" charset="0"/>
              </a:rPr>
              <a:t>Helpline no.: 1800 121 388 800 </a:t>
            </a:r>
            <a:endParaRPr lang="en-IN" sz="1900" dirty="0">
              <a:latin typeface="Montserrat SemiBold" pitchFamily="2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219BC1C-B8FD-B4C5-4F1A-EF8B8E99CD2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4660232" y="2519769"/>
            <a:ext cx="3879226" cy="612339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000" b="1" i="0">
                <a:solidFill>
                  <a:srgbClr val="242B34"/>
                </a:solidFill>
                <a:effectLst/>
                <a:latin typeface="Montserra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en-US" sz="4000" dirty="0">
                <a:solidFill>
                  <a:schemeClr val="tx1"/>
                </a:solidFill>
              </a:rPr>
              <a:t>THANK YOU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B7D14C-B6FF-E969-C90A-BE0B31E3188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760677" y="1903384"/>
            <a:ext cx="1363827" cy="1738069"/>
            <a:chOff x="3505200" y="1214438"/>
            <a:chExt cx="2016126" cy="3225800"/>
          </a:xfrm>
        </p:grpSpPr>
        <p:sp>
          <p:nvSpPr>
            <p:cNvPr id="13" name="Diamond 6">
              <a:extLst>
                <a:ext uri="{FF2B5EF4-FFF2-40B4-BE49-F238E27FC236}">
                  <a16:creationId xmlns:a16="http://schemas.microsoft.com/office/drawing/2014/main" id="{0FB5638E-DA82-408B-D548-520AF003258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3505200" y="1214438"/>
              <a:ext cx="1822450" cy="3225800"/>
            </a:xfrm>
            <a:custGeom>
              <a:avLst/>
              <a:gdLst>
                <a:gd name="T0" fmla="*/ 1024904 w 2430463"/>
                <a:gd name="T1" fmla="*/ 2413000 h 3225800"/>
                <a:gd name="T2" fmla="*/ 680146 w 2430463"/>
                <a:gd name="T3" fmla="*/ 3225800 h 3225800"/>
                <a:gd name="T4" fmla="*/ 0 w 2430463"/>
                <a:gd name="T5" fmla="*/ 1612900 h 3225800"/>
                <a:gd name="T6" fmla="*/ 680146 w 2430463"/>
                <a:gd name="T7" fmla="*/ 0 h 3225800"/>
                <a:gd name="T8" fmla="*/ 1024904 w 2430463"/>
                <a:gd name="T9" fmla="*/ 817563 h 32258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30463" h="3225800">
                  <a:moveTo>
                    <a:pt x="2430463" y="2413000"/>
                  </a:moveTo>
                  <a:lnTo>
                    <a:pt x="1612900" y="3225800"/>
                  </a:lnTo>
                  <a:lnTo>
                    <a:pt x="0" y="1612900"/>
                  </a:lnTo>
                  <a:lnTo>
                    <a:pt x="1612900" y="0"/>
                  </a:lnTo>
                  <a:lnTo>
                    <a:pt x="2430463" y="817563"/>
                  </a:lnTo>
                </a:path>
              </a:pathLst>
            </a:custGeom>
            <a:noFill/>
            <a:ln w="38100" cap="flat" cmpd="sng" algn="ctr">
              <a:solidFill>
                <a:srgbClr val="C00000"/>
              </a:solidFill>
              <a:prstDash val="solid"/>
              <a:miter lim="800000"/>
              <a:headEnd/>
              <a:tailEnd/>
            </a:ln>
          </p:spPr>
          <p:txBody>
            <a:bodyPr anchor="ctr"/>
            <a:lstStyle/>
            <a:p>
              <a:endParaRPr lang="en-US" dirty="0">
                <a:latin typeface="Montserrat" pitchFamily="2" charset="0"/>
              </a:endParaRPr>
            </a:p>
          </p:txBody>
        </p:sp>
        <p:sp>
          <p:nvSpPr>
            <p:cNvPr id="14" name="Diamond 6">
              <a:extLst>
                <a:ext uri="{FF2B5EF4-FFF2-40B4-BE49-F238E27FC236}">
                  <a16:creationId xmlns:a16="http://schemas.microsoft.com/office/drawing/2014/main" id="{F6A4D4F5-BE08-6D8F-3085-311D2F755A2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3697289" y="1214438"/>
              <a:ext cx="1824037" cy="3225800"/>
            </a:xfrm>
            <a:custGeom>
              <a:avLst/>
              <a:gdLst>
                <a:gd name="T0" fmla="*/ 1026691 w 2430463"/>
                <a:gd name="T1" fmla="*/ 2413000 h 3225800"/>
                <a:gd name="T2" fmla="*/ 681330 w 2430463"/>
                <a:gd name="T3" fmla="*/ 3225800 h 3225800"/>
                <a:gd name="T4" fmla="*/ 0 w 2430463"/>
                <a:gd name="T5" fmla="*/ 1612900 h 3225800"/>
                <a:gd name="T6" fmla="*/ 681330 w 2430463"/>
                <a:gd name="T7" fmla="*/ 0 h 3225800"/>
                <a:gd name="T8" fmla="*/ 1026691 w 2430463"/>
                <a:gd name="T9" fmla="*/ 817563 h 32258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30463" h="3225800">
                  <a:moveTo>
                    <a:pt x="2430463" y="2413000"/>
                  </a:moveTo>
                  <a:lnTo>
                    <a:pt x="1612900" y="3225800"/>
                  </a:lnTo>
                  <a:lnTo>
                    <a:pt x="0" y="1612900"/>
                  </a:lnTo>
                  <a:lnTo>
                    <a:pt x="1612900" y="0"/>
                  </a:lnTo>
                  <a:lnTo>
                    <a:pt x="2430463" y="817563"/>
                  </a:lnTo>
                </a:path>
              </a:pathLst>
            </a:custGeom>
            <a:noFill/>
            <a:ln w="38100" cap="flat" cmpd="sng" algn="ctr">
              <a:solidFill>
                <a:srgbClr val="C00000"/>
              </a:solidFill>
              <a:prstDash val="solid"/>
              <a:miter lim="800000"/>
              <a:headEnd/>
              <a:tailEnd/>
            </a:ln>
          </p:spPr>
          <p:txBody>
            <a:bodyPr anchor="ctr"/>
            <a:lstStyle/>
            <a:p>
              <a:endParaRPr lang="en-US" dirty="0">
                <a:latin typeface="Montserrat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5262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1539</TotalTime>
  <Words>1276</Words>
  <Application>Microsoft Office PowerPoint</Application>
  <PresentationFormat>Widescreen</PresentationFormat>
  <Paragraphs>185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Aptos</vt:lpstr>
      <vt:lpstr>Aptos Display</vt:lpstr>
      <vt:lpstr>Arial</vt:lpstr>
      <vt:lpstr>Avenir Next LT Pro</vt:lpstr>
      <vt:lpstr>Calibri</vt:lpstr>
      <vt:lpstr>Cambria Math</vt:lpstr>
      <vt:lpstr>Montserrat</vt:lpstr>
      <vt:lpstr>Montserrat Bold</vt:lpstr>
      <vt:lpstr>Montserrat SemiBold</vt:lpstr>
      <vt:lpstr>source-serif-pro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idol</dc:creator>
  <cp:lastModifiedBy>Vikash Singh</cp:lastModifiedBy>
  <cp:revision>84</cp:revision>
  <dcterms:created xsi:type="dcterms:W3CDTF">2025-07-09T10:39:06Z</dcterms:created>
  <dcterms:modified xsi:type="dcterms:W3CDTF">2026-03-20T18:07:02Z</dcterms:modified>
</cp:coreProperties>
</file>