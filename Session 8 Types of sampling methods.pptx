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302" r:id="rId4"/>
    <p:sldId id="324" r:id="rId5"/>
    <p:sldId id="290" r:id="rId6"/>
    <p:sldId id="310" r:id="rId7"/>
    <p:sldId id="311" r:id="rId8"/>
    <p:sldId id="332" r:id="rId9"/>
    <p:sldId id="325" r:id="rId10"/>
    <p:sldId id="271" r:id="rId11"/>
    <p:sldId id="326" r:id="rId12"/>
    <p:sldId id="327" r:id="rId13"/>
    <p:sldId id="284" r:id="rId14"/>
    <p:sldId id="333" r:id="rId15"/>
    <p:sldId id="296" r:id="rId16"/>
    <p:sldId id="295" r:id="rId17"/>
    <p:sldId id="25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166" userDrawn="1">
          <p15:clr>
            <a:srgbClr val="A4A3A4"/>
          </p15:clr>
        </p15:guide>
        <p15:guide id="4" pos="75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71" autoAdjust="0"/>
    <p:restoredTop sz="94660"/>
  </p:normalViewPr>
  <p:slideViewPr>
    <p:cSldViewPr snapToGrid="0" showGuides="1">
      <p:cViewPr varScale="1">
        <p:scale>
          <a:sx n="59" d="100"/>
          <a:sy n="59" d="100"/>
        </p:scale>
        <p:origin x="1028" y="52"/>
      </p:cViewPr>
      <p:guideLst>
        <p:guide orient="horz" pos="2160"/>
        <p:guide pos="3840"/>
        <p:guide pos="166"/>
        <p:guide pos="75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8CAB6-0A18-B12A-06A5-CFD0B0666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51E932-87D4-E4A3-5EC5-FD37D2ADBA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361194-F8BE-C949-EFCA-00EE7F867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334BE2-760E-FA63-F53E-6EC6D65C1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019652-B072-95C3-666A-824B223F0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81034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uilding with a large square structure&#10;&#10;AI-generated content may be incorrect.">
            <a:extLst>
              <a:ext uri="{FF2B5EF4-FFF2-40B4-BE49-F238E27FC236}">
                <a16:creationId xmlns:a16="http://schemas.microsoft.com/office/drawing/2014/main" id="{20082ACF-3AE9-146E-7E5F-C65F33E8B8E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7244" y="-3712171"/>
            <a:ext cx="12286488" cy="108400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D877687-59E4-FE10-798A-5CDB6083232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5429"/>
          <a:stretch>
            <a:fillRect/>
          </a:stretch>
        </p:blipFill>
        <p:spPr>
          <a:xfrm>
            <a:off x="266700" y="86360"/>
            <a:ext cx="2347089" cy="62484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91ECD35-FA11-4851-4A09-09EF2B1ECA3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19" r="51933"/>
          <a:stretch>
            <a:fillRect/>
          </a:stretch>
        </p:blipFill>
        <p:spPr>
          <a:xfrm>
            <a:off x="10202069" y="124460"/>
            <a:ext cx="2163416" cy="6248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E5BE6A8-737D-A62C-6551-363023866B3F}"/>
              </a:ext>
            </a:extLst>
          </p:cNvPr>
          <p:cNvSpPr txBox="1">
            <a:spLocks/>
          </p:cNvSpPr>
          <p:nvPr userDrawn="1"/>
        </p:nvSpPr>
        <p:spPr>
          <a:xfrm>
            <a:off x="-139701" y="6346735"/>
            <a:ext cx="3565072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600" dirty="0">
                <a:solidFill>
                  <a:srgbClr val="C00000"/>
                </a:solidFill>
                <a:latin typeface="Montserrat SemiBold" pitchFamily="2" charset="0"/>
              </a:rPr>
              <a:t>Website-</a:t>
            </a:r>
            <a:r>
              <a:rPr lang="en-US" sz="1600" dirty="0">
                <a:latin typeface="Montserrat SemiBold" pitchFamily="2" charset="0"/>
              </a:rPr>
              <a:t> www.onlinecu.in</a:t>
            </a:r>
            <a:endParaRPr lang="en-IN" sz="1600" dirty="0">
              <a:latin typeface="Montserrat SemiBold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DCA99B-85F9-8685-ECB4-83814B31D6D6}"/>
              </a:ext>
            </a:extLst>
          </p:cNvPr>
          <p:cNvSpPr txBox="1">
            <a:spLocks/>
          </p:cNvSpPr>
          <p:nvPr userDrawn="1"/>
        </p:nvSpPr>
        <p:spPr>
          <a:xfrm>
            <a:off x="8505373" y="6346736"/>
            <a:ext cx="3826328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600" dirty="0">
                <a:solidFill>
                  <a:srgbClr val="C00000"/>
                </a:solidFill>
                <a:latin typeface="Montserrat SemiBold" pitchFamily="2" charset="0"/>
              </a:rPr>
              <a:t>Helpline no.: </a:t>
            </a:r>
            <a:r>
              <a:rPr lang="en-US" sz="1600" dirty="0">
                <a:latin typeface="Montserrat SemiBold" pitchFamily="2" charset="0"/>
              </a:rPr>
              <a:t>1800 121 388 800 </a:t>
            </a:r>
            <a:endParaRPr lang="en-IN" sz="1600" dirty="0">
              <a:latin typeface="Montserrat Semi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36250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55807-6537-7A6D-A641-B2A17376E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5B0403-42FF-1C59-1D5B-32C3D76224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186C83-3353-0411-EE9B-3502DB3E4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0F388B-76FB-C020-4F27-4E8F47369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013B55-0C9D-95FE-DE57-76D9CAC53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8621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0200A-4353-C353-E184-88D52DADC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3E2DB6-9BB8-38D4-16CA-0544ED95B0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E55387-24D0-58FA-83A3-7DE9457A88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792733-6AE7-EB0F-FA3B-AF5CDFCC8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1F2C6F-7464-367E-E3F8-97DC8C8F3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816EA2-7E56-7BA3-2439-E543C4160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8239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5A9EF-5440-6E76-FF73-0CF065E3F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746708-25E5-77F6-A964-227D0EE4C5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0C22E3-5FB3-FA79-ED62-21819A6A00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96025A-E802-D170-D6B8-690A286BCE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0B7203-20FE-415A-F923-11A30CAAC6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7DA1C9-7D6A-71D0-70D9-9B0828718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FE8C4F-142A-8803-C2AD-C6393A49A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83C7CE-86E2-2A63-0ECE-6F7089A68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1712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AE12F-6D65-52A0-48AA-B03A63F84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C2E755-9EA8-6439-9AA9-91FF3D918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EB468B-111F-CF06-6C38-3BC8CFF43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D94801-333D-738E-07D1-D8DAF45C0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5337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345271-495D-152E-CF4A-DF4710D8B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F704DD-032D-53A7-BFF6-45E5965DD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277178-4230-89A4-5872-75B349208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7007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A69D6-24F8-42C9-1D77-EC8866907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9D61D7-9867-D57B-393C-47C770AA65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ED94E2-1CFC-4DFF-4491-2085D8036D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0CD279-5116-5E15-60C5-9EF79DDB4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031C19-F77D-04E3-B033-CF6338C13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8963EA-8864-E6BE-24F5-23AFDA15D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8667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56FE6-775B-5F83-EEAB-E36547DB1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964366-F9DB-7570-8134-3DDD5A1017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EFF4E6-78FE-6A93-F107-25294F26CE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DA6E5D-D1B7-97B4-E5F0-293D2283C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70F263-4F04-05C5-5AB8-17B4BF436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8888F2-58F4-670D-C34D-AD8FC7455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8837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48A30-B913-89F3-B532-786CB42C2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D29D4D-DEE7-6A1D-B42E-38574A7273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96FAF5-A696-3446-BF82-38164F6A8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EE94DE-54DD-A6A8-474C-AB93008EA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98F6DA-A2A6-C945-BF21-6706B5FA6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9727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308265-AD14-4580-CC74-9C4CF00E99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F309DA-5772-6FBD-97A3-F137B93F90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C1C790-714C-45F7-D996-F901BECA5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F76402-000D-C35B-9564-25F55D31A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67743-5BF8-DFC2-CBDC-EB27E0116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75857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B05E56-8D2F-5F2F-8551-44A2B095F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6445D5-7E47-8624-9AC3-BB3BCD2772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9B5D27-2F61-7E25-7C4F-55CEB62622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10130E-D3C0-4B5D-8C12-EBDFC4E82B3D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8E40CC-F5EF-5459-5DE6-51B24194D7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677AFA-267B-483B-8828-7D5EC7CBFD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2197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vikashsinghy2k/10-must-know-probability-concepts-for-every-aspiring-statistician-and-data-scientist-66a5b48cacec" TargetMode="External"/><Relationship Id="rId2" Type="http://schemas.openxmlformats.org/officeDocument/2006/relationships/hyperlink" Target="https://medium.com/@vikashsinghy2k/complete-guide-to-sampling-methods-random-stratified-systematic-and-cluster-sampling-with-f81eeb07676b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medium.com/@vikashsinghy2k/10-must-know-statistics-interview-questions-with-real-examples-formulas-0b1118f5eb10" TargetMode="External"/><Relationship Id="rId5" Type="http://schemas.openxmlformats.org/officeDocument/2006/relationships/hyperlink" Target="https://medium.com/@vikashsinghy2k/top-20-interview-questions-on-descriptive-and-inferential-statistics-b9ce9da9b1f9" TargetMode="External"/><Relationship Id="rId4" Type="http://schemas.openxmlformats.org/officeDocument/2006/relationships/hyperlink" Target="https://medium.com/@vikashsinghy2k/analyzing-loan-data-with-binomial-and-poisson-distributions-in-python-404bbede0af7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33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uilding with a large square structure&#10;&#10;AI-generated content may be incorrect.">
            <a:extLst>
              <a:ext uri="{FF2B5EF4-FFF2-40B4-BE49-F238E27FC236}">
                <a16:creationId xmlns:a16="http://schemas.microsoft.com/office/drawing/2014/main" id="{45D7B758-93B8-6702-E78A-5420C09B693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4488" y="-3481759"/>
            <a:ext cx="12286489" cy="108400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0A9F29A-6499-7007-BE30-D0006E28FD6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5429"/>
          <a:stretch>
            <a:fillRect/>
          </a:stretch>
        </p:blipFill>
        <p:spPr>
          <a:xfrm>
            <a:off x="266700" y="86360"/>
            <a:ext cx="2347089" cy="6248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A3E01D9-0256-D1BA-213E-B0241C636F5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19" r="51933"/>
          <a:stretch>
            <a:fillRect/>
          </a:stretch>
        </p:blipFill>
        <p:spPr>
          <a:xfrm>
            <a:off x="10202069" y="124460"/>
            <a:ext cx="2163416" cy="62484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68A999DC-A153-1905-C7EE-7C969DA83FFE}"/>
              </a:ext>
            </a:extLst>
          </p:cNvPr>
          <p:cNvSpPr/>
          <p:nvPr/>
        </p:nvSpPr>
        <p:spPr>
          <a:xfrm>
            <a:off x="-419100" y="4152147"/>
            <a:ext cx="12705589" cy="4105276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  <a:alpha val="0"/>
                </a:schemeClr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C59026-22DA-C7EE-E8D5-0A960E14490B}"/>
              </a:ext>
            </a:extLst>
          </p:cNvPr>
          <p:cNvSpPr/>
          <p:nvPr/>
        </p:nvSpPr>
        <p:spPr>
          <a:xfrm>
            <a:off x="0" y="5429251"/>
            <a:ext cx="12192001" cy="865268"/>
          </a:xfrm>
          <a:prstGeom prst="rect">
            <a:avLst/>
          </a:prstGeom>
          <a:solidFill>
            <a:srgbClr val="C00000">
              <a:alpha val="7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FAFFA5-8138-FB30-6CEE-C907D53506F8}"/>
              </a:ext>
            </a:extLst>
          </p:cNvPr>
          <p:cNvSpPr txBox="1"/>
          <p:nvPr/>
        </p:nvSpPr>
        <p:spPr>
          <a:xfrm>
            <a:off x="1195137" y="5113697"/>
            <a:ext cx="9801726" cy="147732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endParaRPr lang="en-US" sz="3000" dirty="0">
              <a:solidFill>
                <a:schemeClr val="bg1"/>
              </a:solidFill>
              <a:latin typeface="Montserrat SemiBold" pitchFamily="2" charset="0"/>
            </a:endParaRPr>
          </a:p>
          <a:p>
            <a:pPr algn="ctr"/>
            <a:r>
              <a:rPr lang="en-US" sz="3000" dirty="0">
                <a:solidFill>
                  <a:schemeClr val="bg1"/>
                </a:solidFill>
                <a:latin typeface="Montserrat SemiBold" pitchFamily="2" charset="0"/>
              </a:rPr>
              <a:t>Types of sampling methods</a:t>
            </a:r>
          </a:p>
          <a:p>
            <a:pPr algn="ctr"/>
            <a:endParaRPr lang="en-US" sz="3000" dirty="0">
              <a:solidFill>
                <a:schemeClr val="bg1"/>
              </a:solidFill>
              <a:latin typeface="Montserrat Semi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6957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E650A68-EA3A-2D91-1B47-FD55243C0DD5}"/>
              </a:ext>
            </a:extLst>
          </p:cNvPr>
          <p:cNvSpPr txBox="1">
            <a:spLocks/>
          </p:cNvSpPr>
          <p:nvPr/>
        </p:nvSpPr>
        <p:spPr>
          <a:xfrm>
            <a:off x="3606449" y="239070"/>
            <a:ext cx="6909152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Learning Objectives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5DD431F-D61B-40D1-6A24-AC95A22F2994}"/>
              </a:ext>
            </a:extLst>
          </p:cNvPr>
          <p:cNvSpPr txBox="1">
            <a:spLocks/>
          </p:cNvSpPr>
          <p:nvPr/>
        </p:nvSpPr>
        <p:spPr>
          <a:xfrm>
            <a:off x="864833" y="2134159"/>
            <a:ext cx="10249481" cy="5713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200" b="1" dirty="0">
                <a:latin typeface="Avenir Next LT Pro" panose="020B0504020202020204" pitchFamily="34" charset="0"/>
                <a:cs typeface="Arial" pitchFamily="34" charset="0"/>
              </a:rPr>
              <a:t>By the end of this session, you will be able to: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F743A53-DABB-AADC-7E07-03CBE49A4DDE}"/>
              </a:ext>
            </a:extLst>
          </p:cNvPr>
          <p:cNvSpPr txBox="1">
            <a:spLocks/>
          </p:cNvSpPr>
          <p:nvPr/>
        </p:nvSpPr>
        <p:spPr>
          <a:xfrm>
            <a:off x="859972" y="2828771"/>
            <a:ext cx="10515600" cy="291888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Understand the concept of sampling.</a:t>
            </a:r>
          </a:p>
          <a:p>
            <a:r>
              <a:rPr lang="en-US" dirty="0"/>
              <a:t>Understand different types of sampling and their use case.</a:t>
            </a:r>
          </a:p>
          <a:p>
            <a:r>
              <a:rPr lang="en-US" dirty="0"/>
              <a:t>Implementation of sampling techniques in Python!</a:t>
            </a:r>
          </a:p>
        </p:txBody>
      </p:sp>
    </p:spTree>
    <p:extLst>
      <p:ext uri="{BB962C8B-B14F-4D97-AF65-F5344CB8AC3E}">
        <p14:creationId xmlns:p14="http://schemas.microsoft.com/office/powerpoint/2010/main" val="1635202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1F271-41DA-A538-EB88-50AE4905C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8C9FC-48B5-D5B0-E700-34641E0AF77C}"/>
              </a:ext>
            </a:extLst>
          </p:cNvPr>
          <p:cNvSpPr txBox="1">
            <a:spLocks/>
          </p:cNvSpPr>
          <p:nvPr/>
        </p:nvSpPr>
        <p:spPr>
          <a:xfrm>
            <a:off x="3635829" y="217297"/>
            <a:ext cx="7318476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What is Sampling?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577C3B-B767-2964-A2E9-F82989D95265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9612086" cy="452596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/>
              <a:t>Selecting a subset from a larger population.</a:t>
            </a:r>
          </a:p>
          <a:p>
            <a:endParaRPr lang="en-US" sz="3600"/>
          </a:p>
          <a:p>
            <a:r>
              <a:rPr lang="en-US" sz="3600"/>
              <a:t>Saves time, cost</a:t>
            </a:r>
          </a:p>
          <a:p>
            <a:endParaRPr lang="en-US" sz="3600"/>
          </a:p>
          <a:p>
            <a:r>
              <a:rPr lang="en-US" sz="3600"/>
              <a:t>Enables conclusions.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5540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8C753-9842-2EC4-0BC8-2DAA95A19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33DCF42-9D88-245B-9660-B24F0CC56A5C}"/>
              </a:ext>
            </a:extLst>
          </p:cNvPr>
          <p:cNvSpPr txBox="1">
            <a:spLocks/>
          </p:cNvSpPr>
          <p:nvPr/>
        </p:nvSpPr>
        <p:spPr>
          <a:xfrm>
            <a:off x="3516085" y="217297"/>
            <a:ext cx="7438219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Why is Sampling Important?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F709D20-9A79-3AE6-3BAA-3528A876EF0F}"/>
              </a:ext>
            </a:extLst>
          </p:cNvPr>
          <p:cNvSpPr txBox="1">
            <a:spLocks/>
          </p:cNvSpPr>
          <p:nvPr/>
        </p:nvSpPr>
        <p:spPr>
          <a:xfrm>
            <a:off x="304800" y="1328057"/>
            <a:ext cx="11049000" cy="452596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4000"/>
              <a:t>✅ Populations too large to fully study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400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4000"/>
              <a:t>✅ Reduces effort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400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4000"/>
              <a:t>✅ Provides valid results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6161914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CA3F0-5D74-4967-F591-DED6512EB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BE53A42-E687-9A3E-498E-107739DAEA52}"/>
              </a:ext>
            </a:extLst>
          </p:cNvPr>
          <p:cNvSpPr txBox="1">
            <a:spLocks/>
          </p:cNvSpPr>
          <p:nvPr/>
        </p:nvSpPr>
        <p:spPr>
          <a:xfrm>
            <a:off x="3004457" y="217297"/>
            <a:ext cx="7949848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Random Sampling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770BA79E-5D91-9260-8297-564B050F665E}"/>
              </a:ext>
            </a:extLst>
          </p:cNvPr>
          <p:cNvSpPr txBox="1">
            <a:spLocks/>
          </p:cNvSpPr>
          <p:nvPr/>
        </p:nvSpPr>
        <p:spPr>
          <a:xfrm>
            <a:off x="438706" y="1383726"/>
            <a:ext cx="10515599" cy="464696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/>
              <a:t>Each member has equal chance.</a:t>
            </a:r>
          </a:p>
          <a:p>
            <a:endParaRPr lang="en-US" sz="3600"/>
          </a:p>
          <a:p>
            <a:r>
              <a:rPr lang="en-US" sz="3600"/>
              <a:t>Simple Random Sampling is used when you want a straightforward and fair representation of the entire population.</a:t>
            </a:r>
          </a:p>
          <a:p>
            <a:endParaRPr lang="en-US" sz="3600"/>
          </a:p>
          <a:p>
            <a:r>
              <a:rPr lang="en-US" sz="3600">
                <a:latin typeface="system-ui"/>
              </a:rPr>
              <a:t>Randomly picking 10 passengers from 100 Titanic passengers. Each has a 10% chance of being selected.</a:t>
            </a:r>
            <a:endParaRPr lang="en-US" sz="3600"/>
          </a:p>
          <a:p>
            <a:pPr marL="0" indent="0">
              <a:buFont typeface="Arial" panose="020B0604020202020204" pitchFamily="34" charset="0"/>
              <a:buNone/>
            </a:pPr>
            <a:endParaRPr lang="en-US" sz="3600"/>
          </a:p>
          <a:p>
            <a:pPr marL="0" indent="0">
              <a:buFont typeface="Arial" panose="020B0604020202020204" pitchFamily="34" charset="0"/>
              <a:buNone/>
            </a:pPr>
            <a:endParaRPr lang="en-US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FF58CF-7BBF-81D4-C21E-E438F5874D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9163" y="3821506"/>
            <a:ext cx="4399879" cy="979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14826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E3407-6E04-1AC7-082F-6150AD675C2D}"/>
              </a:ext>
            </a:extLst>
          </p:cNvPr>
          <p:cNvSpPr txBox="1">
            <a:spLocks/>
          </p:cNvSpPr>
          <p:nvPr/>
        </p:nvSpPr>
        <p:spPr>
          <a:xfrm>
            <a:off x="4223657" y="217297"/>
            <a:ext cx="6730648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Stratified Sampling 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AA141D-8755-94A2-2E2F-65415B295F33}"/>
              </a:ext>
            </a:extLst>
          </p:cNvPr>
          <p:cNvSpPr txBox="1"/>
          <p:nvPr/>
        </p:nvSpPr>
        <p:spPr>
          <a:xfrm>
            <a:off x="348343" y="1554607"/>
            <a:ext cx="10874828" cy="28801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242424"/>
                </a:solidFill>
                <a:effectLst/>
                <a:latin typeface="source-serif-pro"/>
              </a:rPr>
              <a:t>In </a:t>
            </a:r>
            <a:r>
              <a:rPr lang="en-US" sz="2800" b="1" i="0" dirty="0">
                <a:solidFill>
                  <a:srgbClr val="242424"/>
                </a:solidFill>
                <a:effectLst/>
                <a:latin typeface="source-serif-pro"/>
              </a:rPr>
              <a:t>stratified sampling</a:t>
            </a:r>
            <a:r>
              <a:rPr lang="en-US" sz="2800" b="0" i="0" dirty="0">
                <a:solidFill>
                  <a:srgbClr val="242424"/>
                </a:solidFill>
                <a:effectLst/>
                <a:latin typeface="source-serif-pro"/>
              </a:rPr>
              <a:t>, the population is </a:t>
            </a:r>
          </a:p>
          <a:p>
            <a:pPr marL="800100" lvl="1" indent="-342900">
              <a:lnSpc>
                <a:spcPts val="2400"/>
              </a:lnSpc>
              <a:buFont typeface="Wingdings" panose="05000000000000000000" pitchFamily="2" charset="2"/>
              <a:buChar char="ü"/>
            </a:pPr>
            <a:r>
              <a:rPr lang="en-US" sz="2800" b="1" i="0" dirty="0">
                <a:solidFill>
                  <a:srgbClr val="242424"/>
                </a:solidFill>
                <a:effectLst/>
                <a:latin typeface="source-serif-pro"/>
              </a:rPr>
              <a:t>divided into groups (strata)</a:t>
            </a:r>
            <a:r>
              <a:rPr lang="en-US" sz="2800" b="0" i="0" dirty="0">
                <a:solidFill>
                  <a:srgbClr val="242424"/>
                </a:solidFill>
                <a:effectLst/>
                <a:latin typeface="source-serif-pro"/>
              </a:rPr>
              <a:t> </a:t>
            </a:r>
          </a:p>
          <a:p>
            <a:pPr marL="800100" lvl="1" indent="-342900">
              <a:lnSpc>
                <a:spcPts val="2400"/>
              </a:lnSpc>
              <a:buFont typeface="Wingdings" panose="05000000000000000000" pitchFamily="2" charset="2"/>
              <a:buChar char="ü"/>
            </a:pPr>
            <a:r>
              <a:rPr lang="en-US" sz="2800" b="0" i="0" dirty="0">
                <a:solidFill>
                  <a:srgbClr val="242424"/>
                </a:solidFill>
                <a:effectLst/>
                <a:latin typeface="source-serif-pro"/>
              </a:rPr>
              <a:t>based on an important characteristic (like gender), and </a:t>
            </a:r>
          </a:p>
          <a:p>
            <a:pPr marL="800100" lvl="1" indent="-342900">
              <a:lnSpc>
                <a:spcPts val="2400"/>
              </a:lnSpc>
              <a:buFont typeface="Wingdings" panose="05000000000000000000" pitchFamily="2" charset="2"/>
              <a:buChar char="ü"/>
            </a:pPr>
            <a:r>
              <a:rPr lang="en-US" sz="2800" b="0" i="0" dirty="0">
                <a:solidFill>
                  <a:srgbClr val="242424"/>
                </a:solidFill>
                <a:effectLst/>
                <a:latin typeface="source-serif-pro"/>
              </a:rPr>
              <a:t>then </a:t>
            </a:r>
            <a:r>
              <a:rPr lang="en-US" sz="2800" b="1" i="0" dirty="0">
                <a:solidFill>
                  <a:srgbClr val="242424"/>
                </a:solidFill>
                <a:effectLst/>
                <a:latin typeface="source-serif-pro"/>
              </a:rPr>
              <a:t>samples are drawn proportionally from each group</a:t>
            </a:r>
            <a:r>
              <a:rPr lang="en-US" sz="2800" b="0" i="0" dirty="0">
                <a:solidFill>
                  <a:srgbClr val="242424"/>
                </a:solidFill>
                <a:effectLst/>
                <a:latin typeface="source-serif-pro"/>
              </a:rPr>
              <a:t>.</a:t>
            </a:r>
          </a:p>
          <a:p>
            <a:pPr marL="285750" indent="-285750" algn="l">
              <a:lnSpc>
                <a:spcPts val="2400"/>
              </a:lnSpc>
              <a:buFont typeface="Arial" panose="020B0604020202020204" pitchFamily="34" charset="0"/>
              <a:buChar char="•"/>
            </a:pPr>
            <a:endParaRPr lang="en-US" sz="2800" b="0" i="0" dirty="0">
              <a:solidFill>
                <a:srgbClr val="242424"/>
              </a:solidFill>
              <a:effectLst/>
              <a:latin typeface="source-serif-pro"/>
            </a:endParaRPr>
          </a:p>
          <a:p>
            <a:pPr marL="285750" indent="-285750"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242424"/>
                </a:solidFill>
                <a:effectLst/>
                <a:latin typeface="source-serif-pro"/>
              </a:rPr>
              <a:t>This ensures your sample </a:t>
            </a:r>
            <a:r>
              <a:rPr lang="en-US" sz="2800" b="1" i="0" dirty="0">
                <a:solidFill>
                  <a:srgbClr val="242424"/>
                </a:solidFill>
                <a:effectLst/>
                <a:latin typeface="source-serif-pro"/>
              </a:rPr>
              <a:t>respects the structure</a:t>
            </a:r>
            <a:r>
              <a:rPr lang="en-US" sz="2800" b="0" i="0" dirty="0">
                <a:solidFill>
                  <a:srgbClr val="242424"/>
                </a:solidFill>
                <a:effectLst/>
                <a:latin typeface="source-serif-pro"/>
              </a:rPr>
              <a:t> of the population.</a:t>
            </a:r>
          </a:p>
          <a:p>
            <a:pPr marL="285750" indent="-285750" algn="l">
              <a:lnSpc>
                <a:spcPts val="2400"/>
              </a:lnSpc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242424"/>
              </a:solidFill>
              <a:latin typeface="source-serif-pro"/>
            </a:endParaRPr>
          </a:p>
          <a:p>
            <a:pPr marL="285750" indent="-285750"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242424"/>
                </a:solidFill>
                <a:effectLst/>
                <a:latin typeface="source-serif-pro"/>
              </a:rPr>
              <a:t>Formula: (stratum size / population size) × sample size.</a:t>
            </a:r>
          </a:p>
          <a:p>
            <a:pPr marL="285750" indent="-285750" algn="l">
              <a:lnSpc>
                <a:spcPts val="2400"/>
              </a:lnSpc>
              <a:buFont typeface="Arial" panose="020B0604020202020204" pitchFamily="34" charset="0"/>
              <a:buChar char="•"/>
            </a:pPr>
            <a:endParaRPr lang="en-US" sz="2800" b="0" i="0" dirty="0">
              <a:solidFill>
                <a:srgbClr val="242424"/>
              </a:solidFill>
              <a:effectLst/>
              <a:latin typeface="source-serif-pro"/>
            </a:endParaRPr>
          </a:p>
        </p:txBody>
      </p:sp>
    </p:spTree>
    <p:extLst>
      <p:ext uri="{BB962C8B-B14F-4D97-AF65-F5344CB8AC3E}">
        <p14:creationId xmlns:p14="http://schemas.microsoft.com/office/powerpoint/2010/main" val="11909094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5EC4A-C9C7-48E0-E75D-F994F629DA1D}"/>
              </a:ext>
            </a:extLst>
          </p:cNvPr>
          <p:cNvSpPr txBox="1">
            <a:spLocks/>
          </p:cNvSpPr>
          <p:nvPr/>
        </p:nvSpPr>
        <p:spPr>
          <a:xfrm>
            <a:off x="3842657" y="217297"/>
            <a:ext cx="7111648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Stratified Sampling 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4A5EEC-D56D-9329-6649-E7938C529F01}"/>
              </a:ext>
            </a:extLst>
          </p:cNvPr>
          <p:cNvSpPr txBox="1"/>
          <p:nvPr/>
        </p:nvSpPr>
        <p:spPr>
          <a:xfrm>
            <a:off x="348343" y="1554607"/>
            <a:ext cx="10874828" cy="1341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/>
              <a:t>A college has 800 students: 600 UG, 200 PG.</a:t>
            </a:r>
            <a:br>
              <a:rPr lang="en-US" sz="2800" dirty="0"/>
            </a:br>
            <a:endParaRPr lang="en-US" sz="2800" dirty="0"/>
          </a:p>
          <a:p>
            <a:pPr marR="0" lvl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800" dirty="0"/>
              <a:t>You want to sample 100 students using stratified sampling technique. How many students from UG and PG will be in your sample?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242424"/>
              </a:solidFill>
              <a:effectLst/>
              <a:uLnTx/>
              <a:uFillTx/>
              <a:latin typeface="source-serif-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57907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CAB34-3C51-63D0-D104-2376DF121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6DA5A-FE29-42FE-6547-2F492F32D555}"/>
              </a:ext>
            </a:extLst>
          </p:cNvPr>
          <p:cNvSpPr txBox="1">
            <a:spLocks/>
          </p:cNvSpPr>
          <p:nvPr/>
        </p:nvSpPr>
        <p:spPr>
          <a:xfrm>
            <a:off x="3842657" y="217297"/>
            <a:ext cx="7111648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Stratified Sampling 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F6D349-0102-6CB6-3543-42F50BCB9258}"/>
              </a:ext>
            </a:extLst>
          </p:cNvPr>
          <p:cNvSpPr txBox="1"/>
          <p:nvPr/>
        </p:nvSpPr>
        <p:spPr>
          <a:xfrm>
            <a:off x="348343" y="1554607"/>
            <a:ext cx="10874828" cy="1341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/>
              <a:t>A college has 800 students: 600 UG, 200 PG.</a:t>
            </a:r>
            <a:br>
              <a:rPr lang="en-US" sz="2800" dirty="0"/>
            </a:br>
            <a:endParaRPr lang="en-US" sz="2800" dirty="0"/>
          </a:p>
          <a:p>
            <a:pPr marR="0" lvl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800" dirty="0"/>
              <a:t>You want to sample 100 students using stratified sampling technique. How many students from UG and PG will be in your sample?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242424"/>
              </a:solidFill>
              <a:effectLst/>
              <a:uLnTx/>
              <a:uFillTx/>
              <a:latin typeface="source-serif-pro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B2B2DED-7EB8-A586-A0B6-D620521DE2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8183" y="3047112"/>
            <a:ext cx="6940759" cy="3295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1965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60808-5349-5F51-787F-96F0B403F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00C2F5B-A83F-3282-4D13-84B22AEFC1FF}"/>
              </a:ext>
            </a:extLst>
          </p:cNvPr>
          <p:cNvSpPr txBox="1">
            <a:spLocks/>
          </p:cNvSpPr>
          <p:nvPr/>
        </p:nvSpPr>
        <p:spPr>
          <a:xfrm>
            <a:off x="4310743" y="217297"/>
            <a:ext cx="6643562" cy="6886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Systematic Sampling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F510C5C-6805-C2A9-769C-089E38CED078}"/>
              </a:ext>
            </a:extLst>
          </p:cNvPr>
          <p:cNvSpPr txBox="1">
            <a:spLocks/>
          </p:cNvSpPr>
          <p:nvPr/>
        </p:nvSpPr>
        <p:spPr>
          <a:xfrm>
            <a:off x="489857" y="1166018"/>
            <a:ext cx="11571514" cy="452596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>
                <a:solidFill>
                  <a:srgbClr val="242424"/>
                </a:solidFill>
                <a:latin typeface="source-serif-pro"/>
              </a:rPr>
              <a:t>In </a:t>
            </a:r>
            <a:r>
              <a:rPr lang="en-US" sz="3200" b="1">
                <a:solidFill>
                  <a:srgbClr val="242424"/>
                </a:solidFill>
                <a:latin typeface="source-serif-pro"/>
              </a:rPr>
              <a:t>systematic sampling</a:t>
            </a:r>
            <a:r>
              <a:rPr lang="en-US" sz="3200">
                <a:solidFill>
                  <a:srgbClr val="242424"/>
                </a:solidFill>
                <a:latin typeface="source-serif-pro"/>
              </a:rPr>
              <a:t>, you </a:t>
            </a:r>
            <a:r>
              <a:rPr lang="en-US" sz="3200" b="1">
                <a:solidFill>
                  <a:srgbClr val="242424"/>
                </a:solidFill>
                <a:latin typeface="source-serif-pro"/>
              </a:rPr>
              <a:t>select every k-th item</a:t>
            </a:r>
            <a:r>
              <a:rPr lang="en-US" sz="3200">
                <a:solidFill>
                  <a:srgbClr val="242424"/>
                </a:solidFill>
                <a:latin typeface="source-serif-pro"/>
              </a:rPr>
              <a:t> from an ordered list.</a:t>
            </a:r>
          </a:p>
          <a:p>
            <a:endParaRPr lang="en-US" sz="3200">
              <a:solidFill>
                <a:srgbClr val="242424"/>
              </a:solidFill>
              <a:latin typeface="source-serif-pro"/>
            </a:endParaRPr>
          </a:p>
          <a:p>
            <a:r>
              <a:rPr lang="en-US" sz="3200">
                <a:solidFill>
                  <a:srgbClr val="242424"/>
                </a:solidFill>
                <a:latin typeface="source-serif-pro"/>
              </a:rPr>
              <a:t>It’s simple, fast, and effective when your data is organized.</a:t>
            </a:r>
          </a:p>
          <a:p>
            <a:endParaRPr lang="en-US" sz="3200"/>
          </a:p>
          <a:p>
            <a:r>
              <a:rPr lang="en-US" sz="3200"/>
              <a:t>Select every k-th element.</a:t>
            </a:r>
          </a:p>
          <a:p>
            <a:endParaRPr lang="en-US" sz="3200"/>
          </a:p>
          <a:p>
            <a:r>
              <a:rPr lang="en-US" sz="3200"/>
              <a:t>Formula: k = N / n</a:t>
            </a:r>
          </a:p>
          <a:p>
            <a:endParaRPr lang="en-US" sz="3200"/>
          </a:p>
          <a:p>
            <a:r>
              <a:rPr lang="en-US" sz="3200"/>
              <a:t>Example: Survey every 10th customer entering a store.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2487684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9F5CC-7C78-2830-995A-742570655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551C7-A0B6-9B29-101C-5F412A30075C}"/>
              </a:ext>
            </a:extLst>
          </p:cNvPr>
          <p:cNvSpPr txBox="1">
            <a:spLocks/>
          </p:cNvSpPr>
          <p:nvPr/>
        </p:nvSpPr>
        <p:spPr>
          <a:xfrm>
            <a:off x="3298371" y="217297"/>
            <a:ext cx="7655934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Cluster Sampling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6655ECC-482E-3EE0-2AEA-53BB35F64AF2}"/>
              </a:ext>
            </a:extLst>
          </p:cNvPr>
          <p:cNvSpPr txBox="1">
            <a:spLocks/>
          </p:cNvSpPr>
          <p:nvPr/>
        </p:nvSpPr>
        <p:spPr>
          <a:xfrm>
            <a:off x="457199" y="1600200"/>
            <a:ext cx="10929257" cy="45259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Divide into clusters.</a:t>
            </a:r>
          </a:p>
          <a:p>
            <a:r>
              <a:rPr lang="en-US"/>
              <a:t>Randomly select whole clusters.</a:t>
            </a:r>
          </a:p>
          <a:p>
            <a:r>
              <a:rPr lang="en-US"/>
              <a:t>Example: Randomly selecting 2 out of 5 schools and surveying </a:t>
            </a:r>
            <a:r>
              <a:rPr lang="en-US" b="1"/>
              <a:t>all students</a:t>
            </a:r>
            <a:r>
              <a:rPr lang="en-US"/>
              <a:t> inside.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074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A12CD-D3EA-60EF-3242-FFB812F4F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11FE337-3B8E-E85A-E490-AA473845934F}"/>
              </a:ext>
            </a:extLst>
          </p:cNvPr>
          <p:cNvSpPr txBox="1">
            <a:spLocks/>
          </p:cNvSpPr>
          <p:nvPr/>
        </p:nvSpPr>
        <p:spPr>
          <a:xfrm>
            <a:off x="4419599" y="217297"/>
            <a:ext cx="6534705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Comparison</a:t>
            </a:r>
            <a:endParaRPr lang="en-US" sz="2800" b="1" dirty="0">
              <a:solidFill>
                <a:srgbClr val="D9212B"/>
              </a:solidFill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3C5B897F-27DA-2882-B170-DE14DAC2A4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9" y="1609045"/>
            <a:ext cx="10557362" cy="3267755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72878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D1B8F-0D89-70B8-72C9-DBE5FB4C4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BB6C05A-3CA1-D9C0-4821-240963569294}"/>
              </a:ext>
            </a:extLst>
          </p:cNvPr>
          <p:cNvSpPr txBox="1">
            <a:spLocks/>
          </p:cNvSpPr>
          <p:nvPr/>
        </p:nvSpPr>
        <p:spPr>
          <a:xfrm>
            <a:off x="2471056" y="2050508"/>
            <a:ext cx="7808334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Python Implementation</a:t>
            </a:r>
            <a:endParaRPr lang="en-US" sz="2800" b="1" dirty="0">
              <a:solidFill>
                <a:srgbClr val="D9212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97481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F74FA-259D-AE93-651F-B8A502C1E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9DC06-B984-20FD-3494-E98BE570666B}"/>
              </a:ext>
            </a:extLst>
          </p:cNvPr>
          <p:cNvSpPr txBox="1">
            <a:spLocks/>
          </p:cNvSpPr>
          <p:nvPr/>
        </p:nvSpPr>
        <p:spPr>
          <a:xfrm>
            <a:off x="3701143" y="217297"/>
            <a:ext cx="7253162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MCQ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9F8C272-E65C-7685-A3FD-61E7ADA1EABF}"/>
              </a:ext>
            </a:extLst>
          </p:cNvPr>
          <p:cNvSpPr txBox="1">
            <a:spLocks/>
          </p:cNvSpPr>
          <p:nvPr/>
        </p:nvSpPr>
        <p:spPr>
          <a:xfrm>
            <a:off x="457199" y="1600200"/>
            <a:ext cx="10853057" cy="234042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1. Which sampling ensures proportional representation?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A) Random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B) Stratified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C) Cluster</a:t>
            </a: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2342991-39A8-B885-892A-9E510C1B4AA2}"/>
              </a:ext>
            </a:extLst>
          </p:cNvPr>
          <p:cNvSpPr txBox="1">
            <a:spLocks/>
          </p:cNvSpPr>
          <p:nvPr/>
        </p:nvSpPr>
        <p:spPr>
          <a:xfrm>
            <a:off x="457199" y="3940629"/>
            <a:ext cx="8229600" cy="24601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2. Which method selects every k-</a:t>
            </a:r>
            <a:r>
              <a:rPr lang="en-US" dirty="0" err="1"/>
              <a:t>th</a:t>
            </a:r>
            <a:r>
              <a:rPr lang="en-US" dirty="0"/>
              <a:t> item?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A) Random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B) Systematic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C) Cluster</a:t>
            </a:r>
          </a:p>
        </p:txBody>
      </p:sp>
    </p:spTree>
    <p:extLst>
      <p:ext uri="{BB962C8B-B14F-4D97-AF65-F5344CB8AC3E}">
        <p14:creationId xmlns:p14="http://schemas.microsoft.com/office/powerpoint/2010/main" val="8466783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C5C9C-77C4-7D4E-F3F4-850613B7E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6C09C-2B28-A84C-A126-924B85275BF2}"/>
              </a:ext>
            </a:extLst>
          </p:cNvPr>
          <p:cNvSpPr txBox="1">
            <a:spLocks/>
          </p:cNvSpPr>
          <p:nvPr/>
        </p:nvSpPr>
        <p:spPr>
          <a:xfrm>
            <a:off x="3701143" y="217297"/>
            <a:ext cx="7253162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MCQ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CEEB0A-5061-9B59-3628-D9FE57602F77}"/>
              </a:ext>
            </a:extLst>
          </p:cNvPr>
          <p:cNvSpPr txBox="1">
            <a:spLocks/>
          </p:cNvSpPr>
          <p:nvPr/>
        </p:nvSpPr>
        <p:spPr>
          <a:xfrm>
            <a:off x="457199" y="1600200"/>
            <a:ext cx="10853057" cy="234042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1. Which sampling ensures proportional representation?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A) Random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B) Stratified ✅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C) Cluster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89FD88C-2953-B61A-C941-CDC303F0FC4C}"/>
              </a:ext>
            </a:extLst>
          </p:cNvPr>
          <p:cNvSpPr txBox="1">
            <a:spLocks/>
          </p:cNvSpPr>
          <p:nvPr/>
        </p:nvSpPr>
        <p:spPr>
          <a:xfrm>
            <a:off x="457199" y="3940629"/>
            <a:ext cx="8229600" cy="24601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Which method selects every k-th item?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A) Random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B) Systematic ✅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C) Cluster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18527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58974-99FB-3720-754B-A84E57884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41BF9BA-6723-0FB9-52FA-08701D972DCC}"/>
              </a:ext>
            </a:extLst>
          </p:cNvPr>
          <p:cNvSpPr txBox="1">
            <a:spLocks/>
          </p:cNvSpPr>
          <p:nvPr/>
        </p:nvSpPr>
        <p:spPr>
          <a:xfrm>
            <a:off x="2768248" y="189252"/>
            <a:ext cx="7899752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D9212B"/>
                </a:solidFill>
                <a:effectLst/>
                <a:uLnTx/>
                <a:uFillTx/>
                <a:latin typeface="Avenir Next LT Pro" panose="020B0504020202020204" pitchFamily="34" charset="0"/>
                <a:ea typeface="+mj-ea"/>
                <a:cs typeface="Arial" pitchFamily="34" charset="0"/>
              </a:rPr>
              <a:t>Session Summary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D9212B"/>
              </a:solidFill>
              <a:effectLst/>
              <a:uLnTx/>
              <a:uFillTx/>
              <a:latin typeface="Aptos Display" panose="02110004020202020204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BE93AF-E7B5-D045-8429-AD60E786E755}"/>
              </a:ext>
            </a:extLst>
          </p:cNvPr>
          <p:cNvSpPr txBox="1"/>
          <p:nvPr/>
        </p:nvSpPr>
        <p:spPr>
          <a:xfrm>
            <a:off x="1218460" y="2305520"/>
            <a:ext cx="89161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Arial" pitchFamily="34" charset="0"/>
              </a:rPr>
              <a:t>In this session, we have discussed about: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19877B6-B575-5552-669B-AE83DCCBAF2B}"/>
              </a:ext>
            </a:extLst>
          </p:cNvPr>
          <p:cNvSpPr txBox="1">
            <a:spLocks/>
          </p:cNvSpPr>
          <p:nvPr/>
        </p:nvSpPr>
        <p:spPr>
          <a:xfrm>
            <a:off x="859972" y="2828771"/>
            <a:ext cx="10515600" cy="291888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Understand the concept of sampling.</a:t>
            </a:r>
          </a:p>
          <a:p>
            <a:r>
              <a:rPr lang="en-US" dirty="0"/>
              <a:t>Understand different types of sampling and their use case.</a:t>
            </a:r>
          </a:p>
          <a:p>
            <a:r>
              <a:rPr lang="en-US" dirty="0"/>
              <a:t>Implementation of sampling techniques in Python!</a:t>
            </a:r>
          </a:p>
        </p:txBody>
      </p:sp>
    </p:spTree>
    <p:extLst>
      <p:ext uri="{BB962C8B-B14F-4D97-AF65-F5344CB8AC3E}">
        <p14:creationId xmlns:p14="http://schemas.microsoft.com/office/powerpoint/2010/main" val="27963594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59546-DE86-A91D-D6C0-4DC694BE7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FE865F2-B3CB-A157-5545-C09B44282D58}"/>
              </a:ext>
            </a:extLst>
          </p:cNvPr>
          <p:cNvSpPr txBox="1">
            <a:spLocks/>
          </p:cNvSpPr>
          <p:nvPr/>
        </p:nvSpPr>
        <p:spPr>
          <a:xfrm>
            <a:off x="2768248" y="189252"/>
            <a:ext cx="7899752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Reference Links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6448FF5-C12F-7CD4-DA8D-FBF82FEE1569}"/>
              </a:ext>
            </a:extLst>
          </p:cNvPr>
          <p:cNvSpPr txBox="1">
            <a:spLocks/>
          </p:cNvSpPr>
          <p:nvPr/>
        </p:nvSpPr>
        <p:spPr>
          <a:xfrm>
            <a:off x="622300" y="1160003"/>
            <a:ext cx="10947400" cy="496865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hlinkClick r:id="rId2"/>
              </a:rPr>
              <a:t>Complete Guide to Sampling Methods: Random, Stratified, Systematic, and Cluster Sampling with Python Examples</a:t>
            </a:r>
            <a:endParaRPr lang="en-US" dirty="0"/>
          </a:p>
          <a:p>
            <a:endParaRPr lang="en-US" dirty="0">
              <a:hlinkClick r:id="rId3"/>
            </a:endParaRPr>
          </a:p>
          <a:p>
            <a:r>
              <a:rPr lang="en-US" dirty="0">
                <a:hlinkClick r:id="rId4"/>
              </a:rPr>
              <a:t>Analyzing loan data with binomial and </a:t>
            </a:r>
            <a:r>
              <a:rPr lang="en-US" dirty="0" err="1">
                <a:hlinkClick r:id="rId4"/>
              </a:rPr>
              <a:t>poisson</a:t>
            </a:r>
            <a:r>
              <a:rPr lang="en-US" dirty="0">
                <a:hlinkClick r:id="rId4"/>
              </a:rPr>
              <a:t> distribution</a:t>
            </a:r>
            <a:endParaRPr lang="en-US" dirty="0"/>
          </a:p>
          <a:p>
            <a:pPr marL="0" indent="0">
              <a:buNone/>
            </a:pPr>
            <a:endParaRPr lang="en-US" dirty="0">
              <a:hlinkClick r:id="rId3"/>
            </a:endParaRPr>
          </a:p>
          <a:p>
            <a:r>
              <a:rPr lang="en-US" dirty="0">
                <a:hlinkClick r:id="rId3"/>
              </a:rPr>
              <a:t>10 Must-Know Probability Concepts for Every Aspiring Statistician and Data Scientist</a:t>
            </a:r>
            <a:endParaRPr lang="en-US" dirty="0"/>
          </a:p>
          <a:p>
            <a:endParaRPr lang="en-US" dirty="0"/>
          </a:p>
          <a:p>
            <a:r>
              <a:rPr lang="en-US" dirty="0">
                <a:hlinkClick r:id="rId5"/>
              </a:rPr>
              <a:t>Top 20 Interview Questions on Descriptive and Inferential Statistics</a:t>
            </a:r>
            <a:endParaRPr lang="en-US" dirty="0"/>
          </a:p>
          <a:p>
            <a:endParaRPr lang="en-US" dirty="0"/>
          </a:p>
          <a:p>
            <a:r>
              <a:rPr lang="en-US" dirty="0">
                <a:hlinkClick r:id="rId6"/>
              </a:rPr>
              <a:t>10 Must-Know Statistics Interview Questions (With Real Examples &amp; Formulas!)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17087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8C9DB-1243-8917-3E48-68F815A48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uilding with a large square structure&#10;&#10;AI-generated content may be incorrect.">
            <a:extLst>
              <a:ext uri="{FF2B5EF4-FFF2-40B4-BE49-F238E27FC236}">
                <a16:creationId xmlns:a16="http://schemas.microsoft.com/office/drawing/2014/main" id="{B6BE01BD-3DAC-F870-8EC1-54E7EA800B9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1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7244" y="-3712171"/>
            <a:ext cx="12286488" cy="108400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DE61552-9547-D4A5-64B9-3FC27928445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5429"/>
          <a:stretch>
            <a:fillRect/>
          </a:stretch>
        </p:blipFill>
        <p:spPr>
          <a:xfrm>
            <a:off x="266700" y="86360"/>
            <a:ext cx="2347089" cy="6248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002A5AA-EA6D-A358-BDB0-EBEA5D7898D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19" r="51933"/>
          <a:stretch>
            <a:fillRect/>
          </a:stretch>
        </p:blipFill>
        <p:spPr>
          <a:xfrm>
            <a:off x="10202069" y="124460"/>
            <a:ext cx="2163416" cy="6248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C260C9D-F6A2-8648-CD70-A21AC50214E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311316" y="4833449"/>
            <a:ext cx="3569368" cy="44627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300" dirty="0">
                <a:solidFill>
                  <a:srgbClr val="C00000"/>
                </a:solidFill>
                <a:latin typeface="Montserrat Bold" pitchFamily="2" charset="0"/>
              </a:rPr>
              <a:t>For any Query:</a:t>
            </a:r>
            <a:endParaRPr lang="en-IN" sz="2300" dirty="0">
              <a:solidFill>
                <a:srgbClr val="C00000"/>
              </a:solidFill>
              <a:latin typeface="Montserrat Bold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DE26E7-6195-40B3-121B-6814444C791D}"/>
              </a:ext>
            </a:extLst>
          </p:cNvPr>
          <p:cNvSpPr txBox="1">
            <a:spLocks/>
          </p:cNvSpPr>
          <p:nvPr/>
        </p:nvSpPr>
        <p:spPr>
          <a:xfrm>
            <a:off x="2876550" y="5363953"/>
            <a:ext cx="6438900" cy="3847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900" dirty="0">
                <a:latin typeface="Montserrat SemiBold" pitchFamily="2" charset="0"/>
              </a:rPr>
              <a:t>Website- www.onlinecu.in</a:t>
            </a:r>
            <a:endParaRPr lang="en-IN" sz="1900" dirty="0">
              <a:latin typeface="Montserrat SemiBold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2955B1-0493-1C1D-DF37-CC783517B463}"/>
              </a:ext>
            </a:extLst>
          </p:cNvPr>
          <p:cNvSpPr txBox="1">
            <a:spLocks/>
          </p:cNvSpPr>
          <p:nvPr/>
        </p:nvSpPr>
        <p:spPr>
          <a:xfrm>
            <a:off x="2876550" y="5722217"/>
            <a:ext cx="6438900" cy="3847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900" dirty="0">
                <a:latin typeface="Montserrat SemiBold" pitchFamily="2" charset="0"/>
              </a:rPr>
              <a:t>Helpline no.: 1800 121 388 800 </a:t>
            </a:r>
            <a:endParaRPr lang="en-IN" sz="1900" dirty="0">
              <a:latin typeface="Montserrat SemiBold" pitchFamily="2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219BC1C-B8FD-B4C5-4F1A-EF8B8E99CD2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 bwMode="auto">
          <a:xfrm>
            <a:off x="4660232" y="2519769"/>
            <a:ext cx="3879226" cy="612339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000" b="1" i="0">
                <a:solidFill>
                  <a:srgbClr val="242B34"/>
                </a:solidFill>
                <a:effectLst/>
                <a:latin typeface="Montserrat" pitchFamily="2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en-US" sz="4000" dirty="0">
                <a:solidFill>
                  <a:schemeClr val="tx1"/>
                </a:solidFill>
              </a:rPr>
              <a:t>THANK YOU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FB7D14C-B6FF-E969-C90A-BE0B31E31886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760677" y="1903384"/>
            <a:ext cx="1363827" cy="1738069"/>
            <a:chOff x="3505200" y="1214438"/>
            <a:chExt cx="2016126" cy="3225800"/>
          </a:xfrm>
        </p:grpSpPr>
        <p:sp>
          <p:nvSpPr>
            <p:cNvPr id="13" name="Diamond 6">
              <a:extLst>
                <a:ext uri="{FF2B5EF4-FFF2-40B4-BE49-F238E27FC236}">
                  <a16:creationId xmlns:a16="http://schemas.microsoft.com/office/drawing/2014/main" id="{0FB5638E-DA82-408B-D548-520AF003258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 bwMode="auto">
            <a:xfrm>
              <a:off x="3505200" y="1214438"/>
              <a:ext cx="1822450" cy="3225800"/>
            </a:xfrm>
            <a:custGeom>
              <a:avLst/>
              <a:gdLst>
                <a:gd name="T0" fmla="*/ 1024904 w 2430463"/>
                <a:gd name="T1" fmla="*/ 2413000 h 3225800"/>
                <a:gd name="T2" fmla="*/ 680146 w 2430463"/>
                <a:gd name="T3" fmla="*/ 3225800 h 3225800"/>
                <a:gd name="T4" fmla="*/ 0 w 2430463"/>
                <a:gd name="T5" fmla="*/ 1612900 h 3225800"/>
                <a:gd name="T6" fmla="*/ 680146 w 2430463"/>
                <a:gd name="T7" fmla="*/ 0 h 3225800"/>
                <a:gd name="T8" fmla="*/ 1024904 w 2430463"/>
                <a:gd name="T9" fmla="*/ 817563 h 32258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30463" h="3225800">
                  <a:moveTo>
                    <a:pt x="2430463" y="2413000"/>
                  </a:moveTo>
                  <a:lnTo>
                    <a:pt x="1612900" y="3225800"/>
                  </a:lnTo>
                  <a:lnTo>
                    <a:pt x="0" y="1612900"/>
                  </a:lnTo>
                  <a:lnTo>
                    <a:pt x="1612900" y="0"/>
                  </a:lnTo>
                  <a:lnTo>
                    <a:pt x="2430463" y="817563"/>
                  </a:lnTo>
                </a:path>
              </a:pathLst>
            </a:custGeom>
            <a:noFill/>
            <a:ln w="38100" cap="flat" cmpd="sng" algn="ctr">
              <a:solidFill>
                <a:srgbClr val="C00000"/>
              </a:solidFill>
              <a:prstDash val="solid"/>
              <a:miter lim="800000"/>
              <a:headEnd/>
              <a:tailEnd/>
            </a:ln>
          </p:spPr>
          <p:txBody>
            <a:bodyPr anchor="ctr"/>
            <a:lstStyle/>
            <a:p>
              <a:endParaRPr lang="en-US" dirty="0">
                <a:latin typeface="Montserrat" pitchFamily="2" charset="0"/>
              </a:endParaRPr>
            </a:p>
          </p:txBody>
        </p:sp>
        <p:sp>
          <p:nvSpPr>
            <p:cNvPr id="14" name="Diamond 6">
              <a:extLst>
                <a:ext uri="{FF2B5EF4-FFF2-40B4-BE49-F238E27FC236}">
                  <a16:creationId xmlns:a16="http://schemas.microsoft.com/office/drawing/2014/main" id="{F6A4D4F5-BE08-6D8F-3085-311D2F755A2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 bwMode="auto">
            <a:xfrm>
              <a:off x="3697289" y="1214438"/>
              <a:ext cx="1824037" cy="3225800"/>
            </a:xfrm>
            <a:custGeom>
              <a:avLst/>
              <a:gdLst>
                <a:gd name="T0" fmla="*/ 1026691 w 2430463"/>
                <a:gd name="T1" fmla="*/ 2413000 h 3225800"/>
                <a:gd name="T2" fmla="*/ 681330 w 2430463"/>
                <a:gd name="T3" fmla="*/ 3225800 h 3225800"/>
                <a:gd name="T4" fmla="*/ 0 w 2430463"/>
                <a:gd name="T5" fmla="*/ 1612900 h 3225800"/>
                <a:gd name="T6" fmla="*/ 681330 w 2430463"/>
                <a:gd name="T7" fmla="*/ 0 h 3225800"/>
                <a:gd name="T8" fmla="*/ 1026691 w 2430463"/>
                <a:gd name="T9" fmla="*/ 817563 h 32258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30463" h="3225800">
                  <a:moveTo>
                    <a:pt x="2430463" y="2413000"/>
                  </a:moveTo>
                  <a:lnTo>
                    <a:pt x="1612900" y="3225800"/>
                  </a:lnTo>
                  <a:lnTo>
                    <a:pt x="0" y="1612900"/>
                  </a:lnTo>
                  <a:lnTo>
                    <a:pt x="1612900" y="0"/>
                  </a:lnTo>
                  <a:lnTo>
                    <a:pt x="2430463" y="817563"/>
                  </a:lnTo>
                </a:path>
              </a:pathLst>
            </a:custGeom>
            <a:noFill/>
            <a:ln w="38100" cap="flat" cmpd="sng" algn="ctr">
              <a:solidFill>
                <a:srgbClr val="C00000"/>
              </a:solidFill>
              <a:prstDash val="solid"/>
              <a:miter lim="800000"/>
              <a:headEnd/>
              <a:tailEnd/>
            </a:ln>
          </p:spPr>
          <p:txBody>
            <a:bodyPr anchor="ctr"/>
            <a:lstStyle/>
            <a:p>
              <a:endParaRPr lang="en-US" dirty="0">
                <a:latin typeface="Montserrat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552624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1188</TotalTime>
  <Words>528</Words>
  <Application>Microsoft Office PowerPoint</Application>
  <PresentationFormat>Widescreen</PresentationFormat>
  <Paragraphs>94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9" baseType="lpstr">
      <vt:lpstr>Aptos</vt:lpstr>
      <vt:lpstr>Aptos Display</vt:lpstr>
      <vt:lpstr>Arial</vt:lpstr>
      <vt:lpstr>Avenir Next LT Pro</vt:lpstr>
      <vt:lpstr>Calibri</vt:lpstr>
      <vt:lpstr>Montserrat</vt:lpstr>
      <vt:lpstr>Montserrat Bold</vt:lpstr>
      <vt:lpstr>Montserrat SemiBold</vt:lpstr>
      <vt:lpstr>source-serif-pro</vt:lpstr>
      <vt:lpstr>system-ui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idol</dc:creator>
  <cp:lastModifiedBy>Vikash Singh</cp:lastModifiedBy>
  <cp:revision>85</cp:revision>
  <dcterms:created xsi:type="dcterms:W3CDTF">2025-07-09T10:39:06Z</dcterms:created>
  <dcterms:modified xsi:type="dcterms:W3CDTF">2026-03-27T18:49:46Z</dcterms:modified>
</cp:coreProperties>
</file>