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58" r:id="rId4"/>
    <p:sldId id="374" r:id="rId5"/>
    <p:sldId id="359" r:id="rId6"/>
    <p:sldId id="360" r:id="rId7"/>
    <p:sldId id="361" r:id="rId8"/>
    <p:sldId id="362" r:id="rId9"/>
    <p:sldId id="339" r:id="rId10"/>
    <p:sldId id="363" r:id="rId11"/>
    <p:sldId id="364" r:id="rId12"/>
    <p:sldId id="365" r:id="rId13"/>
    <p:sldId id="366" r:id="rId14"/>
    <p:sldId id="367" r:id="rId15"/>
    <p:sldId id="368" r:id="rId16"/>
    <p:sldId id="342" r:id="rId17"/>
    <p:sldId id="369" r:id="rId18"/>
    <p:sldId id="375" r:id="rId19"/>
    <p:sldId id="370" r:id="rId20"/>
    <p:sldId id="371" r:id="rId21"/>
    <p:sldId id="372" r:id="rId22"/>
    <p:sldId id="373" r:id="rId23"/>
    <p:sldId id="357" r:id="rId24"/>
    <p:sldId id="25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66" userDrawn="1">
          <p15:clr>
            <a:srgbClr val="A4A3A4"/>
          </p15:clr>
        </p15:guide>
        <p15:guide id="4" pos="75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71" autoAdjust="0"/>
    <p:restoredTop sz="94660"/>
  </p:normalViewPr>
  <p:slideViewPr>
    <p:cSldViewPr snapToGrid="0" showGuides="1">
      <p:cViewPr varScale="1">
        <p:scale>
          <a:sx n="59" d="100"/>
          <a:sy n="59" d="100"/>
        </p:scale>
        <p:origin x="1028" y="52"/>
      </p:cViewPr>
      <p:guideLst>
        <p:guide orient="horz" pos="2160"/>
        <p:guide pos="3840"/>
        <p:guide pos="166"/>
        <p:guide pos="75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8CAB6-0A18-B12A-06A5-CFD0B0666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1E932-87D4-E4A3-5EC5-FD37D2ADB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61194-F8BE-C949-EFCA-00EE7F86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334BE2-760E-FA63-F53E-6EC6D65C1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19652-B072-95C3-666A-824B223F0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1034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uilding with a large square structure&#10;&#10;AI-generated content may be incorrect.">
            <a:extLst>
              <a:ext uri="{FF2B5EF4-FFF2-40B4-BE49-F238E27FC236}">
                <a16:creationId xmlns:a16="http://schemas.microsoft.com/office/drawing/2014/main" id="{20082ACF-3AE9-146E-7E5F-C65F33E8B8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244" y="-3712171"/>
            <a:ext cx="12286488" cy="108400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877687-59E4-FE10-798A-5CDB6083232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429"/>
          <a:stretch>
            <a:fillRect/>
          </a:stretch>
        </p:blipFill>
        <p:spPr>
          <a:xfrm>
            <a:off x="266700" y="86360"/>
            <a:ext cx="2347089" cy="62484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1ECD35-FA11-4851-4A09-09EF2B1ECA3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19" r="51933"/>
          <a:stretch>
            <a:fillRect/>
          </a:stretch>
        </p:blipFill>
        <p:spPr>
          <a:xfrm>
            <a:off x="10202069" y="124460"/>
            <a:ext cx="2163416" cy="6248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5BE6A8-737D-A62C-6551-363023866B3F}"/>
              </a:ext>
            </a:extLst>
          </p:cNvPr>
          <p:cNvSpPr txBox="1">
            <a:spLocks/>
          </p:cNvSpPr>
          <p:nvPr userDrawn="1"/>
        </p:nvSpPr>
        <p:spPr>
          <a:xfrm>
            <a:off x="-139701" y="6346735"/>
            <a:ext cx="35650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Montserrat SemiBold" pitchFamily="2" charset="0"/>
              </a:rPr>
              <a:t>Website-</a:t>
            </a:r>
            <a:r>
              <a:rPr lang="en-US" sz="1600" dirty="0">
                <a:latin typeface="Montserrat SemiBold" pitchFamily="2" charset="0"/>
              </a:rPr>
              <a:t> www.onlinecu.in</a:t>
            </a:r>
            <a:endParaRPr lang="en-IN" sz="1600" dirty="0">
              <a:latin typeface="Montserrat SemiBold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DCA99B-85F9-8685-ECB4-83814B31D6D6}"/>
              </a:ext>
            </a:extLst>
          </p:cNvPr>
          <p:cNvSpPr txBox="1">
            <a:spLocks/>
          </p:cNvSpPr>
          <p:nvPr userDrawn="1"/>
        </p:nvSpPr>
        <p:spPr>
          <a:xfrm>
            <a:off x="8505373" y="6346736"/>
            <a:ext cx="382632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Montserrat SemiBold" pitchFamily="2" charset="0"/>
              </a:rPr>
              <a:t>Helpline no.: </a:t>
            </a:r>
            <a:r>
              <a:rPr lang="en-US" sz="1600" dirty="0">
                <a:latin typeface="Montserrat SemiBold" pitchFamily="2" charset="0"/>
              </a:rPr>
              <a:t>1800 121 388 800 </a:t>
            </a:r>
            <a:endParaRPr lang="en-IN" sz="1600" dirty="0"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3625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55807-6537-7A6D-A641-B2A17376E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B0403-42FF-1C59-1D5B-32C3D7622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86C83-3353-0411-EE9B-3502DB3E4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F388B-76FB-C020-4F27-4E8F47369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13B55-0C9D-95FE-DE57-76D9CAC53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862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0200A-4353-C353-E184-88D52DADC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E2DB6-9BB8-38D4-16CA-0544ED95B0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E55387-24D0-58FA-83A3-7DE9457A88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792733-6AE7-EB0F-FA3B-AF5CDFCC8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F2C6F-7464-367E-E3F8-97DC8C8F3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816EA2-7E56-7BA3-2439-E543C4160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239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5A9EF-5440-6E76-FF73-0CF065E3F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46708-25E5-77F6-A964-227D0EE4C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0C22E3-5FB3-FA79-ED62-21819A6A0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96025A-E802-D170-D6B8-690A286BC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0B7203-20FE-415A-F923-11A30CAAC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7DA1C9-7D6A-71D0-70D9-9B0828718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FE8C4F-142A-8803-C2AD-C6393A49A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83C7CE-86E2-2A63-0ECE-6F7089A6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1712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AE12F-6D65-52A0-48AA-B03A63F84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C2E755-9EA8-6439-9AA9-91FF3D918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EB468B-111F-CF06-6C38-3BC8CFF4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94801-333D-738E-07D1-D8DAF45C0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5337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345271-495D-152E-CF4A-DF4710D8B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F704DD-032D-53A7-BFF6-45E5965DD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77178-4230-89A4-5872-75B349208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00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A69D6-24F8-42C9-1D77-EC8866907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D61D7-9867-D57B-393C-47C770AA6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ED94E2-1CFC-4DFF-4491-2085D8036D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CD279-5116-5E15-60C5-9EF79DDB4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031C19-F77D-04E3-B033-CF6338C13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963EA-8864-E6BE-24F5-23AFDA15D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667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56FE6-775B-5F83-EEAB-E36547DB1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964366-F9DB-7570-8134-3DDD5A101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EFF4E6-78FE-6A93-F107-25294F26CE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A6E5D-D1B7-97B4-E5F0-293D2283C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0F263-4F04-05C5-5AB8-17B4BF436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888F2-58F4-670D-C34D-AD8FC7455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8837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48A30-B913-89F3-B532-786CB42C2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D29D4D-DEE7-6A1D-B42E-38574A727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6FAF5-A696-3446-BF82-38164F6A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E94DE-54DD-A6A8-474C-AB93008EA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98F6DA-A2A6-C945-BF21-6706B5FA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727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308265-AD14-4580-CC74-9C4CF00E99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F309DA-5772-6FBD-97A3-F137B93F90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1C790-714C-45F7-D996-F901BECA5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0130E-D3C0-4B5D-8C12-EBDFC4E82B3D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76402-000D-C35B-9564-25F55D31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67743-5BF8-DFC2-CBDC-EB27E011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7585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B05E56-8D2F-5F2F-8551-44A2B095F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445D5-7E47-8624-9AC3-BB3BCD277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B5D27-2F61-7E25-7C4F-55CEB62622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10130E-D3C0-4B5D-8C12-EBDFC4E82B3D}" type="datetimeFigureOut">
              <a:rPr lang="en-IN" smtClean="0"/>
              <a:t>16-04-2026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E40CC-F5EF-5459-5DE6-51B24194D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77AFA-267B-483B-8828-7D5EC7CBFD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0C9D19-9CC2-4BD0-80ED-38FDA6BAD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197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medium.com/@vikashsinghy2k/how-to-collect-data-effectively-methods-questionnaire-design-and-data-sources-explained-7c0aa41d0afd" TargetMode="External"/><Relationship Id="rId3" Type="http://schemas.openxmlformats.org/officeDocument/2006/relationships/hyperlink" Target="https://medium.com/@vikashsinghy2k/introduction-to-hypothesis-testing-321cf4c9406e" TargetMode="External"/><Relationship Id="rId7" Type="http://schemas.openxmlformats.org/officeDocument/2006/relationships/hyperlink" Target="https://medium.com/@vikashsinghy2k/complete-guide-to-sampling-methods-random-stratified-systematic-and-cluster-sampling-with-f81eeb07676b" TargetMode="External"/><Relationship Id="rId2" Type="http://schemas.openxmlformats.org/officeDocument/2006/relationships/hyperlink" Target="https://medium.com/@vikashsinghy2k/how-to-perform-a-b-testing-in-python-3f61916b2c96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com/@vikashsinghy2k/frequently-asked-hypothesis-testing-questions-for-data-scientist-interviews-part-3-bd524da113cf" TargetMode="External"/><Relationship Id="rId5" Type="http://schemas.openxmlformats.org/officeDocument/2006/relationships/hyperlink" Target="https://medium.com/@vikashsinghy2k/frequently-asked-hypothesis-testing-interview-questions-for-aspiring-data-scientists-part-2-eea00536f423" TargetMode="External"/><Relationship Id="rId10" Type="http://schemas.openxmlformats.org/officeDocument/2006/relationships/hyperlink" Target="https://medium.com/@vikashsinghy2k/step-by-step-guide-to-two-sample-z-test-for-large-samples-population-sd-known-e82f52d29382" TargetMode="External"/><Relationship Id="rId4" Type="http://schemas.openxmlformats.org/officeDocument/2006/relationships/hyperlink" Target="https://medium.com/@vikashsinghy2k/frequently-asked-hypothesis-testing-questions-for-data-scientist-interviews-f4ef4a313a07" TargetMode="External"/><Relationship Id="rId9" Type="http://schemas.openxmlformats.org/officeDocument/2006/relationships/hyperlink" Target="https://medium.com/@vikashsinghy2k/step-by-step-guide-to-normal-binomial-and-poisson-distributions-using-python-4256762fb958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3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uilding with a large square structure&#10;&#10;AI-generated content may be incorrect.">
            <a:extLst>
              <a:ext uri="{FF2B5EF4-FFF2-40B4-BE49-F238E27FC236}">
                <a16:creationId xmlns:a16="http://schemas.microsoft.com/office/drawing/2014/main" id="{45D7B758-93B8-6702-E78A-5420C09B693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488" y="-3481759"/>
            <a:ext cx="12286489" cy="108400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A9F29A-6499-7007-BE30-D0006E28FD6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429"/>
          <a:stretch>
            <a:fillRect/>
          </a:stretch>
        </p:blipFill>
        <p:spPr>
          <a:xfrm>
            <a:off x="266700" y="86360"/>
            <a:ext cx="2347089" cy="6248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3E01D9-0256-D1BA-213E-B0241C636F5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19" r="51933"/>
          <a:stretch>
            <a:fillRect/>
          </a:stretch>
        </p:blipFill>
        <p:spPr>
          <a:xfrm>
            <a:off x="10202069" y="124460"/>
            <a:ext cx="2163416" cy="62484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8A999DC-A153-1905-C7EE-7C969DA83FFE}"/>
              </a:ext>
            </a:extLst>
          </p:cNvPr>
          <p:cNvSpPr/>
          <p:nvPr/>
        </p:nvSpPr>
        <p:spPr>
          <a:xfrm>
            <a:off x="-419100" y="4152147"/>
            <a:ext cx="12705589" cy="4105276"/>
          </a:xfrm>
          <a:prstGeom prst="rect">
            <a:avLst/>
          </a:prstGeom>
          <a:gradFill>
            <a:gsLst>
              <a:gs pos="0">
                <a:schemeClr val="tx1">
                  <a:lumMod val="95000"/>
                  <a:lumOff val="5000"/>
                  <a:alpha val="0"/>
                </a:schemeClr>
              </a:gs>
              <a:gs pos="100000">
                <a:schemeClr val="tx1">
                  <a:lumMod val="95000"/>
                  <a:lumOff val="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C59026-22DA-C7EE-E8D5-0A960E14490B}"/>
              </a:ext>
            </a:extLst>
          </p:cNvPr>
          <p:cNvSpPr/>
          <p:nvPr/>
        </p:nvSpPr>
        <p:spPr>
          <a:xfrm>
            <a:off x="0" y="5429251"/>
            <a:ext cx="12192001" cy="865268"/>
          </a:xfrm>
          <a:prstGeom prst="rect">
            <a:avLst/>
          </a:prstGeom>
          <a:solidFill>
            <a:srgbClr val="C00000">
              <a:alpha val="7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FAFFA5-8138-FB30-6CEE-C907D53506F8}"/>
              </a:ext>
            </a:extLst>
          </p:cNvPr>
          <p:cNvSpPr txBox="1"/>
          <p:nvPr/>
        </p:nvSpPr>
        <p:spPr>
          <a:xfrm>
            <a:off x="1195137" y="5113697"/>
            <a:ext cx="9801726" cy="147732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endParaRPr lang="en-US" sz="3000" dirty="0">
              <a:solidFill>
                <a:schemeClr val="bg1"/>
              </a:solidFill>
              <a:latin typeface="Montserrat SemiBold" pitchFamily="2" charset="0"/>
            </a:endParaRPr>
          </a:p>
          <a:p>
            <a:pPr algn="ctr"/>
            <a:r>
              <a:rPr lang="en-US" sz="3000" dirty="0">
                <a:solidFill>
                  <a:schemeClr val="bg1"/>
                </a:solidFill>
                <a:latin typeface="Montserrat SemiBold" pitchFamily="2" charset="0"/>
              </a:rPr>
              <a:t>A / B testing</a:t>
            </a:r>
          </a:p>
          <a:p>
            <a:pPr algn="ctr"/>
            <a:endParaRPr lang="en-US" sz="3000" dirty="0">
              <a:solidFill>
                <a:schemeClr val="bg1"/>
              </a:solidFill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95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E650A68-EA3A-2D91-1B47-FD55243C0DD5}"/>
              </a:ext>
            </a:extLst>
          </p:cNvPr>
          <p:cNvSpPr txBox="1">
            <a:spLocks/>
          </p:cNvSpPr>
          <p:nvPr/>
        </p:nvSpPr>
        <p:spPr>
          <a:xfrm>
            <a:off x="3606449" y="239070"/>
            <a:ext cx="6909152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Learning Objectives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5DD431F-D61B-40D1-6A24-AC95A22F2994}"/>
              </a:ext>
            </a:extLst>
          </p:cNvPr>
          <p:cNvSpPr txBox="1">
            <a:spLocks/>
          </p:cNvSpPr>
          <p:nvPr/>
        </p:nvSpPr>
        <p:spPr>
          <a:xfrm>
            <a:off x="864833" y="2134159"/>
            <a:ext cx="10249481" cy="571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200" b="1" dirty="0">
                <a:latin typeface="Avenir Next LT Pro" panose="020B0504020202020204" pitchFamily="34" charset="0"/>
                <a:cs typeface="Arial" pitchFamily="34" charset="0"/>
              </a:rPr>
              <a:t>By the end of this session, you will be able to: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7DE7BAF-4DAA-23AA-6F8E-6503937D73BE}"/>
              </a:ext>
            </a:extLst>
          </p:cNvPr>
          <p:cNvSpPr txBox="1">
            <a:spLocks/>
          </p:cNvSpPr>
          <p:nvPr/>
        </p:nvSpPr>
        <p:spPr>
          <a:xfrm>
            <a:off x="1001485" y="3048001"/>
            <a:ext cx="10765971" cy="276497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Understand A/B testing</a:t>
            </a:r>
          </a:p>
          <a:p>
            <a:r>
              <a:rPr lang="en-US" dirty="0"/>
              <a:t>Confidence interval role in hypothesis testing</a:t>
            </a:r>
          </a:p>
          <a:p>
            <a:r>
              <a:rPr lang="en-US" dirty="0"/>
              <a:t>Concept of p-values in statistical tests</a:t>
            </a:r>
          </a:p>
        </p:txBody>
      </p:sp>
    </p:spTree>
    <p:extLst>
      <p:ext uri="{BB962C8B-B14F-4D97-AF65-F5344CB8AC3E}">
        <p14:creationId xmlns:p14="http://schemas.microsoft.com/office/powerpoint/2010/main" val="1635202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D8C6-63AE-F6D9-DD04-A61B5A4FADDF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A/B Testing – the popular use case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C50DB4-0FA5-89A3-1876-E857F2CCA6A3}"/>
              </a:ext>
            </a:extLst>
          </p:cNvPr>
          <p:cNvSpPr txBox="1"/>
          <p:nvPr/>
        </p:nvSpPr>
        <p:spPr>
          <a:xfrm>
            <a:off x="362504" y="1363588"/>
            <a:ext cx="11209009" cy="19439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en-US" sz="2800" b="1" i="0" dirty="0">
                <a:solidFill>
                  <a:srgbClr val="242424"/>
                </a:solidFill>
                <a:effectLst/>
                <a:latin typeface="sohne"/>
              </a:rPr>
              <a:t>Scenario</a:t>
            </a:r>
          </a:p>
          <a:p>
            <a:pPr algn="l">
              <a:lnSpc>
                <a:spcPts val="2400"/>
              </a:lnSpc>
              <a:buNone/>
            </a:pPr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Your company has launched a new website design (Version B) and wants to know if it leads to more conversions compared to the old design (Version A).</a:t>
            </a:r>
          </a:p>
          <a:p>
            <a:pPr algn="l">
              <a:lnSpc>
                <a:spcPts val="2400"/>
              </a:lnSpc>
              <a:buNone/>
            </a:pPr>
            <a:endParaRPr lang="en-US" sz="2800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>
              <a:lnSpc>
                <a:spcPts val="2400"/>
              </a:lnSpc>
            </a:pPr>
            <a:r>
              <a:rPr lang="en-US" sz="2800" b="1" i="0" dirty="0">
                <a:solidFill>
                  <a:srgbClr val="242424"/>
                </a:solidFill>
                <a:effectLst/>
                <a:latin typeface="source-serif-pro"/>
              </a:rPr>
              <a:t>The Goal:</a:t>
            </a:r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 Use A/B testing to determine if the new design improves the conversion rate.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4DF000-F9C9-758A-EED0-5D91CC523239}"/>
              </a:ext>
            </a:extLst>
          </p:cNvPr>
          <p:cNvSpPr txBox="1"/>
          <p:nvPr/>
        </p:nvSpPr>
        <p:spPr>
          <a:xfrm>
            <a:off x="362504" y="3504887"/>
            <a:ext cx="1098041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Sample 1 (old design A):</a:t>
            </a:r>
            <a:r>
              <a:rPr lang="en-US" sz="2800" dirty="0"/>
              <a:t> n1=5013, x1=250 conversions</a:t>
            </a:r>
          </a:p>
          <a:p>
            <a:r>
              <a:rPr lang="en-US" sz="2800" b="1" dirty="0"/>
              <a:t>Sample 2 (new design B):</a:t>
            </a:r>
            <a:r>
              <a:rPr lang="en-US" sz="2800" dirty="0"/>
              <a:t> n2=4987, x2=325 conversions</a:t>
            </a:r>
          </a:p>
          <a:p>
            <a:endParaRPr lang="en-US" sz="2800" dirty="0"/>
          </a:p>
          <a:p>
            <a:r>
              <a:rPr lang="en-US" sz="2800" dirty="0"/>
              <a:t>At </a:t>
            </a:r>
            <a:r>
              <a:rPr lang="en-US" sz="2800" b="1" dirty="0"/>
              <a:t>5% level of significance</a:t>
            </a:r>
            <a:r>
              <a:rPr lang="en-US" sz="2800" dirty="0"/>
              <a:t>, test whether there is a </a:t>
            </a:r>
            <a:r>
              <a:rPr lang="en-US" sz="2800" b="1" dirty="0"/>
              <a:t>significant difference</a:t>
            </a:r>
            <a:r>
              <a:rPr lang="en-US" sz="2800" dirty="0"/>
              <a:t> in conversion rates between the two designs. </a:t>
            </a:r>
          </a:p>
          <a:p>
            <a:r>
              <a:rPr lang="en-US" sz="2800" dirty="0"/>
              <a:t>Let’s solve it?</a:t>
            </a:r>
          </a:p>
        </p:txBody>
      </p:sp>
    </p:spTree>
    <p:extLst>
      <p:ext uri="{BB962C8B-B14F-4D97-AF65-F5344CB8AC3E}">
        <p14:creationId xmlns:p14="http://schemas.microsoft.com/office/powerpoint/2010/main" val="1762190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5FBE7A-84ED-9632-84A7-10520289488F}"/>
              </a:ext>
            </a:extLst>
          </p:cNvPr>
          <p:cNvSpPr txBox="1"/>
          <p:nvPr/>
        </p:nvSpPr>
        <p:spPr>
          <a:xfrm>
            <a:off x="362504" y="1363588"/>
            <a:ext cx="11209009" cy="15917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50"/>
              </a:lnSpc>
            </a:pPr>
            <a:r>
              <a:rPr lang="en-US" sz="2800" b="1" i="0" dirty="0">
                <a:solidFill>
                  <a:srgbClr val="242424"/>
                </a:solidFill>
                <a:effectLst/>
                <a:latin typeface="sohne"/>
              </a:rPr>
              <a:t>Null hypothesis: </a:t>
            </a:r>
            <a:r>
              <a:rPr lang="en-US" sz="2800" dirty="0"/>
              <a:t>there is </a:t>
            </a:r>
            <a:r>
              <a:rPr lang="en-US" sz="2800" b="1" dirty="0"/>
              <a:t>no</a:t>
            </a:r>
            <a:r>
              <a:rPr lang="en-US" sz="2800" dirty="0"/>
              <a:t> </a:t>
            </a:r>
            <a:r>
              <a:rPr lang="en-US" sz="2800" b="1" dirty="0"/>
              <a:t>significant difference</a:t>
            </a:r>
            <a:r>
              <a:rPr lang="en-US" sz="2800" dirty="0"/>
              <a:t> in conversion rates between the two designs. </a:t>
            </a:r>
            <a:endParaRPr lang="en-US" sz="2800" b="1" i="0" dirty="0">
              <a:solidFill>
                <a:srgbClr val="242424"/>
              </a:solidFill>
              <a:effectLst/>
              <a:latin typeface="sohne"/>
            </a:endParaRPr>
          </a:p>
          <a:p>
            <a:pPr algn="l">
              <a:lnSpc>
                <a:spcPts val="2250"/>
              </a:lnSpc>
              <a:buNone/>
            </a:pPr>
            <a:endParaRPr lang="en-US" sz="2800" b="1" dirty="0">
              <a:solidFill>
                <a:srgbClr val="242424"/>
              </a:solidFill>
              <a:latin typeface="sohne"/>
            </a:endParaRPr>
          </a:p>
          <a:p>
            <a:pPr>
              <a:lnSpc>
                <a:spcPts val="2250"/>
              </a:lnSpc>
            </a:pPr>
            <a:r>
              <a:rPr lang="en-US" sz="2800" b="1" i="0" dirty="0">
                <a:solidFill>
                  <a:srgbClr val="242424"/>
                </a:solidFill>
                <a:effectLst/>
                <a:latin typeface="sohne"/>
              </a:rPr>
              <a:t>Alternate hypothesis: </a:t>
            </a:r>
            <a:r>
              <a:rPr lang="en-US" sz="2800" dirty="0"/>
              <a:t>there is a </a:t>
            </a:r>
            <a:r>
              <a:rPr lang="en-US" sz="2800" b="1" dirty="0"/>
              <a:t>significant difference</a:t>
            </a:r>
            <a:r>
              <a:rPr lang="en-US" sz="2800" dirty="0"/>
              <a:t> in conversion rates between the two designs.</a:t>
            </a:r>
            <a:r>
              <a:rPr lang="en-US" sz="2800" b="1" i="0" dirty="0">
                <a:solidFill>
                  <a:srgbClr val="242424"/>
                </a:solidFill>
                <a:effectLst/>
                <a:latin typeface="sohne"/>
              </a:rPr>
              <a:t> </a:t>
            </a:r>
            <a:endParaRPr lang="en-US" sz="2800" b="0" i="0" dirty="0">
              <a:solidFill>
                <a:srgbClr val="242424"/>
              </a:solidFill>
              <a:effectLst/>
              <a:latin typeface="source-serif-pro"/>
            </a:endParaRPr>
          </a:p>
        </p:txBody>
      </p:sp>
    </p:spTree>
    <p:extLst>
      <p:ext uri="{BB962C8B-B14F-4D97-AF65-F5344CB8AC3E}">
        <p14:creationId xmlns:p14="http://schemas.microsoft.com/office/powerpoint/2010/main" val="3335985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58AEB-D127-EF56-9A74-702DE6BB92BF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Two proportion test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3" name="Google Shape;356;p29" descr="Schematic&#10;&#10;Description automatically generated with medium confidence">
            <a:extLst>
              <a:ext uri="{FF2B5EF4-FFF2-40B4-BE49-F238E27FC236}">
                <a16:creationId xmlns:a16="http://schemas.microsoft.com/office/drawing/2014/main" id="{FE11F064-99B2-D468-71BB-F10D6615193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06549" y="2967189"/>
            <a:ext cx="5001079" cy="195990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57;p29">
            <a:extLst>
              <a:ext uri="{FF2B5EF4-FFF2-40B4-BE49-F238E27FC236}">
                <a16:creationId xmlns:a16="http://schemas.microsoft.com/office/drawing/2014/main" id="{190591D4-6674-2379-6E79-92A17DE6586F}"/>
              </a:ext>
            </a:extLst>
          </p:cNvPr>
          <p:cNvSpPr txBox="1"/>
          <p:nvPr/>
        </p:nvSpPr>
        <p:spPr>
          <a:xfrm>
            <a:off x="972457" y="2236055"/>
            <a:ext cx="390879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Statistics</a:t>
            </a:r>
            <a:endParaRPr sz="2400" dirty="0"/>
          </a:p>
        </p:txBody>
      </p:sp>
      <p:sp>
        <p:nvSpPr>
          <p:cNvPr id="5" name="Google Shape;358;p29">
            <a:extLst>
              <a:ext uri="{FF2B5EF4-FFF2-40B4-BE49-F238E27FC236}">
                <a16:creationId xmlns:a16="http://schemas.microsoft.com/office/drawing/2014/main" id="{E554577D-C251-5308-BDCB-07B903DF5B66}"/>
              </a:ext>
            </a:extLst>
          </p:cNvPr>
          <p:cNvSpPr txBox="1"/>
          <p:nvPr/>
        </p:nvSpPr>
        <p:spPr>
          <a:xfrm>
            <a:off x="622299" y="1443366"/>
            <a:ext cx="902138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independent  sample – Large Sample(&gt;=30)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25383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8781799-CD3A-E53A-39C0-C49050C49666}"/>
              </a:ext>
            </a:extLst>
          </p:cNvPr>
          <p:cNvSpPr txBox="1">
            <a:spLocks/>
          </p:cNvSpPr>
          <p:nvPr/>
        </p:nvSpPr>
        <p:spPr>
          <a:xfrm>
            <a:off x="600529" y="1951683"/>
            <a:ext cx="3949700" cy="13872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The sample proportions are calculated as: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E38A8E-6E25-DFB6-EE1A-5AA48BB6D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0124" y="1328351"/>
            <a:ext cx="1581233" cy="2473864"/>
          </a:xfrm>
          <a:prstGeom prst="rect">
            <a:avLst/>
          </a:prstGeom>
        </p:spPr>
      </p:pic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D9BC5139-7953-E0E4-3360-76C602D8BDBD}"/>
              </a:ext>
            </a:extLst>
          </p:cNvPr>
          <p:cNvSpPr txBox="1">
            <a:spLocks/>
          </p:cNvSpPr>
          <p:nvPr/>
        </p:nvSpPr>
        <p:spPr>
          <a:xfrm>
            <a:off x="447171" y="4745389"/>
            <a:ext cx="3558772" cy="138725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The </a:t>
            </a:r>
            <a:r>
              <a:rPr lang="en-US" sz="3200" b="1" dirty="0"/>
              <a:t>pooled proportion p-hat is </a:t>
            </a:r>
            <a:r>
              <a:rPr lang="en-US" sz="3200" dirty="0"/>
              <a:t>calculated as: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DA96DF-02F0-63F4-B7EA-22A9F0A5B2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2372" y="4386204"/>
            <a:ext cx="3437969" cy="159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808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9EAC1-A31B-E500-F18E-BA98A4D9ED2C}"/>
              </a:ext>
            </a:extLst>
          </p:cNvPr>
          <p:cNvSpPr txBox="1">
            <a:spLocks/>
          </p:cNvSpPr>
          <p:nvPr/>
        </p:nvSpPr>
        <p:spPr>
          <a:xfrm>
            <a:off x="438704" y="217297"/>
            <a:ext cx="10947399" cy="87127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A/B Testing – calculations?</a:t>
            </a:r>
            <a:endParaRPr lang="en-US" sz="2800" b="1" dirty="0">
              <a:solidFill>
                <a:srgbClr val="D9212B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064E6D-63DA-4738-1558-656C616C8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076" y="1172007"/>
            <a:ext cx="1581233" cy="24738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DE5E650-74C7-9DB6-3595-FE967768D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329" y="1447061"/>
            <a:ext cx="3024313" cy="14070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3267E5-408F-AD38-3569-8D1F2BE300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6294" y="4344547"/>
            <a:ext cx="5694191" cy="18846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23047FC-0F38-ECD8-8729-34477A3E7228}"/>
              </a:ext>
            </a:extLst>
          </p:cNvPr>
          <p:cNvSpPr txBox="1"/>
          <p:nvPr/>
        </p:nvSpPr>
        <p:spPr>
          <a:xfrm>
            <a:off x="3603171" y="3429000"/>
            <a:ext cx="7990115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Sample 1 (old design A):</a:t>
            </a:r>
            <a:r>
              <a:rPr lang="en-US" sz="2400" dirty="0"/>
              <a:t> n1=5013, x1=250 conversions</a:t>
            </a:r>
          </a:p>
          <a:p>
            <a:r>
              <a:rPr lang="en-US" sz="2400" b="1" dirty="0"/>
              <a:t>Sample 2 (new </a:t>
            </a:r>
            <a:r>
              <a:rPr lang="en-US" sz="2800" b="1" dirty="0"/>
              <a:t>design</a:t>
            </a:r>
            <a:r>
              <a:rPr lang="en-US" sz="2400" b="1" dirty="0"/>
              <a:t> B):</a:t>
            </a:r>
            <a:r>
              <a:rPr lang="en-US" sz="2400" dirty="0"/>
              <a:t> n2=4987, x2=325 conversions</a:t>
            </a:r>
          </a:p>
        </p:txBody>
      </p:sp>
    </p:spTree>
    <p:extLst>
      <p:ext uri="{BB962C8B-B14F-4D97-AF65-F5344CB8AC3E}">
        <p14:creationId xmlns:p14="http://schemas.microsoft.com/office/powerpoint/2010/main" val="550744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5551C-994E-EC2D-04B9-CA0F822B59CA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A/B Testing – conclusion</a:t>
            </a:r>
            <a:endParaRPr lang="en-US" sz="2800" b="1" dirty="0">
              <a:solidFill>
                <a:srgbClr val="D9212B"/>
              </a:solidFill>
              <a:latin typeface="Avenir Next LT Pro" panose="020B0504020202020204" pitchFamily="34" charset="0"/>
              <a:cs typeface="Arial" pitchFamily="34" charset="0"/>
            </a:endParaRP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E45317D9-1958-87CF-924F-B2FD0B02ECFD}"/>
              </a:ext>
            </a:extLst>
          </p:cNvPr>
          <p:cNvSpPr txBox="1">
            <a:spLocks/>
          </p:cNvSpPr>
          <p:nvPr/>
        </p:nvSpPr>
        <p:spPr>
          <a:xfrm>
            <a:off x="622300" y="1160003"/>
            <a:ext cx="10947400" cy="54202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Calculated Z-value</a:t>
            </a:r>
            <a:r>
              <a:rPr lang="en-US" dirty="0"/>
              <a:t> = </a:t>
            </a:r>
            <a:r>
              <a:rPr lang="en-US" b="1" dirty="0"/>
              <a:t>-3.29</a:t>
            </a:r>
          </a:p>
          <a:p>
            <a:endParaRPr lang="en-US" b="1" dirty="0"/>
          </a:p>
          <a:p>
            <a:r>
              <a:rPr lang="en-US" b="1" dirty="0"/>
              <a:t>Critical Z-value</a:t>
            </a:r>
            <a:r>
              <a:rPr lang="en-US" dirty="0"/>
              <a:t> = </a:t>
            </a:r>
            <a:r>
              <a:rPr lang="en-US" b="1" dirty="0"/>
              <a:t>±1.96</a:t>
            </a:r>
            <a:endParaRPr lang="en-US" dirty="0"/>
          </a:p>
          <a:p>
            <a:endParaRPr lang="en-US" dirty="0"/>
          </a:p>
          <a:p>
            <a:r>
              <a:rPr lang="en-US" dirty="0"/>
              <a:t>Since </a:t>
            </a:r>
            <a:r>
              <a:rPr lang="en-US" b="1" dirty="0"/>
              <a:t>∣</a:t>
            </a:r>
            <a:r>
              <a:rPr lang="en-US" b="1" dirty="0" err="1"/>
              <a:t>Zcalculated</a:t>
            </a:r>
            <a:r>
              <a:rPr lang="en-US" b="1" dirty="0"/>
              <a:t>∣=3.29&gt;</a:t>
            </a:r>
            <a:r>
              <a:rPr lang="en-US" b="1" dirty="0" err="1"/>
              <a:t>Zcritical</a:t>
            </a:r>
            <a:r>
              <a:rPr lang="en-US" b="1" dirty="0"/>
              <a:t>=1.96</a:t>
            </a:r>
            <a:r>
              <a:rPr lang="en-US" dirty="0"/>
              <a:t>, we </a:t>
            </a:r>
            <a:r>
              <a:rPr lang="en-US" b="1" dirty="0"/>
              <a:t>reject the null hypothesis H0.</a:t>
            </a:r>
          </a:p>
          <a:p>
            <a:endParaRPr lang="en-US" dirty="0"/>
          </a:p>
          <a:p>
            <a:r>
              <a:rPr lang="en-US" dirty="0"/>
              <a:t>There is </a:t>
            </a:r>
            <a:r>
              <a:rPr lang="en-US" b="1" dirty="0"/>
              <a:t>a statistically significant difference</a:t>
            </a:r>
            <a:r>
              <a:rPr lang="en-US" dirty="0"/>
              <a:t> in the proportion of conversion rate for the two designs. </a:t>
            </a:r>
          </a:p>
          <a:p>
            <a:endParaRPr lang="en-US" dirty="0"/>
          </a:p>
          <a:p>
            <a:r>
              <a:rPr lang="en-US" dirty="0"/>
              <a:t>This suggests that </a:t>
            </a:r>
            <a:r>
              <a:rPr lang="en-US" b="1" dirty="0"/>
              <a:t>website design has an </a:t>
            </a:r>
            <a:r>
              <a:rPr lang="en-US" dirty="0"/>
              <a:t>influence on conversion rates.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005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E6853-27D0-64BA-FDF7-4587857BC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84651-1073-E95C-24A8-489B584FB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4982"/>
            <a:ext cx="10515600" cy="1325563"/>
          </a:xfrm>
        </p:spPr>
        <p:txBody>
          <a:bodyPr/>
          <a:lstStyle/>
          <a:p>
            <a:r>
              <a:rPr lang="en-US" dirty="0"/>
              <a:t>Confidence interval and p-values</a:t>
            </a:r>
          </a:p>
        </p:txBody>
      </p:sp>
    </p:spTree>
    <p:extLst>
      <p:ext uri="{BB962C8B-B14F-4D97-AF65-F5344CB8AC3E}">
        <p14:creationId xmlns:p14="http://schemas.microsoft.com/office/powerpoint/2010/main" val="674751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8335B-6165-EFE7-5860-6EF1923A1F2F}"/>
              </a:ext>
            </a:extLst>
          </p:cNvPr>
          <p:cNvSpPr txBox="1">
            <a:spLocks/>
          </p:cNvSpPr>
          <p:nvPr/>
        </p:nvSpPr>
        <p:spPr>
          <a:xfrm>
            <a:off x="1970313" y="217297"/>
            <a:ext cx="8610601" cy="871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What is a Confidence Interval in Hypothesis Testing?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7CAF59-B0A3-B1ED-09FD-1C1C5690D1D1}"/>
              </a:ext>
            </a:extLst>
          </p:cNvPr>
          <p:cNvSpPr txBox="1"/>
          <p:nvPr/>
        </p:nvSpPr>
        <p:spPr>
          <a:xfrm>
            <a:off x="438705" y="1472310"/>
            <a:ext cx="1150292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A </a:t>
            </a:r>
            <a:r>
              <a:rPr lang="en-US" sz="2800" b="1" dirty="0"/>
              <a:t>confidence interval (CI)</a:t>
            </a:r>
            <a:r>
              <a:rPr lang="en-US" sz="2800" dirty="0"/>
              <a:t> is a range of values that is likely to contain the </a:t>
            </a:r>
            <a:r>
              <a:rPr lang="en-US" sz="2800" b="1" dirty="0"/>
              <a:t>true population parameter</a:t>
            </a:r>
            <a:r>
              <a:rPr lang="en-US" sz="2800" dirty="0"/>
              <a:t> (like the mean or proportion) with a certain level of confidence (typically 95%).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dirty="0"/>
              <a:t>Instead of saying, “The average weight is 70 kg,” we say:</a:t>
            </a:r>
            <a:br>
              <a:rPr lang="en-US" sz="2800" dirty="0"/>
            </a:br>
            <a:r>
              <a:rPr lang="en-US" sz="2800" dirty="0"/>
              <a:t>👉 “We are 95% confident the average weight lies between 67 and 73 kg.”</a:t>
            </a:r>
          </a:p>
          <a:p>
            <a:endParaRPr lang="en-US" sz="2800" dirty="0"/>
          </a:p>
          <a:p>
            <a:r>
              <a:rPr lang="en-US" sz="2800" dirty="0"/>
              <a:t>It provides more information than a point estimate and helps in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545535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F873A-967D-7143-748E-1A056F6A6E44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Formula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D2E770-B676-C033-B1DC-88B43F73D363}"/>
              </a:ext>
            </a:extLst>
          </p:cNvPr>
          <p:cNvSpPr txBox="1"/>
          <p:nvPr/>
        </p:nvSpPr>
        <p:spPr>
          <a:xfrm>
            <a:off x="348343" y="1277035"/>
            <a:ext cx="106059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Z Confidence Interval</a:t>
            </a:r>
            <a:r>
              <a:rPr lang="en-US" sz="2400" dirty="0"/>
              <a:t> (when population standard deviation is known)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9255E5-2A03-DE9C-B422-74AF134A0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631" y="2238315"/>
            <a:ext cx="3000794" cy="8573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6C137F-3C12-EDA9-EC25-3032AE009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61" y="3508215"/>
            <a:ext cx="7382905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1782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D67FCF-D0AE-1914-7BCE-576E39A01ADC}"/>
              </a:ext>
            </a:extLst>
          </p:cNvPr>
          <p:cNvSpPr txBox="1"/>
          <p:nvPr/>
        </p:nvSpPr>
        <p:spPr>
          <a:xfrm>
            <a:off x="348342" y="1277035"/>
            <a:ext cx="105482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/>
              <a:t>t Confidence Interval</a:t>
            </a:r>
            <a:r>
              <a:rPr lang="en-US" sz="2400" dirty="0"/>
              <a:t> (when population standard deviation is unknown)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3499CB-A6FE-BAF1-A8AD-0F440C11B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545" y="2109740"/>
            <a:ext cx="7182852" cy="2619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365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7EEC4-DF38-2153-2842-2ACB2C0AF130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Solved Example – Z-Test CI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D498F5-FBAD-7E4E-77C0-580A8B7F598C}"/>
              </a:ext>
            </a:extLst>
          </p:cNvPr>
          <p:cNvSpPr txBox="1"/>
          <p:nvPr/>
        </p:nvSpPr>
        <p:spPr>
          <a:xfrm>
            <a:off x="566057" y="1337493"/>
            <a:ext cx="106135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Problem:</a:t>
            </a:r>
          </a:p>
          <a:p>
            <a:r>
              <a:rPr lang="en-US" sz="2400" dirty="0"/>
              <a:t>A sample of 100 students has an average score of 75. The population standard deviation is 10. Find the </a:t>
            </a:r>
            <a:r>
              <a:rPr lang="en-US" sz="2400" b="1" dirty="0"/>
              <a:t>95% confidence interval</a:t>
            </a:r>
            <a:r>
              <a:rPr lang="en-US" sz="2400" dirty="0"/>
              <a:t> for the true mean.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1CE5B2-6458-0C17-41F2-099A81915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2320" y="3065629"/>
            <a:ext cx="5996198" cy="171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160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CD57E-77DD-2360-2353-8241DD043137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Solved Example – Z-Test CI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4FDDFB-158F-A9FD-BDAD-F9DCF9BE3ED1}"/>
              </a:ext>
            </a:extLst>
          </p:cNvPr>
          <p:cNvSpPr txBox="1"/>
          <p:nvPr/>
        </p:nvSpPr>
        <p:spPr>
          <a:xfrm>
            <a:off x="566057" y="1337493"/>
            <a:ext cx="106135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Problem: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sample of 100 students has an average score of 75. The population standard deviation is 10. Find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95% confidence interval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for the true mean.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95605D-4575-2A95-DEDF-68CA5DA29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06" y="2969319"/>
            <a:ext cx="9988223" cy="318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534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9DE17-FA07-C1D4-AB30-E183EB507BFF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Solved Example – t-Test CI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 Placeholder 1">
            <a:extLst>
              <a:ext uri="{FF2B5EF4-FFF2-40B4-BE49-F238E27FC236}">
                <a16:creationId xmlns:a16="http://schemas.microsoft.com/office/drawing/2014/main" id="{B0F61300-9705-7376-BF96-B9F09B4F84EE}"/>
              </a:ext>
            </a:extLst>
          </p:cNvPr>
          <p:cNvSpPr txBox="1">
            <a:spLocks/>
          </p:cNvSpPr>
          <p:nvPr/>
        </p:nvSpPr>
        <p:spPr>
          <a:xfrm>
            <a:off x="622300" y="1160004"/>
            <a:ext cx="10947400" cy="1398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b="1" dirty="0"/>
              <a:t>Problem: </a:t>
            </a:r>
            <a:r>
              <a:rPr lang="en-US" dirty="0"/>
              <a:t>A sample of 16 patients has an average blood pressure of 120. The sample standard deviation is 8. Find the </a:t>
            </a:r>
            <a:r>
              <a:rPr lang="en-US" b="1" dirty="0"/>
              <a:t>95% confidence interval</a:t>
            </a:r>
            <a:r>
              <a:rPr lang="en-US" dirty="0"/>
              <a:t> assuming a t-distribution.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41B50B-A36E-65E4-486C-0D8D64879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610" y="3573625"/>
            <a:ext cx="8707065" cy="21243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BE5196-AC4D-0202-B3C5-A287B9FE4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193" y="2589568"/>
            <a:ext cx="2495898" cy="9526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D0B5B1-1C8D-BE7B-22DC-8328199480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4616" y="5884680"/>
            <a:ext cx="4406241" cy="639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451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7B118-937A-F957-2725-866D0E15E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EBE02-2FBB-BE4C-B932-DAC016564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4982"/>
            <a:ext cx="10515600" cy="1325563"/>
          </a:xfrm>
        </p:spPr>
        <p:txBody>
          <a:bodyPr/>
          <a:lstStyle/>
          <a:p>
            <a:r>
              <a:rPr lang="en-US" dirty="0"/>
              <a:t>p-values</a:t>
            </a:r>
          </a:p>
        </p:txBody>
      </p:sp>
    </p:spTree>
    <p:extLst>
      <p:ext uri="{BB962C8B-B14F-4D97-AF65-F5344CB8AC3E}">
        <p14:creationId xmlns:p14="http://schemas.microsoft.com/office/powerpoint/2010/main" val="6320537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9E38209-83F3-07EC-7D60-CEE1130C3EFA}"/>
              </a:ext>
            </a:extLst>
          </p:cNvPr>
          <p:cNvSpPr txBox="1">
            <a:spLocks/>
          </p:cNvSpPr>
          <p:nvPr/>
        </p:nvSpPr>
        <p:spPr>
          <a:xfrm>
            <a:off x="1284513" y="217297"/>
            <a:ext cx="96697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What is a p-value in Hypothesis Testing?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37C2987-569B-D943-7E07-4FD48B33CE21}"/>
              </a:ext>
            </a:extLst>
          </p:cNvPr>
          <p:cNvSpPr txBox="1">
            <a:spLocks/>
          </p:cNvSpPr>
          <p:nvPr/>
        </p:nvSpPr>
        <p:spPr>
          <a:xfrm>
            <a:off x="478971" y="1251857"/>
            <a:ext cx="11517087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p-value = How likely is this result if nothing unusual is happening?</a:t>
            </a:r>
          </a:p>
          <a:p>
            <a:endParaRPr lang="en-US" dirty="0"/>
          </a:p>
          <a:p>
            <a:r>
              <a:rPr lang="en-US" dirty="0"/>
              <a:t>High p-value → Normal result</a:t>
            </a:r>
          </a:p>
          <a:p>
            <a:r>
              <a:rPr lang="en-US" dirty="0"/>
              <a:t>Low p-value → Unusual result</a:t>
            </a:r>
          </a:p>
          <a:p>
            <a:endParaRPr lang="en-US" dirty="0"/>
          </a:p>
          <a:p>
            <a:r>
              <a:rPr lang="en-US" dirty="0"/>
              <a:t>Small p-value = Strong evidence against the null hypothesis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4928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8051B-935B-8E2B-1C99-D65AA3CD8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4342B82-F343-AED6-995C-049969EC4136}"/>
              </a:ext>
            </a:extLst>
          </p:cNvPr>
          <p:cNvSpPr txBox="1">
            <a:spLocks/>
          </p:cNvSpPr>
          <p:nvPr/>
        </p:nvSpPr>
        <p:spPr>
          <a:xfrm>
            <a:off x="1284513" y="217297"/>
            <a:ext cx="9669791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What is a p-value in Hypothesis Testing?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C2919D2-129B-4E7D-207A-84E14711896C}"/>
              </a:ext>
            </a:extLst>
          </p:cNvPr>
          <p:cNvSpPr txBox="1">
            <a:spLocks/>
          </p:cNvSpPr>
          <p:nvPr/>
        </p:nvSpPr>
        <p:spPr>
          <a:xfrm>
            <a:off x="478971" y="1251857"/>
            <a:ext cx="11517087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p-value = How likely is this result if nothing unusual is happening?</a:t>
            </a:r>
          </a:p>
          <a:p>
            <a:endParaRPr lang="en-US" dirty="0"/>
          </a:p>
          <a:p>
            <a:r>
              <a:rPr lang="en-US" dirty="0"/>
              <a:t>High p-value → Normal result</a:t>
            </a:r>
          </a:p>
          <a:p>
            <a:r>
              <a:rPr lang="en-US" dirty="0"/>
              <a:t>Low p-value → Unusual result</a:t>
            </a:r>
          </a:p>
          <a:p>
            <a:endParaRPr lang="en-US" dirty="0"/>
          </a:p>
          <a:p>
            <a:r>
              <a:rPr lang="en-US" dirty="0"/>
              <a:t>Small p-value = Strong evidence against the null hypothesis</a:t>
            </a:r>
          </a:p>
          <a:p>
            <a:endParaRPr lang="en-US" dirty="0"/>
          </a:p>
          <a:p>
            <a:r>
              <a:rPr lang="en-US" dirty="0"/>
              <a:t>If p ≤ 0.05 → Reject null hypothesis</a:t>
            </a:r>
          </a:p>
          <a:p>
            <a:r>
              <a:rPr lang="en-US" dirty="0"/>
              <a:t>If p &gt; 0.05 → Do not reject null hypothesis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5256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09D20-F831-C6F3-4BB5-7CE5957476C9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Example: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AB55F8-6F0F-8E99-84D6-CD37E22B6474}"/>
              </a:ext>
            </a:extLst>
          </p:cNvPr>
          <p:cNvSpPr txBox="1"/>
          <p:nvPr/>
        </p:nvSpPr>
        <p:spPr>
          <a:xfrm>
            <a:off x="304800" y="1160306"/>
            <a:ext cx="111905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A company claims their average delivery time is </a:t>
            </a:r>
            <a:r>
              <a:rPr lang="en-US" sz="2400" b="1" dirty="0"/>
              <a:t>30 minutes</a:t>
            </a:r>
            <a:r>
              <a:rPr lang="en-US" sz="2400" dirty="0"/>
              <a:t>. You collect data and find the average is </a:t>
            </a:r>
            <a:r>
              <a:rPr lang="en-US" sz="2400" b="1" dirty="0"/>
              <a:t>34 minutes</a:t>
            </a:r>
            <a:r>
              <a:rPr lang="en-US" sz="2400" dirty="0"/>
              <a:t>. After running a hypothesis test, your </a:t>
            </a:r>
            <a:r>
              <a:rPr lang="en-US" sz="2400" b="1" dirty="0"/>
              <a:t>p-value = 0.01</a:t>
            </a:r>
            <a:r>
              <a:rPr lang="en-US" sz="2400" dirty="0"/>
              <a:t>. What does it mean?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FDA4AA-677E-8A0E-75F4-258930B46394}"/>
              </a:ext>
            </a:extLst>
          </p:cNvPr>
          <p:cNvSpPr txBox="1"/>
          <p:nvPr/>
        </p:nvSpPr>
        <p:spPr>
          <a:xfrm>
            <a:off x="438705" y="2743040"/>
            <a:ext cx="1065383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/>
              <a:t>Interpretation:</a:t>
            </a:r>
          </a:p>
          <a:p>
            <a:pPr>
              <a:buNone/>
            </a:pPr>
            <a:r>
              <a:rPr lang="en-US" sz="2400" dirty="0"/>
              <a:t>Ho: average delivery time = 30 mins</a:t>
            </a:r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If H₀ (delivery time is 30 mins) were true, there's only a </a:t>
            </a:r>
            <a:r>
              <a:rPr lang="en-US" sz="2400" b="1" dirty="0"/>
              <a:t>1% chance</a:t>
            </a:r>
            <a:r>
              <a:rPr lang="en-US" sz="2400" dirty="0"/>
              <a:t> of getting a result like 34 mins or more extreme.</a:t>
            </a:r>
          </a:p>
          <a:p>
            <a:pPr>
              <a:buNone/>
            </a:pPr>
            <a:endParaRPr lang="en-US" sz="2400" dirty="0"/>
          </a:p>
          <a:p>
            <a:r>
              <a:rPr lang="en-US" sz="2400" dirty="0"/>
              <a:t>Now, Since </a:t>
            </a:r>
            <a:r>
              <a:rPr lang="en-US" sz="2400" b="1" dirty="0"/>
              <a:t>p = 0.01 &lt; 0.05</a:t>
            </a:r>
            <a:r>
              <a:rPr lang="en-US" sz="2400" dirty="0"/>
              <a:t>, we </a:t>
            </a:r>
            <a:r>
              <a:rPr lang="en-US" sz="2400" b="1" dirty="0"/>
              <a:t>reject H₀</a:t>
            </a:r>
            <a:r>
              <a:rPr lang="en-US" sz="2400" dirty="0"/>
              <a:t>.</a:t>
            </a:r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We conclude that the actual delivery time is </a:t>
            </a:r>
            <a:r>
              <a:rPr lang="en-US" sz="2400" b="1" dirty="0"/>
              <a:t>significantly different</a:t>
            </a:r>
            <a:r>
              <a:rPr lang="en-US" sz="2400" dirty="0"/>
              <a:t> from 30 mins.</a:t>
            </a:r>
          </a:p>
        </p:txBody>
      </p:sp>
    </p:spTree>
    <p:extLst>
      <p:ext uri="{BB962C8B-B14F-4D97-AF65-F5344CB8AC3E}">
        <p14:creationId xmlns:p14="http://schemas.microsoft.com/office/powerpoint/2010/main" val="12338921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99EC2A9-499C-7BDF-586A-7A51248D6BF7}"/>
              </a:ext>
            </a:extLst>
          </p:cNvPr>
          <p:cNvSpPr txBox="1">
            <a:spLocks/>
          </p:cNvSpPr>
          <p:nvPr/>
        </p:nvSpPr>
        <p:spPr>
          <a:xfrm>
            <a:off x="622300" y="1160003"/>
            <a:ext cx="10947400" cy="462031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Q1. p=0.03 → ?</a:t>
            </a:r>
          </a:p>
          <a:p>
            <a:pPr marL="0" indent="0">
              <a:buNone/>
            </a:pPr>
            <a:r>
              <a:rPr lang="en-US" dirty="0"/>
              <a:t>A) Accept H₀</a:t>
            </a:r>
          </a:p>
          <a:p>
            <a:pPr marL="0" indent="0">
              <a:buNone/>
            </a:pPr>
            <a:r>
              <a:rPr lang="en-US" dirty="0"/>
              <a:t>B) Reject H₀ 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dirty="0"/>
              <a:t>Q2. CI=(48,52), </a:t>
            </a:r>
            <a:r>
              <a:rPr lang="el-GR" dirty="0"/>
              <a:t>μ₀=53 → ?</a:t>
            </a:r>
          </a:p>
          <a:p>
            <a:pPr marL="0" indent="0">
              <a:buNone/>
            </a:pPr>
            <a:r>
              <a:rPr lang="en-US" dirty="0"/>
              <a:t>A) Reject H₀ </a:t>
            </a:r>
          </a:p>
          <a:p>
            <a:pPr marL="0" indent="0">
              <a:buNone/>
            </a:pPr>
            <a:r>
              <a:rPr lang="en-US" dirty="0"/>
              <a:t>B) Accept H₀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Q3) p=0.07, α=0.05 → ?</a:t>
            </a:r>
          </a:p>
          <a:p>
            <a:pPr marL="0" indent="0">
              <a:buNone/>
            </a:pPr>
            <a:r>
              <a:rPr lang="en-US" dirty="0"/>
              <a:t>A) Reject H₀</a:t>
            </a:r>
          </a:p>
          <a:p>
            <a:pPr marL="0" indent="0">
              <a:buNone/>
            </a:pPr>
            <a:r>
              <a:rPr lang="en-US" dirty="0"/>
              <a:t>B) Fail to reject H₀ </a:t>
            </a:r>
          </a:p>
          <a:p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DC4096E-34F4-2343-B6C5-A1B316266862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MCQ</a:t>
            </a:r>
            <a:endParaRPr lang="en-US" sz="2800" b="1" dirty="0">
              <a:solidFill>
                <a:srgbClr val="D921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2370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D91EFF-0483-AD46-E2E2-150BE573D3DF}"/>
              </a:ext>
            </a:extLst>
          </p:cNvPr>
          <p:cNvSpPr txBox="1">
            <a:spLocks/>
          </p:cNvSpPr>
          <p:nvPr/>
        </p:nvSpPr>
        <p:spPr>
          <a:xfrm>
            <a:off x="622300" y="1160003"/>
            <a:ext cx="10947400" cy="462031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Q1. p=0.03 → ?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A) Accept H₀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B) Reject H₀ ✅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Q2. CI=(48,52), </a:t>
            </a:r>
            <a:r>
              <a:rPr kumimoji="0" lang="el-G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μ₀=53 → ?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A) Reject H₀ ✅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B) Accept H₀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Q3) p=0.07, α=0.05 → ?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A) Reject H₀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B) Fail to reject H₀ ✅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BCB82B2-1344-A576-3F70-4250D88D2AFA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MCQ</a:t>
            </a:r>
            <a:endParaRPr lang="en-US" sz="2800" b="1" dirty="0">
              <a:solidFill>
                <a:srgbClr val="D921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06220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37AC6-489A-BB67-7BB3-C7AA5D51E938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Session Summary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E64C78-5927-960E-3E52-216F73E939B0}"/>
              </a:ext>
            </a:extLst>
          </p:cNvPr>
          <p:cNvSpPr txBox="1"/>
          <p:nvPr/>
        </p:nvSpPr>
        <p:spPr>
          <a:xfrm>
            <a:off x="1218460" y="2305520"/>
            <a:ext cx="6147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Avenir Next LT Pro" panose="020B0504020202020204" pitchFamily="34" charset="0"/>
                <a:cs typeface="Arial" pitchFamily="34" charset="0"/>
              </a:rPr>
              <a:t>In this session, we have discussed about: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7B4968E-5405-6A4B-D0F2-9313E236408B}"/>
              </a:ext>
            </a:extLst>
          </p:cNvPr>
          <p:cNvSpPr txBox="1">
            <a:spLocks/>
          </p:cNvSpPr>
          <p:nvPr/>
        </p:nvSpPr>
        <p:spPr>
          <a:xfrm>
            <a:off x="1001485" y="3048001"/>
            <a:ext cx="10765971" cy="276497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Understand A/B testing</a:t>
            </a:r>
          </a:p>
          <a:p>
            <a:r>
              <a:rPr lang="en-US" dirty="0"/>
              <a:t>Confidence interval role in hypothesis testing</a:t>
            </a:r>
          </a:p>
          <a:p>
            <a:r>
              <a:rPr lang="en-US" dirty="0"/>
              <a:t>Concept of p-values in statistical tests</a:t>
            </a:r>
          </a:p>
        </p:txBody>
      </p:sp>
    </p:spTree>
    <p:extLst>
      <p:ext uri="{BB962C8B-B14F-4D97-AF65-F5344CB8AC3E}">
        <p14:creationId xmlns:p14="http://schemas.microsoft.com/office/powerpoint/2010/main" val="16313128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E05F0-F166-25F6-CB6B-5FB525F78AD4}"/>
              </a:ext>
            </a:extLst>
          </p:cNvPr>
          <p:cNvSpPr txBox="1">
            <a:spLocks/>
          </p:cNvSpPr>
          <p:nvPr/>
        </p:nvSpPr>
        <p:spPr>
          <a:xfrm>
            <a:off x="438705" y="217297"/>
            <a:ext cx="10515600" cy="6886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rgbClr val="D9212B"/>
                </a:solidFill>
                <a:latin typeface="Avenir Next LT Pro" panose="020B0504020202020204" pitchFamily="34" charset="0"/>
                <a:cs typeface="Arial" pitchFamily="34" charset="0"/>
              </a:rPr>
              <a:t>Reference Links</a:t>
            </a:r>
            <a:endParaRPr lang="en-US" sz="2800" b="1" dirty="0">
              <a:solidFill>
                <a:srgbClr val="D9212B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57E35-1F84-EE85-BC81-5B04C7BF64A0}"/>
              </a:ext>
            </a:extLst>
          </p:cNvPr>
          <p:cNvSpPr txBox="1">
            <a:spLocks/>
          </p:cNvSpPr>
          <p:nvPr/>
        </p:nvSpPr>
        <p:spPr>
          <a:xfrm>
            <a:off x="301894" y="1015408"/>
            <a:ext cx="11588212" cy="5505136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hlinkClick r:id="rId2"/>
              </a:rPr>
              <a:t>How to perform A/B Testing in Python</a:t>
            </a:r>
            <a:endParaRPr lang="en-US" sz="2400" b="1" dirty="0">
              <a:hlinkClick r:id="rId3"/>
            </a:endParaRPr>
          </a:p>
          <a:p>
            <a:endParaRPr lang="en-US" sz="2400" b="1" dirty="0">
              <a:hlinkClick r:id="rId3"/>
            </a:endParaRPr>
          </a:p>
          <a:p>
            <a:r>
              <a:rPr lang="en-US" sz="2400" b="1" dirty="0">
                <a:hlinkClick r:id="rId3"/>
              </a:rPr>
              <a:t>Introduction to Hypothesis Testing</a:t>
            </a:r>
            <a:endParaRPr lang="en-US" sz="2400" b="1" dirty="0"/>
          </a:p>
          <a:p>
            <a:endParaRPr lang="en-US" sz="2400" b="1" dirty="0"/>
          </a:p>
          <a:p>
            <a:r>
              <a:rPr lang="en-US" sz="2400" b="1" dirty="0">
                <a:hlinkClick r:id="rId4"/>
              </a:rPr>
              <a:t>Frequently asked hypothesis testing interview questions and answers – part 1</a:t>
            </a:r>
            <a:endParaRPr lang="en-US" sz="2400" b="1" dirty="0"/>
          </a:p>
          <a:p>
            <a:endParaRPr lang="en-US" sz="2400" b="1" dirty="0"/>
          </a:p>
          <a:p>
            <a:r>
              <a:rPr lang="en-US" sz="2400" b="1" dirty="0">
                <a:hlinkClick r:id="rId5"/>
              </a:rPr>
              <a:t>Frequently asked hypothesis testing interview questions and answers – part 2</a:t>
            </a:r>
            <a:endParaRPr lang="en-US" sz="2400" b="1" dirty="0"/>
          </a:p>
          <a:p>
            <a:endParaRPr lang="en-US" sz="2400" b="1" dirty="0"/>
          </a:p>
          <a:p>
            <a:r>
              <a:rPr lang="en-US" sz="2400" b="1" dirty="0">
                <a:hlinkClick r:id="rId6"/>
              </a:rPr>
              <a:t>Frequently asked hypothesis testing interview questions and answers – part 3</a:t>
            </a:r>
            <a:endParaRPr lang="en-US" sz="2400" b="1" dirty="0"/>
          </a:p>
          <a:p>
            <a:endParaRPr lang="en-US" sz="2400" b="1" dirty="0"/>
          </a:p>
          <a:p>
            <a:r>
              <a:rPr lang="en-US" sz="2400" b="1" dirty="0">
                <a:hlinkClick r:id="rId7"/>
              </a:rPr>
              <a:t>Sampling methods guide</a:t>
            </a:r>
            <a:endParaRPr lang="en-US" sz="2400" b="1" dirty="0"/>
          </a:p>
          <a:p>
            <a:endParaRPr lang="en-US" sz="2400" b="1" dirty="0"/>
          </a:p>
          <a:p>
            <a:r>
              <a:rPr lang="en-US" sz="2400" b="1" dirty="0">
                <a:hlinkClick r:id="rId8"/>
              </a:rPr>
              <a:t>How to Collect Data Effectively: Methods, Questionnaire Design, and Data Sources Explained</a:t>
            </a:r>
            <a:endParaRPr lang="en-US" sz="2400" b="1" dirty="0"/>
          </a:p>
          <a:p>
            <a:endParaRPr lang="en-US" sz="2400" b="1" dirty="0"/>
          </a:p>
          <a:p>
            <a:r>
              <a:rPr lang="en-US" sz="2400" b="1" dirty="0">
                <a:hlinkClick r:id="rId9"/>
              </a:rPr>
              <a:t>Probability Distributions in Python</a:t>
            </a:r>
            <a:endParaRPr lang="en-US" sz="2400" b="1" dirty="0"/>
          </a:p>
          <a:p>
            <a:endParaRPr lang="en-US" sz="2400" b="1" dirty="0"/>
          </a:p>
          <a:p>
            <a:r>
              <a:rPr lang="en-US" sz="2400" b="1" dirty="0">
                <a:hlinkClick r:id="rId10"/>
              </a:rPr>
              <a:t>Step-by-Step Guide to Two-Sample Z-Test for Large Samples (Population SD Known)</a:t>
            </a:r>
            <a:endParaRPr lang="en-US" sz="2400" b="1" dirty="0"/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1026205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8C9DB-1243-8917-3E48-68F815A48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uilding with a large square structure&#10;&#10;AI-generated content may be incorrect.">
            <a:extLst>
              <a:ext uri="{FF2B5EF4-FFF2-40B4-BE49-F238E27FC236}">
                <a16:creationId xmlns:a16="http://schemas.microsoft.com/office/drawing/2014/main" id="{B6BE01BD-3DAC-F870-8EC1-54E7EA800B9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1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244" y="-3712171"/>
            <a:ext cx="12286488" cy="108400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E61552-9547-D4A5-64B9-3FC27928445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429"/>
          <a:stretch>
            <a:fillRect/>
          </a:stretch>
        </p:blipFill>
        <p:spPr>
          <a:xfrm>
            <a:off x="266700" y="86360"/>
            <a:ext cx="2347089" cy="6248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02A5AA-EA6D-A358-BDB0-EBEA5D7898D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19" r="51933"/>
          <a:stretch>
            <a:fillRect/>
          </a:stretch>
        </p:blipFill>
        <p:spPr>
          <a:xfrm>
            <a:off x="10202069" y="124460"/>
            <a:ext cx="2163416" cy="6248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260C9D-F6A2-8648-CD70-A21AC50214E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311316" y="4833449"/>
            <a:ext cx="3569368" cy="44627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300" dirty="0">
                <a:solidFill>
                  <a:srgbClr val="C00000"/>
                </a:solidFill>
                <a:latin typeface="Montserrat Bold" pitchFamily="2" charset="0"/>
              </a:rPr>
              <a:t>For any Query:</a:t>
            </a:r>
            <a:endParaRPr lang="en-IN" sz="2300" dirty="0">
              <a:solidFill>
                <a:srgbClr val="C00000"/>
              </a:solidFill>
              <a:latin typeface="Montserrat Bold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E26E7-6195-40B3-121B-6814444C791D}"/>
              </a:ext>
            </a:extLst>
          </p:cNvPr>
          <p:cNvSpPr txBox="1">
            <a:spLocks/>
          </p:cNvSpPr>
          <p:nvPr/>
        </p:nvSpPr>
        <p:spPr>
          <a:xfrm>
            <a:off x="2876550" y="5363953"/>
            <a:ext cx="6438900" cy="3847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900" dirty="0">
                <a:latin typeface="Montserrat SemiBold" pitchFamily="2" charset="0"/>
              </a:rPr>
              <a:t>Website- www.onlinecu.in</a:t>
            </a:r>
            <a:endParaRPr lang="en-IN" sz="1900" dirty="0">
              <a:latin typeface="Montserrat SemiBold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2955B1-0493-1C1D-DF37-CC783517B463}"/>
              </a:ext>
            </a:extLst>
          </p:cNvPr>
          <p:cNvSpPr txBox="1">
            <a:spLocks/>
          </p:cNvSpPr>
          <p:nvPr/>
        </p:nvSpPr>
        <p:spPr>
          <a:xfrm>
            <a:off x="2876550" y="5722217"/>
            <a:ext cx="6438900" cy="3847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900" dirty="0">
                <a:latin typeface="Montserrat SemiBold" pitchFamily="2" charset="0"/>
              </a:rPr>
              <a:t>Helpline no.: 1800 121 388 800 </a:t>
            </a:r>
            <a:endParaRPr lang="en-IN" sz="1900" dirty="0">
              <a:latin typeface="Montserrat SemiBold" pitchFamily="2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219BC1C-B8FD-B4C5-4F1A-EF8B8E99CD2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4660232" y="2519769"/>
            <a:ext cx="3879226" cy="612339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000" b="1" i="0">
                <a:solidFill>
                  <a:srgbClr val="242B34"/>
                </a:solidFill>
                <a:effectLst/>
                <a:latin typeface="Montserrat" pitchFamily="2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altLang="en-US" sz="4000" dirty="0">
                <a:solidFill>
                  <a:schemeClr val="tx1"/>
                </a:solidFill>
              </a:rPr>
              <a:t>THANK YOU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B7D14C-B6FF-E969-C90A-BE0B31E31886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760677" y="1903384"/>
            <a:ext cx="1363827" cy="1738069"/>
            <a:chOff x="3505200" y="1214438"/>
            <a:chExt cx="2016126" cy="3225800"/>
          </a:xfrm>
        </p:grpSpPr>
        <p:sp>
          <p:nvSpPr>
            <p:cNvPr id="13" name="Diamond 6">
              <a:extLst>
                <a:ext uri="{FF2B5EF4-FFF2-40B4-BE49-F238E27FC236}">
                  <a16:creationId xmlns:a16="http://schemas.microsoft.com/office/drawing/2014/main" id="{0FB5638E-DA82-408B-D548-520AF003258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3505200" y="1214438"/>
              <a:ext cx="1822450" cy="3225800"/>
            </a:xfrm>
            <a:custGeom>
              <a:avLst/>
              <a:gdLst>
                <a:gd name="T0" fmla="*/ 1024904 w 2430463"/>
                <a:gd name="T1" fmla="*/ 2413000 h 3225800"/>
                <a:gd name="T2" fmla="*/ 680146 w 2430463"/>
                <a:gd name="T3" fmla="*/ 3225800 h 3225800"/>
                <a:gd name="T4" fmla="*/ 0 w 2430463"/>
                <a:gd name="T5" fmla="*/ 1612900 h 3225800"/>
                <a:gd name="T6" fmla="*/ 680146 w 2430463"/>
                <a:gd name="T7" fmla="*/ 0 h 3225800"/>
                <a:gd name="T8" fmla="*/ 1024904 w 2430463"/>
                <a:gd name="T9" fmla="*/ 817563 h 32258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30463" h="3225800">
                  <a:moveTo>
                    <a:pt x="2430463" y="2413000"/>
                  </a:moveTo>
                  <a:lnTo>
                    <a:pt x="1612900" y="3225800"/>
                  </a:lnTo>
                  <a:lnTo>
                    <a:pt x="0" y="1612900"/>
                  </a:lnTo>
                  <a:lnTo>
                    <a:pt x="1612900" y="0"/>
                  </a:lnTo>
                  <a:lnTo>
                    <a:pt x="2430463" y="817563"/>
                  </a:lnTo>
                </a:path>
              </a:pathLst>
            </a:custGeom>
            <a:noFill/>
            <a:ln w="38100" cap="flat" cmpd="sng" algn="ctr">
              <a:solidFill>
                <a:srgbClr val="C00000"/>
              </a:solidFill>
              <a:prstDash val="solid"/>
              <a:miter lim="800000"/>
              <a:headEnd/>
              <a:tailEnd/>
            </a:ln>
          </p:spPr>
          <p:txBody>
            <a:bodyPr anchor="ctr"/>
            <a:lstStyle/>
            <a:p>
              <a:endParaRPr lang="en-US" dirty="0">
                <a:latin typeface="Montserrat" pitchFamily="2" charset="0"/>
              </a:endParaRPr>
            </a:p>
          </p:txBody>
        </p:sp>
        <p:sp>
          <p:nvSpPr>
            <p:cNvPr id="14" name="Diamond 6">
              <a:extLst>
                <a:ext uri="{FF2B5EF4-FFF2-40B4-BE49-F238E27FC236}">
                  <a16:creationId xmlns:a16="http://schemas.microsoft.com/office/drawing/2014/main" id="{F6A4D4F5-BE08-6D8F-3085-311D2F755A2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 bwMode="auto">
            <a:xfrm>
              <a:off x="3697289" y="1214438"/>
              <a:ext cx="1824037" cy="3225800"/>
            </a:xfrm>
            <a:custGeom>
              <a:avLst/>
              <a:gdLst>
                <a:gd name="T0" fmla="*/ 1026691 w 2430463"/>
                <a:gd name="T1" fmla="*/ 2413000 h 3225800"/>
                <a:gd name="T2" fmla="*/ 681330 w 2430463"/>
                <a:gd name="T3" fmla="*/ 3225800 h 3225800"/>
                <a:gd name="T4" fmla="*/ 0 w 2430463"/>
                <a:gd name="T5" fmla="*/ 1612900 h 3225800"/>
                <a:gd name="T6" fmla="*/ 681330 w 2430463"/>
                <a:gd name="T7" fmla="*/ 0 h 3225800"/>
                <a:gd name="T8" fmla="*/ 1026691 w 2430463"/>
                <a:gd name="T9" fmla="*/ 817563 h 32258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30463" h="3225800">
                  <a:moveTo>
                    <a:pt x="2430463" y="2413000"/>
                  </a:moveTo>
                  <a:lnTo>
                    <a:pt x="1612900" y="3225800"/>
                  </a:lnTo>
                  <a:lnTo>
                    <a:pt x="0" y="1612900"/>
                  </a:lnTo>
                  <a:lnTo>
                    <a:pt x="1612900" y="0"/>
                  </a:lnTo>
                  <a:lnTo>
                    <a:pt x="2430463" y="817563"/>
                  </a:lnTo>
                </a:path>
              </a:pathLst>
            </a:custGeom>
            <a:noFill/>
            <a:ln w="38100" cap="flat" cmpd="sng" algn="ctr">
              <a:solidFill>
                <a:srgbClr val="C00000"/>
              </a:solidFill>
              <a:prstDash val="solid"/>
              <a:miter lim="800000"/>
              <a:headEnd/>
              <a:tailEnd/>
            </a:ln>
          </p:spPr>
          <p:txBody>
            <a:bodyPr anchor="ctr"/>
            <a:lstStyle/>
            <a:p>
              <a:endParaRPr lang="en-US" dirty="0">
                <a:latin typeface="Montserrat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55262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1598</TotalTime>
  <Words>994</Words>
  <Application>Microsoft Office PowerPoint</Application>
  <PresentationFormat>Widescreen</PresentationFormat>
  <Paragraphs>136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5" baseType="lpstr">
      <vt:lpstr>Aptos</vt:lpstr>
      <vt:lpstr>Aptos Display</vt:lpstr>
      <vt:lpstr>Arial</vt:lpstr>
      <vt:lpstr>Avenir Next LT Pro</vt:lpstr>
      <vt:lpstr>Calibri</vt:lpstr>
      <vt:lpstr>Montserrat</vt:lpstr>
      <vt:lpstr>Montserrat Bold</vt:lpstr>
      <vt:lpstr>Montserrat SemiBold</vt:lpstr>
      <vt:lpstr>sohne</vt:lpstr>
      <vt:lpstr>source-serif-pro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Confidence interval and p-values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p-values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idol</dc:creator>
  <cp:lastModifiedBy>Vikash Singh</cp:lastModifiedBy>
  <cp:revision>118</cp:revision>
  <dcterms:created xsi:type="dcterms:W3CDTF">2025-07-09T10:39:06Z</dcterms:created>
  <dcterms:modified xsi:type="dcterms:W3CDTF">2026-04-16T08:12:57Z</dcterms:modified>
</cp:coreProperties>
</file>